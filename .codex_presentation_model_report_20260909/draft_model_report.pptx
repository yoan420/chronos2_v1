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bede9cd0824fe9" /><Relationship Type="http://schemas.openxmlformats.org/officeDocument/2006/relationships/extended-properties" Target="/docProps/app.xml" Id="Ra4e7fc9cf44c4b04" /><Relationship Type="http://schemas.openxmlformats.org/officeDocument/2006/relationships/officeDocument" Target="/ppt/presentation.xml" Id="R7cd3381787d244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2d8c311d4e451b"/>
  </p:sldMasterIdLst>
  <p:notesMasterIdLst>
    <p:notesMasterId xmlns:r="http://schemas.openxmlformats.org/officeDocument/2006/relationships" r:id="R56dfdf52fb7b4a6e"/>
  </p:notesMasterIdLst>
  <p:sldIdLst>
    <p:sldId xmlns:r="http://schemas.openxmlformats.org/officeDocument/2006/relationships" id="256" r:id="Rb2c6a2bf90e94595"/>
    <p:sldId xmlns:r="http://schemas.openxmlformats.org/officeDocument/2006/relationships" id="257" r:id="R8bef096a6be24d1c"/>
    <p:sldId xmlns:r="http://schemas.openxmlformats.org/officeDocument/2006/relationships" id="258" r:id="R38f93f2ec1bd4433"/>
    <p:sldId xmlns:r="http://schemas.openxmlformats.org/officeDocument/2006/relationships" id="259" r:id="Re32a7bda06bc44ad"/>
    <p:sldId xmlns:r="http://schemas.openxmlformats.org/officeDocument/2006/relationships" id="260" r:id="R8946f2acecb3407d"/>
    <p:sldId xmlns:r="http://schemas.openxmlformats.org/officeDocument/2006/relationships" id="261" r:id="Re3fc8cdba2234b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e575e8304942d4" /><Relationship Type="http://schemas.openxmlformats.org/officeDocument/2006/relationships/slideMaster" Target="/ppt/slideMasters/slideMaster1.xml" Id="R982d8c311d4e451b" /><Relationship Type="http://schemas.openxmlformats.org/officeDocument/2006/relationships/notesMaster" Target="/ppt/notesMasters/notesMaster1.xml" Id="R56dfdf52fb7b4a6e" /><Relationship Type="http://schemas.openxmlformats.org/officeDocument/2006/relationships/presProps" Target="/ppt/presProps.xml" Id="Re3b517079b50427c" /><Relationship Type="http://schemas.openxmlformats.org/officeDocument/2006/relationships/viewProps" Target="/ppt/viewProps.xml" Id="R56dc0567d7634034" /><Relationship Type="http://schemas.openxmlformats.org/officeDocument/2006/relationships/tableStyles" Target="/ppt/tableStyles.xml" Id="Rf700be6dde444316" /><Relationship Type="http://schemas.openxmlformats.org/officeDocument/2006/relationships/slide" Target="/ppt/slides/slide1.xml" Id="Rb2c6a2bf90e94595" /><Relationship Type="http://schemas.openxmlformats.org/officeDocument/2006/relationships/slide" Target="/ppt/slides/slide2.xml" Id="R8bef096a6be24d1c" /><Relationship Type="http://schemas.openxmlformats.org/officeDocument/2006/relationships/slide" Target="/ppt/slides/slide3.xml" Id="R38f93f2ec1bd4433" /><Relationship Type="http://schemas.openxmlformats.org/officeDocument/2006/relationships/slide" Target="/ppt/slides/slide4.xml" Id="Re32a7bda06bc44ad" /><Relationship Type="http://schemas.openxmlformats.org/officeDocument/2006/relationships/slide" Target="/ppt/slides/slide5.xml" Id="R8946f2acecb3407d" /><Relationship Type="http://schemas.openxmlformats.org/officeDocument/2006/relationships/slide" Target="/ppt/slides/slide6.xml" Id="Re3fc8cdba2234b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5566953aa64d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1909fad99d40af" /><Relationship Type="http://schemas.openxmlformats.org/officeDocument/2006/relationships/notesMaster" Target="/ppt/notesMasters/notesMaster1.xml" Id="R005223c253d342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5145d50b934747" /><Relationship Type="http://schemas.openxmlformats.org/officeDocument/2006/relationships/notesMaster" Target="/ppt/notesMasters/notesMaster1.xml" Id="R506f7fe2e6ea4e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ba007fcd364131" /><Relationship Type="http://schemas.openxmlformats.org/officeDocument/2006/relationships/notesMaster" Target="/ppt/notesMasters/notesMaster1.xml" Id="R2b019891b4b94b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8415dd62684f93" /><Relationship Type="http://schemas.openxmlformats.org/officeDocument/2006/relationships/notesMaster" Target="/ppt/notesMasters/notesMaster1.xml" Id="R7d29955f3cd845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4042e4a2df449b" /><Relationship Type="http://schemas.openxmlformats.org/officeDocument/2006/relationships/notesMaster" Target="/ppt/notesMasters/notesMaster1.xml" Id="R21c88f2b18f145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f94842d10c44d0" /><Relationship Type="http://schemas.openxmlformats.org/officeDocument/2006/relationships/notesMaster" Target="/ppt/notesMasters/notesMaster1.xml" Id="R5ff52f1149434f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Objectif oral : présenter en quelques minutes le fonctionnement du modèle et les principaux résultats du rapport France.</a:t>
            </a:r>
            <a:endParaRPr/>
          </a:p>
          <a:p xmlns:a="http://schemas.openxmlformats.org/drawingml/2006/main">
            <a:r>
              <a:t>Sources : C:\Users\BQ6757\chronos2_v1\runs\exports\2026-09-09\fr\kalman\forecast_fr_2026-09-09_kalman.csv</a:t>
            </a:r>
            <a:endParaRPr/>
          </a:p>
          <a:p xmlns:a="http://schemas.openxmlformats.org/drawingml/2006/main">
            <a:r>
              <a:t>Rapport associé : runs/exports/2026-09-09/fr/kalman/forecast_fr_2026-09-09_kalman.html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Message clé : le modèle est un pipeline causal. Au moment de prévoir une journée, seules les informations déjà disponibles sont utilisées.</a:t>
            </a:r>
          </a:p>
          <a:p xmlns:a="http://schemas.openxmlformats.org/drawingml/2006/main">
            <a:r>
              <a:t>L’absence de fuite future signifie qu’aucune observation postérieure à la date de prévision n’entre dans l’entraînement, la sélection ou la correction appliquée à cette prévision.</a:t>
            </a:r>
          </a:p>
          <a:p xmlns:a="http://schemas.openxmlformats.org/drawingml/2006/main">
            <a:r>
              <a:t>Sources : Forecast.ps1, chronos2_hourly/kalman_residual.py, deliverables/Note_explicative_Kalman.txt.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Chronos-2 est un transformer encodeur-only pour séries temporelles. Il encode le contexte historique et les covariables, puis une tête de prédiction produit l’horizon futur sous forme de quantiles.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Le correcteur résiduel apprend la quantité observée moins la médiane Chronos-2. CatBoost et HistGradientBoosting construisent chacun une suite d’arbres qui corrige progressivement les erreurs du modèle précédent. Leurs prédictions sont moyennées à parts égales.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Le filtre de Kalman assimile ensuite uniquement les erreurs déjà observées. La gouvernance compare plusieurs filtres à une identité sans correction et n’applique un filtre que s’il apporte un gain récent.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 : https://huggingface.co/amazon/chronos-2 ; https://github.com/amazon-science/chronos-forecasting/blob/main/src/chronos/chronos2/model.py ; chronos2_hourly/kalman_residual.py ; deliverables/Note_explicative_Kalman.txt.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P50 est la trajectoire centrale. P10 et P90 encadrent l’incertitude du modèle : la valeur réalisée est attendue entre ces deux bornes dans environ 80 % des cas si le modèle est bien calibré.</a:t>
            </a:r>
          </a:p>
          <a:p xmlns:a="http://schemas.openxmlformats.org/drawingml/2006/main">
            <a:r>
              <a:t>Chiffres du jour : moyenne P50 152,81 EUR/MWh ; minimum 78,60 EUR/MWh à 13 h ; maximum 222,89 EUR/MWh à 19 h ; largeur maximale P10–P90 68,65 EUR/MWh à 16 h.</a:t>
            </a:r>
          </a:p>
          <a:p xmlns:a="http://schemas.openxmlformats.org/drawingml/2006/main">
            <a:r>
              <a:t>Source : C:\Users\BQ6757\chronos2_v1\runs\exports\2026-09-09\fr\kalman\forecast_fr_2026-09-09_kalman.csv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MAE est la taille moyenne des erreurs, sans tenir compte du signe. Le biais est la moyenne signée : un biais proche de zéro indique qu’il n’y a pas de surestimation ou de sous-estimation systématique.</a:t>
            </a:r>
          </a:p>
          <a:p xmlns:a="http://schemas.openxmlformats.org/drawingml/2006/main">
            <a:r>
              <a:t>Résultats : MAE 12,5521 contre 12,7050, gain 1,2034 % ; RMSE 20,0488 contre 20,3742, gain 1,5974 % ; biais −0,5590 contre −1,2297 ; corrélation 0,9320 contre 0,9299.</a:t>
            </a:r>
          </a:p>
          <a:p xmlns:a="http://schemas.openxmlformats.org/drawingml/2006/main">
            <a:r>
              <a:t>Point de vigilance : ramp MAE 7,2255 contre 7,2052. Le Kalman améliore le niveau de prix moyen, mais pas toutes les transitions horaires.</a:t>
            </a:r>
          </a:p>
          <a:p xmlns:a="http://schemas.openxmlformats.org/drawingml/2006/main">
            <a:r>
              <a:t>Source : runs/exports/2026-09-09/fr/kalman/forecast_fr_2026-09-09_kalman.html et kalman_filter_audit.json.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Conclusion proposée : Chronos-2 fournit la structure principale, le correcteur résiduel retire les erreurs récurrentes et le Kalman adapte prudemment la prévision au régime récent.</a:t>
            </a:r>
            <a:endParaRPr/>
          </a:p>
          <a:p xmlns:a="http://schemas.openxmlformats.org/drawingml/2006/main">
            <a:r>
              <a:t>Pour lire le rapport, commencer par P50, regarder ensuite la largeur P10–P90, puis mettre la prévision en perspective avec les métriques historiques.</a:t>
            </a:r>
            <a:endParaRPr/>
          </a:p>
          <a:p xmlns:a="http://schemas.openxmlformats.org/drawingml/2006/main">
            <a:r>
              <a:t>Le benchmark Storm sert à comparer les résultats après coup. Il n’entre pas dans le filtre de Kalman.</a:t>
            </a:r>
            <a:endParaRPr/>
          </a:p>
          <a:p xmlns:a="http://schemas.openxmlformats.org/drawingml/2006/main">
            <a:r>
              <a:t>Source : runs/exports/2026-09-09/fr/kalman/forecast_fr_2026-09-09_kalman.html et kalman_filter_audit.json.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5ad39b5351496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2691a87c30446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50f473afa24d3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6c95c7cc1c486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9f7d3ba746490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823431bcb3489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1c5d806a7046e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6a02fae14c498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88f0c2d4364873" /><Relationship Type="http://schemas.openxmlformats.org/officeDocument/2006/relationships/image" Target="/ppt/media/image.png" Id="Red152e95de604d9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d3c2ef03534d61" /><Relationship Type="http://schemas.openxmlformats.org/officeDocument/2006/relationships/image" Target="/ppt/media/image2.png" Id="Rb3fedddebf12435d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ed152e95de604d9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b3fedddebf12435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b672786d50457c" /><Relationship Type="http://schemas.openxmlformats.org/officeDocument/2006/relationships/slideLayout" Target="/ppt/slideLayouts/slideLayout1.xml" Id="R4513ebe389aa4cca" /><Relationship Type="http://schemas.openxmlformats.org/officeDocument/2006/relationships/slideLayout" Target="/ppt/slideLayouts/slideLayout2.xml" Id="Rab0f48ad91ca4c91" /><Relationship Type="http://schemas.openxmlformats.org/officeDocument/2006/relationships/slideLayout" Target="/ppt/slideLayouts/slideLayout3.xml" Id="Rff6544a2bd76474f" /><Relationship Type="http://schemas.openxmlformats.org/officeDocument/2006/relationships/slideLayout" Target="/ppt/slideLayouts/slideLayout4.xml" Id="Re77fa18373ce4d5e" /><Relationship Type="http://schemas.openxmlformats.org/officeDocument/2006/relationships/slideLayout" Target="/ppt/slideLayouts/slideLayout5.xml" Id="R526d6bbe1ede4dac" /><Relationship Type="http://schemas.openxmlformats.org/officeDocument/2006/relationships/slideLayout" Target="/ppt/slideLayouts/slideLayout6.xml" Id="Rad976d902a404b11" /><Relationship Type="http://schemas.openxmlformats.org/officeDocument/2006/relationships/slideLayout" Target="/ppt/slideLayouts/slideLayout7.xml" Id="Rf8820873b8c446e1" /><Relationship Type="http://schemas.openxmlformats.org/officeDocument/2006/relationships/slideLayout" Target="/ppt/slideLayouts/slideLayout8.xml" Id="Rb1448f6d1ba8443f" /><Relationship Type="http://schemas.openxmlformats.org/officeDocument/2006/relationships/slideLayout" Target="/ppt/slideLayouts/slideLayout9.xml" Id="R728931493a1e4cc4" /><Relationship Type="http://schemas.openxmlformats.org/officeDocument/2006/relationships/slideLayout" Target="/ppt/slideLayouts/slideLayout10.xml" Id="Rd0c65d78d02e484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13ebe389aa4cca"/>
    <p:sldLayoutId xmlns:r="http://schemas.openxmlformats.org/officeDocument/2006/relationships" id="2147483650" r:id="Rab0f48ad91ca4c91"/>
    <p:sldLayoutId xmlns:r="http://schemas.openxmlformats.org/officeDocument/2006/relationships" id="2147483651" r:id="Rff6544a2bd76474f"/>
    <p:sldLayoutId xmlns:r="http://schemas.openxmlformats.org/officeDocument/2006/relationships" id="2147483652" r:id="Re77fa18373ce4d5e"/>
    <p:sldLayoutId xmlns:r="http://schemas.openxmlformats.org/officeDocument/2006/relationships" id="2147483653" r:id="R526d6bbe1ede4dac"/>
    <p:sldLayoutId xmlns:r="http://schemas.openxmlformats.org/officeDocument/2006/relationships" id="2147483654" r:id="Rad976d902a404b11"/>
    <p:sldLayoutId xmlns:r="http://schemas.openxmlformats.org/officeDocument/2006/relationships" id="2147483655" r:id="Rf8820873b8c446e1"/>
    <p:sldLayoutId xmlns:r="http://schemas.openxmlformats.org/officeDocument/2006/relationships" id="2147483656" r:id="Rb1448f6d1ba8443f"/>
    <p:sldLayoutId xmlns:r="http://schemas.openxmlformats.org/officeDocument/2006/relationships" id="2147483657" r:id="R728931493a1e4cc4"/>
    <p:sldLayoutId xmlns:r="http://schemas.openxmlformats.org/officeDocument/2006/relationships" id="2147483658" r:id="Rd0c65d78d02e484c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7f887885b8484f" /><Relationship Type="http://schemas.openxmlformats.org/officeDocument/2006/relationships/notesSlide" Target="/ppt/notesSlides/notesSlide1.xml" Id="R212f4351671942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4780cab1be54ff4" /><Relationship Type="http://schemas.openxmlformats.org/officeDocument/2006/relationships/notesSlide" Target="/ppt/notesSlides/notesSlide2.xml" Id="R8afe165a62e84f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2b5835a31fc408c" /><Relationship Type="http://schemas.openxmlformats.org/officeDocument/2006/relationships/notesSlide" Target="/ppt/notesSlides/notesSlide3.xml" Id="Red9fea94c51040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15cc8c84f141a9" /><Relationship Type="http://schemas.openxmlformats.org/officeDocument/2006/relationships/chart" Target="/ppt/slides/charts/chart1.xml" Id="R57ceada8e2084a41" /><Relationship Type="http://schemas.openxmlformats.org/officeDocument/2006/relationships/notesSlide" Target="/ppt/notesSlides/notesSlide4.xml" Id="Rdb9f5c4abcaa4b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b8332b9e1740f2" /><Relationship Type="http://schemas.openxmlformats.org/officeDocument/2006/relationships/chart" Target="/ppt/slides/charts/chart2.xml" Id="R67a14242af624359" /><Relationship Type="http://schemas.openxmlformats.org/officeDocument/2006/relationships/notesSlide" Target="/ppt/notesSlides/notesSlide5.xml" Id="R710101badb6e42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7ce0cc1954bbb" /><Relationship Type="http://schemas.openxmlformats.org/officeDocument/2006/relationships/notesSlide" Target="/ppt/notesSlides/notesSlide6.xml" Id="Rbbb92c6407a140ac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Prix horaire prévu, EUR/MWh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08284F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P10</c:v>
          </c:tx>
          <c:spPr>
            <a:ln xmlns:a="http://schemas.openxmlformats.org/drawingml/2006/main" w="19050">
              <a:solidFill>
                <a:srgbClr val="84B9F3"/>
              </a:solidFill>
              <a:prstDash val="solid"/>
            </a:ln>
          </c:spPr>
          <c:marker>
            <c:symbol val="none"/>
          </c:marker>
          <c:cat>
            <c:strLit>
              <c:ptCount val="24"/>
              <c:pt idx="0">
                <c:v>00 h</c:v>
              </c:pt>
              <c:pt idx="1">
                <c:v>01 h</c:v>
              </c:pt>
              <c:pt idx="2">
                <c:v>02 h</c:v>
              </c:pt>
              <c:pt idx="3">
                <c:v>03 h</c:v>
              </c:pt>
              <c:pt idx="4">
                <c:v>04 h</c:v>
              </c:pt>
              <c:pt idx="5">
                <c:v>05 h</c:v>
              </c:pt>
              <c:pt idx="6">
                <c:v>06 h</c:v>
              </c:pt>
              <c:pt idx="7">
                <c:v>07 h</c:v>
              </c:pt>
              <c:pt idx="8">
                <c:v>08 h</c:v>
              </c:pt>
              <c:pt idx="9">
                <c:v>09 h</c:v>
              </c:pt>
              <c:pt idx="10">
                <c:v>10 h</c:v>
              </c:pt>
              <c:pt idx="11">
                <c:v>11 h</c:v>
              </c:pt>
              <c:pt idx="12">
                <c:v>12 h</c:v>
              </c:pt>
              <c:pt idx="13">
                <c:v>13 h</c:v>
              </c:pt>
              <c:pt idx="14">
                <c:v>14 h</c:v>
              </c:pt>
              <c:pt idx="15">
                <c:v>15 h</c:v>
              </c:pt>
              <c:pt idx="16">
                <c:v>16 h</c:v>
              </c:pt>
              <c:pt idx="17">
                <c:v>17 h</c:v>
              </c:pt>
              <c:pt idx="18">
                <c:v>18 h</c:v>
              </c:pt>
              <c:pt idx="19">
                <c:v>19 h</c:v>
              </c:pt>
              <c:pt idx="20">
                <c:v>20 h</c:v>
              </c:pt>
              <c:pt idx="21">
                <c:v>21 h</c:v>
              </c:pt>
              <c:pt idx="22">
                <c:v>22 h</c:v>
              </c:pt>
              <c:pt idx="23">
                <c:v>23 h</c:v>
              </c:pt>
            </c:strLit>
          </c:cat>
          <c:val>
            <c:numLit>
              <c:formatCode>0</c:formatCode>
              <c:ptCount val="24"/>
              <c:pt idx="0">
                <c:v>149.95876707045437</c:v>
              </c:pt>
              <c:pt idx="1">
                <c:v>137.7572453188675</c:v>
              </c:pt>
              <c:pt idx="2">
                <c:v>127.81762860557828</c:v>
              </c:pt>
              <c:pt idx="3">
                <c:v>121.36857639829064</c:v>
              </c:pt>
              <c:pt idx="4">
                <c:v>124.41282872865486</c:v>
              </c:pt>
              <c:pt idx="5">
                <c:v>137.5155774568129</c:v>
              </c:pt>
              <c:pt idx="6">
                <c:v>165.04243973063143</c:v>
              </c:pt>
              <c:pt idx="7">
                <c:v>184.68246175483785</c:v>
              </c:pt>
              <c:pt idx="8">
                <c:v>174.53279072186422</c:v>
              </c:pt>
              <c:pt idx="9">
                <c:v>146.54629785883168</c:v>
              </c:pt>
              <c:pt idx="10">
                <c:v>118.57166762693495</c:v>
              </c:pt>
              <c:pt idx="11">
                <c:v>83.31875854807797</c:v>
              </c:pt>
              <c:pt idx="12">
                <c:v>60.61183925716215</c:v>
              </c:pt>
              <c:pt idx="13">
                <c:v>48.07922751650044</c:v>
              </c:pt>
              <c:pt idx="14">
                <c:v>55.33070009108191</c:v>
              </c:pt>
              <c:pt idx="15">
                <c:v>61.5314879905328</c:v>
              </c:pt>
              <c:pt idx="16">
                <c:v>78.67469074860519</c:v>
              </c:pt>
              <c:pt idx="17">
                <c:v>130.1890976204014</c:v>
              </c:pt>
              <c:pt idx="18">
                <c:v>171.15081744940318</c:v>
              </c:pt>
              <c:pt idx="19">
                <c:v>202.60330087862977</c:v>
              </c:pt>
              <c:pt idx="20">
                <c:v>201.9018407426704</c:v>
              </c:pt>
              <c:pt idx="21">
                <c:v>187.9454664795016</c:v>
              </c:pt>
              <c:pt idx="22">
                <c:v>176.8143141306665</c:v>
              </c:pt>
              <c:pt idx="23">
                <c:v>164.29861130777311</c:v>
              </c:pt>
            </c:numLit>
          </c:val>
          <c:smooth val="0"/>
        </c:ser>
        <c:ser>
          <c:idx val="1"/>
          <c:order val="1"/>
          <c:tx>
            <c:v>P90</c:v>
          </c:tx>
          <c:spPr>
            <a:ln xmlns:a="http://schemas.openxmlformats.org/drawingml/2006/main" w="19050">
              <a:solidFill>
                <a:srgbClr val="4D8FE7"/>
              </a:solidFill>
              <a:prstDash val="solid"/>
            </a:ln>
          </c:spPr>
          <c:marker>
            <c:symbol val="none"/>
          </c:marker>
          <c:cat>
            <c:strLit>
              <c:ptCount val="24"/>
              <c:pt idx="0">
                <c:v>00 h</c:v>
              </c:pt>
              <c:pt idx="1">
                <c:v>01 h</c:v>
              </c:pt>
              <c:pt idx="2">
                <c:v>02 h</c:v>
              </c:pt>
              <c:pt idx="3">
                <c:v>03 h</c:v>
              </c:pt>
              <c:pt idx="4">
                <c:v>04 h</c:v>
              </c:pt>
              <c:pt idx="5">
                <c:v>05 h</c:v>
              </c:pt>
              <c:pt idx="6">
                <c:v>06 h</c:v>
              </c:pt>
              <c:pt idx="7">
                <c:v>07 h</c:v>
              </c:pt>
              <c:pt idx="8">
                <c:v>08 h</c:v>
              </c:pt>
              <c:pt idx="9">
                <c:v>09 h</c:v>
              </c:pt>
              <c:pt idx="10">
                <c:v>10 h</c:v>
              </c:pt>
              <c:pt idx="11">
                <c:v>11 h</c:v>
              </c:pt>
              <c:pt idx="12">
                <c:v>12 h</c:v>
              </c:pt>
              <c:pt idx="13">
                <c:v>13 h</c:v>
              </c:pt>
              <c:pt idx="14">
                <c:v>14 h</c:v>
              </c:pt>
              <c:pt idx="15">
                <c:v>15 h</c:v>
              </c:pt>
              <c:pt idx="16">
                <c:v>16 h</c:v>
              </c:pt>
              <c:pt idx="17">
                <c:v>17 h</c:v>
              </c:pt>
              <c:pt idx="18">
                <c:v>18 h</c:v>
              </c:pt>
              <c:pt idx="19">
                <c:v>19 h</c:v>
              </c:pt>
              <c:pt idx="20">
                <c:v>20 h</c:v>
              </c:pt>
              <c:pt idx="21">
                <c:v>21 h</c:v>
              </c:pt>
              <c:pt idx="22">
                <c:v>22 h</c:v>
              </c:pt>
              <c:pt idx="23">
                <c:v>23 h</c:v>
              </c:pt>
            </c:strLit>
          </c:cat>
          <c:val>
            <c:numLit>
              <c:formatCode>0</c:formatCode>
              <c:ptCount val="24"/>
              <c:pt idx="0">
                <c:v>162.25065244643093</c:v>
              </c:pt>
              <c:pt idx="1">
                <c:v>154.65757490871124</c:v>
              </c:pt>
              <c:pt idx="2">
                <c:v>147.65831158897672</c:v>
              </c:pt>
              <c:pt idx="3">
                <c:v>145.39463841000938</c:v>
              </c:pt>
              <c:pt idx="4">
                <c:v>149.8417532892017</c:v>
              </c:pt>
              <c:pt idx="5">
                <c:v>163.18820013747697</c:v>
              </c:pt>
              <c:pt idx="6">
                <c:v>191.8681233243814</c:v>
              </c:pt>
              <c:pt idx="7">
                <c:v>213.22176839546285</c:v>
              </c:pt>
              <c:pt idx="8">
                <c:v>204.5584254874892</c:v>
              </c:pt>
              <c:pt idx="9">
                <c:v>180.61232263910512</c:v>
              </c:pt>
              <c:pt idx="10">
                <c:v>157.04244704588027</c:v>
              </c:pt>
              <c:pt idx="11">
                <c:v>135.0407205231756</c:v>
              </c:pt>
              <c:pt idx="12">
                <c:v>122.21332546321682</c:v>
              </c:pt>
              <c:pt idx="13">
                <c:v>109.03237158998678</c:v>
              </c:pt>
              <c:pt idx="14">
                <c:v>115.45225160475376</c:v>
              </c:pt>
              <c:pt idx="15">
                <c:v>123.3432555686578</c:v>
              </c:pt>
              <c:pt idx="16">
                <c:v>147.3235402359099</c:v>
              </c:pt>
              <c:pt idx="17">
                <c:v>180.91176912919047</c:v>
              </c:pt>
              <c:pt idx="18">
                <c:v>219.01373248846568</c:v>
              </c:pt>
              <c:pt idx="19">
                <c:v>251.7794483395673</c:v>
              </c:pt>
              <c:pt idx="20">
                <c:v>253.1616521440376</c:v>
              </c:pt>
              <c:pt idx="21">
                <c:v>229.34405656739216</c:v>
              </c:pt>
              <c:pt idx="22">
                <c:v>208.23032975566647</c:v>
              </c:pt>
              <c:pt idx="23">
                <c:v>193.13164963785124</c:v>
              </c:pt>
            </c:numLit>
          </c:val>
          <c:smooth val="0"/>
        </c:ser>
        <c:ser>
          <c:idx val="2"/>
          <c:order val="2"/>
          <c:tx>
            <c:v>P50</c:v>
          </c:tx>
          <c:spPr>
            <a:ln xmlns:a="http://schemas.openxmlformats.org/drawingml/2006/main" w="38100">
              <a:solidFill>
                <a:srgbClr val="08284F"/>
              </a:solidFill>
              <a:prstDash val="solid"/>
            </a:ln>
          </c:spPr>
          <c:marker>
            <c:symbol val="none"/>
          </c:marker>
          <c:cat>
            <c:strLit>
              <c:ptCount val="24"/>
              <c:pt idx="0">
                <c:v>00 h</c:v>
              </c:pt>
              <c:pt idx="1">
                <c:v>01 h</c:v>
              </c:pt>
              <c:pt idx="2">
                <c:v>02 h</c:v>
              </c:pt>
              <c:pt idx="3">
                <c:v>03 h</c:v>
              </c:pt>
              <c:pt idx="4">
                <c:v>04 h</c:v>
              </c:pt>
              <c:pt idx="5">
                <c:v>05 h</c:v>
              </c:pt>
              <c:pt idx="6">
                <c:v>06 h</c:v>
              </c:pt>
              <c:pt idx="7">
                <c:v>07 h</c:v>
              </c:pt>
              <c:pt idx="8">
                <c:v>08 h</c:v>
              </c:pt>
              <c:pt idx="9">
                <c:v>09 h</c:v>
              </c:pt>
              <c:pt idx="10">
                <c:v>10 h</c:v>
              </c:pt>
              <c:pt idx="11">
                <c:v>11 h</c:v>
              </c:pt>
              <c:pt idx="12">
                <c:v>12 h</c:v>
              </c:pt>
              <c:pt idx="13">
                <c:v>13 h</c:v>
              </c:pt>
              <c:pt idx="14">
                <c:v>14 h</c:v>
              </c:pt>
              <c:pt idx="15">
                <c:v>15 h</c:v>
              </c:pt>
              <c:pt idx="16">
                <c:v>16 h</c:v>
              </c:pt>
              <c:pt idx="17">
                <c:v>17 h</c:v>
              </c:pt>
              <c:pt idx="18">
                <c:v>18 h</c:v>
              </c:pt>
              <c:pt idx="19">
                <c:v>19 h</c:v>
              </c:pt>
              <c:pt idx="20">
                <c:v>20 h</c:v>
              </c:pt>
              <c:pt idx="21">
                <c:v>21 h</c:v>
              </c:pt>
              <c:pt idx="22">
                <c:v>22 h</c:v>
              </c:pt>
              <c:pt idx="23">
                <c:v>23 h</c:v>
              </c:pt>
            </c:strLit>
          </c:cat>
          <c:val>
            <c:numLit>
              <c:formatCode>0</c:formatCode>
              <c:ptCount val="24"/>
              <c:pt idx="0">
                <c:v>157.38476194350125</c:v>
              </c:pt>
              <c:pt idx="1">
                <c:v>146.90362288234405</c:v>
              </c:pt>
              <c:pt idx="2">
                <c:v>138.93303082725797</c:v>
              </c:pt>
              <c:pt idx="3">
                <c:v>133.1241611150875</c:v>
              </c:pt>
              <c:pt idx="4">
                <c:v>137.29474096010014</c:v>
              </c:pt>
              <c:pt idx="5">
                <c:v>151.26104559646134</c:v>
              </c:pt>
              <c:pt idx="6">
                <c:v>178.43045547770174</c:v>
              </c:pt>
              <c:pt idx="7">
                <c:v>197.84766866401756</c:v>
              </c:pt>
              <c:pt idx="8">
                <c:v>189.5328059806533</c:v>
              </c:pt>
              <c:pt idx="9">
                <c:v>163.85341150629262</c:v>
              </c:pt>
              <c:pt idx="10">
                <c:v>137.86422438963027</c:v>
              </c:pt>
              <c:pt idx="11">
                <c:v>110.42359405833186</c:v>
              </c:pt>
              <c:pt idx="12">
                <c:v>92.83637233821683</c:v>
              </c:pt>
              <c:pt idx="13">
                <c:v>78.59606177553364</c:v>
              </c:pt>
              <c:pt idx="14">
                <c:v>86.03741853590611</c:v>
              </c:pt>
              <c:pt idx="15">
                <c:v>91.78334956279842</c:v>
              </c:pt>
              <c:pt idx="16">
                <c:v>109.0994954361052</c:v>
              </c:pt>
              <c:pt idx="17">
                <c:v>153.06563875809672</c:v>
              </c:pt>
              <c:pt idx="18">
                <c:v>193.07891803534068</c:v>
              </c:pt>
              <c:pt idx="19">
                <c:v>222.88499338351255</c:v>
              </c:pt>
              <c:pt idx="20">
                <c:v>222.70439201220165</c:v>
              </c:pt>
              <c:pt idx="21">
                <c:v>205.13008256836875</c:v>
              </c:pt>
              <c:pt idx="22">
                <c:v>191.21890092265872</c:v>
              </c:pt>
              <c:pt idx="23">
                <c:v>178.08001389566374</c:v>
              </c:pt>
            </c:numLit>
          </c:val>
          <c:smooth val="0"/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4F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260"/>
          <c:min val="4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4F0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9E4F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4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243B57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Erreur historique, EUR/MWh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08284F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Correcteur résiduel</c:v>
          </c:tx>
          <c:spPr>
            <a:solidFill xmlns:a="http://schemas.openxmlformats.org/drawingml/2006/main">
              <a:srgbClr val="7E91A8"/>
            </a:solidFill>
            <a:ln xmlns:a="http://schemas.openxmlformats.org/drawingml/2006/main" w="9525">
              <a:solidFill>
                <a:srgbClr val="7E91A8"/>
              </a:solidFill>
              <a:prstDash val="solid"/>
            </a:ln>
          </c:spPr>
          <c:cat>
            <c:strLit>
              <c:ptCount val="2"/>
              <c:pt idx="0">
                <c:v>MAE</c:v>
              </c:pt>
              <c:pt idx="1">
                <c:v>RMSE</c:v>
              </c:pt>
            </c:strLit>
          </c:cat>
          <c:val>
            <c:numLit>
              <c:formatCode>0.0</c:formatCode>
              <c:ptCount val="2"/>
              <c:pt idx="0">
                <c:v>12.705</c:v>
              </c:pt>
              <c:pt idx="1">
                <c:v>20.3742</c:v>
              </c:pt>
            </c:numLit>
          </c:val>
        </c:ser>
        <c:ser>
          <c:idx val="1"/>
          <c:order val="1"/>
          <c:tx>
            <c:v>Après Kalman</c:v>
          </c:tx>
          <c:spPr>
            <a:solidFill xmlns:a="http://schemas.openxmlformats.org/drawingml/2006/main">
              <a:srgbClr val="175CD4"/>
            </a:solidFill>
            <a:ln xmlns:a="http://schemas.openxmlformats.org/drawingml/2006/main" w="9525">
              <a:solidFill>
                <a:srgbClr val="175CD4"/>
              </a:solidFill>
              <a:prstDash val="solid"/>
            </a:ln>
          </c:spPr>
          <c:cat>
            <c:strLit>
              <c:ptCount val="2"/>
              <c:pt idx="0">
                <c:v>MAE</c:v>
              </c:pt>
              <c:pt idx="1">
                <c:v>RMSE</c:v>
              </c:pt>
            </c:strLit>
          </c:cat>
          <c:val>
            <c:numLit>
              <c:formatCode>0.0</c:formatCode>
              <c:ptCount val="2"/>
              <c:pt idx="0">
                <c:v>12.5521</c:v>
              </c:pt>
              <c:pt idx="1">
                <c:v>20.0488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08284F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4F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2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4F0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9E4F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4"/>
      </c:valAx>
      <c:spPr>
        <a:solidFill xmlns:a="http://schemas.openxmlformats.org/drawingml/2006/main">
          <a:srgbClr val="EDF5F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243B57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EDF5FE"/>
    </a:solidFill>
  </c:spPr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F24658D-7578-8E1B-095D-2634178665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850746"/>
            <a:ext cx="9448800" cy="2491490"/>
          </a:xfrm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58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Prévision day-ahead France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58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8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Chronos-2 et ses correcteurs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FCDDD1-6B62-D648-FCD8-F519A8EBFE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170707"/>
            <a:ext cx="3568700" cy="647700"/>
          </a:xfrm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Prévision du 9 septembre 2026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Rapport France</a:t>
            </a:r>
          </a:p>
        </p:txBody>
      </p:sp>
      <p:sp>
        <p:nvSpPr>
          <p:cNvPr id="2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E36FE5-F5E6-DBA2-7BCD-BDE05B2A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789" y="5170707"/>
            <a:ext cx="3568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Présentation simple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Modèle et résultats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1855E0C5-A5E4-590B-0D77-15A6F24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28" y="623595"/>
            <a:ext cx="319923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6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09 SEPT. 2026</a:t>
            </a:r>
          </a:p>
        </p:txBody>
      </p:sp>
      <p:sp>
        <p:nvSpPr>
          <p:cNvPr id="7" name="Subtitle 4">
            <a:extLst xmlns:a="http://schemas.openxmlformats.org/drawingml/2006/main">
              <a:ext uri="{FF2B5EF4-FFF2-40B4-BE49-F238E27FC236}">
                <a16:creationId xmlns:a16="http://schemas.microsoft.com/office/drawing/2014/main" id="{5794C0B2-4912-64A0-21CF-60B6625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3595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FORECAST FRANCE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01C6BFCB-EC3A-4BF2-824A-25FC3D35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37" y="374574"/>
            <a:ext cx="11422926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7A8CA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9869472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822700"/>
            <a:ext cx="2595934" cy="1168400"/>
          </a:xfrm>
        </p:spPr>
        <p:txBody>
          <a:bodyPr xmlns:a="http://schemas.openxmlformats.org/drawingml/2006/main" wrap="square" anchor="t">
            <a:normAutofit fontScale="9860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Données disponibles à D−1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Prix récents, calendrier et prévisions de charge résiduelle sur cinq pays.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46838" cy="1034893"/>
          </a:xfrm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60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Du signal brut au rapport publié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3822700"/>
            <a:ext cx="2595934" cy="1168400"/>
          </a:xfrm>
        </p:spPr>
        <p:txBody>
          <a:bodyPr xmlns:a="http://schemas.openxmlformats.org/drawingml/2006/main" wrap="square" anchor="t">
            <a:normAutofit fontScale="89979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Prévision et correction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Chronos-2 produit P10, P50 et P90. Le correcteur résiduel apprend les erreurs récurrentes.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3822700"/>
            <a:ext cx="2595934" cy="1168400"/>
          </a:xfrm>
        </p:spPr>
        <p:txBody>
          <a:bodyPr xmlns:a="http://schemas.openxmlformats.org/drawingml/2006/main" wrap="square" anchor="t">
            <a:normAutofit fontScale="79365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Kalman et publication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Le filtre admissible le plus performant est retenu, puis les contrôles produisent le CSV et le rapport HTML.</a:t>
            </a:r>
          </a:p>
        </p:txBody>
      </p:sp>
      <p:cxnSp>
        <p:nvCxnSpPr>
          <p:cNvPr id="23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146048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2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1 · ENTRÉES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2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2 · MODÈLE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2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3 · SORTIE</a:t>
            </a: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B8054922-82AE-F5B4-3254-FF8E3B11A7E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E91A8"/>
                </a:solidFill>
                <a:latin typeface="Helvetica Neue"/>
                <a:ea typeface="Helvetica Neue"/>
                <a:cs typeface="Helvetica Neue"/>
              </a:defRPr>
            </a:pPr>
            <a:fld id="{E2598689-54C9-18A7-3A19-ED76AA08988F}" type="slidenum">
              <a:rPr sz="1125">
                <a:solidFill>
                  <a:srgbClr val="7E91A8"/>
                </a:solidFill>
                <a:latin typeface="Helvetica Neue"/>
                <a:ea typeface="Helvetica Neue"/>
                <a:cs typeface="Helvetica Neue"/>
              </a:rPr>
              <a:t>2</a:t>
            </a:fld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114300" tIns="57150" rIns="1143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Chronos-2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Transformer préentraîné de type encodeur-only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Lit l’historique et les variables connues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Produit directement P10, P50 et P90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3365500"/>
            <a:ext cx="3568700" cy="2628900"/>
          </a:xfrm>
        </p:spPr>
        <p:txBody>
          <a:bodyPr xmlns:a="http://schemas.openxmlformats.org/drawingml/2006/main" wrap="square" lIns="114300" tIns="57150" rIns="1143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Correcteur résiduel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Moyenne de CatBoost et HistGradientBoosting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Prévoit l’erreur restante de Chronos-2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Décale les trois quantiles de façon identique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3365500"/>
            <a:ext cx="3568700" cy="2628900"/>
          </a:xfrm>
        </p:spPr>
        <p:txBody>
          <a:bodyPr xmlns:a="http://schemas.openxmlformats.org/drawingml/2006/main" wrap="square" lIns="114300" tIns="57150" rIns="1143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Filtre de Kalman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Suit le biais récent au fil des jours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Teste plusieurs dynamiques sans fuite future</a:t>
            </a:r>
          </a:p>
          <a:p xmlns:a="http://schemas.openxmlformats.org/drawingml/2006/main">
            <a:pPr marL="228600" indent="-127000">
              <a:lnSpc>
                <a:spcPct val="102000"/>
              </a:lnSpc>
              <a:buNone/>
              <a:defRPr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Peut conserver la prévision inchangée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6973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60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Trois étages, trois rôles complémentaires</a:t>
            </a:r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5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158289AD-1712-2CAF-28F8-E7467196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96192"/>
            <a:ext cx="11404599" cy="12264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Chaque étage traite une source d’erreur différente, du signal de fond jusqu’aux écarts les plus récents.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0DA247B-DA8D-C673-F4EB-29EA73D172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E91A8"/>
                </a:solidFill>
                <a:latin typeface="Helvetica Neue"/>
                <a:ea typeface="Helvetica Neue"/>
                <a:cs typeface="Helvetica Neue"/>
              </a:defRPr>
            </a:pPr>
            <a:fld id="{202359C0-8A7A-196E-DD58-8E6569619F09}" type="slidenum">
              <a:rPr sz="1125">
                <a:solidFill>
                  <a:srgbClr val="7E91A8"/>
                </a:solidFill>
                <a:latin typeface="Helvetica Neue"/>
                <a:ea typeface="Helvetica Neue"/>
                <a:cs typeface="Helvetica Neue"/>
              </a:rPr>
              <a:t>3</a:t>
            </a:fld>
            <a:endParaRPr sz="1100"/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FB0F357B-0D8A-9B45-94C6-994BA1F9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384301"/>
            <a:ext cx="11404599" cy="231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275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spc="100"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FONCTIONNEMENT DU MODÈLE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4AEA3A7D-DBCA-D3E4-FBE6-7DFA3D3F5D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697392"/>
          </a:xfrm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60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La prévision du 9 septembre 2026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AD9F0FEC-2745-EA90-4350-ECA01396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3360085"/>
            <a:ext cx="2581975" cy="2656541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9F2C50E3-28B0-6CBB-D0C2-A884FA6A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3579975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4950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 u="none" cap="none" spc="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152,8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7309BA0-73E7-AB92-9FFA-3CB6E7D2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98684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Prix moyen P50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EUR/MWh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5BFE1F75-4AAC-629D-4488-BAAF3101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3360085"/>
            <a:ext cx="2581975" cy="2656541"/>
          </a:xfrm>
          <a:prstGeom xmlns:a="http://schemas.openxmlformats.org/drawingml/2006/main" prst="roundRect">
            <a:avLst>
              <a:gd name="adj" fmla="val 4984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>
            <a:solidFill>
              <a:srgbClr val="EFF1F5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D16FA6-BF88-7DA4-7782-F905386C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3579975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4950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 u="none" cap="none" spc="0">
                <a:ln>
                  <a:noFill/>
                </a:ln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68,7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6E0E4F2E-E5BA-848F-0BB2-B4A15FA3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98272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Largeur maximale P10–P90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à 16 h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B313AA-3A24-CBDF-D666-09D42298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1955554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75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Le creux intervient à 13 h, puis la courbe remonte rapidement vers un pic à 19 h.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A82F118-C6BB-3BC4-35D2-F1406F35370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FEC22377-6A13-05D7-1E02-074A373A360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E91A8"/>
                </a:solidFill>
                <a:latin typeface="Helvetica Neue"/>
                <a:ea typeface="Helvetica Neue"/>
                <a:cs typeface="Helvetica Neue"/>
              </a:defRPr>
            </a:pPr>
            <a:fld id="{EFD6AB9A-5F9E-5F59-51AB-3C8734130965}" type="slidenum">
              <a:rPr sz="1125">
                <a:solidFill>
                  <a:srgbClr val="7E91A8"/>
                </a:solidFill>
                <a:latin typeface="Helvetica Neue"/>
                <a:ea typeface="Helvetica Neue"/>
                <a:cs typeface="Helvetica Neue"/>
              </a:rPr>
              <a:t>4</a:t>
            </a:fld>
            <a:endParaRPr sz="1100"/>
          </a:p>
        </p:txBody>
      </p:sp>
      <p:graphicFrame>
        <p:nvGraphicFramePr>
          <p:cNvPr id="55" name="Chart"/>
          <p:cNvGraphicFramePr/>
          <p:nvPr/>
        </p:nvGraphicFramePr>
        <p:xfrm>
          <a:off xmlns:a="http://schemas.openxmlformats.org/drawingml/2006/main" x="385834" y="1254715"/>
          <a:ext xmlns:a="http://schemas.openxmlformats.org/drawingml/2006/main" cx="5534180" cy="5259277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7ceada8e2084a41"/>
          </a:graphicData>
        </a:graphic>
      </p:graphicFrame>
    </p:spTree>
    <p:extLst>
      <p:ext uri="{BB962C8B-B14F-4D97-AF65-F5344CB8AC3E}">
        <p14:creationId xmlns:p14="http://schemas.microsoft.com/office/powerpoint/2010/main" val="37768091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76E542D1-756D-7A52-4319-E7068676C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605247"/>
          </a:xfrm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60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Le Kalman améliore la précision moyenne</a:t>
            </a: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23EBE22F-0E57-50F2-2730-87B6AA22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76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4950" b="1">
                <a:solidFill>
                  <a:srgbClr val="175C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 u="none" cap="none" spc="0">
                <a:ln>
                  <a:noFill/>
                </a:ln>
                <a:solidFill>
                  <a:srgbClr val="175CD4"/>
                </a:solidFill>
                <a:latin typeface="Helvetica Neue"/>
                <a:ea typeface="Helvetica Neue"/>
                <a:cs typeface="Helvetica Neue"/>
              </a:rPr>
              <a:t>1,2 %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21A36F2-8209-5AA9-0D95-01C3D58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78442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Gain de MAE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par rapport au correcteur résiduel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26AD9AD-13F4-E1DA-D400-C93C8877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381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4950" b="1">
                <a:solidFill>
                  <a:srgbClr val="082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 u="none" cap="none" spc="0">
                <a:ln>
                  <a:noFill/>
                </a:ln>
                <a:solidFill>
                  <a:srgbClr val="08284F"/>
                </a:solidFill>
                <a:latin typeface="Helvetica Neue"/>
                <a:ea typeface="Helvetica Neue"/>
                <a:cs typeface="Helvetica Neue"/>
              </a:rPr>
              <a:t>−0,56</a:t>
            </a:r>
            <a:endParaRPr sz="5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0012E4-4A17-58AB-7C13-D2FE52FD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99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98684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Biais moyen après Kalman</a:t>
            </a:r>
            <a:endParaRPr sz="14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EUR/MWh</a:t>
            </a:r>
            <a:endParaRPr sz="14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9E294EF-928B-660C-B2B3-E78F4ECC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041400"/>
            <a:ext cx="5526315" cy="5435072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BE261F0F-2359-53ED-9F86-805EC1A3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1709230"/>
            <a:ext cx="5331640" cy="16140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243B57"/>
                </a:solidFill>
                <a:latin typeface="Helvetica Neue"/>
                <a:ea typeface="Helvetica Neue"/>
                <a:cs typeface="Helvetica Neue"/>
              </a:rPr>
              <a:t>Évaluation causale sur 365 jours et 8 760 heures. La correction de Kalman réduit la MAE et la RMSE, tout en rapprochant le biais de zéro. La MAE des variations horaires est légèrement moins bonne.</a:t>
            </a:r>
          </a:p>
        </p:txBody>
      </p:sp>
      <p:sp>
        <p:nvSpPr>
          <p:cNvPr id="10" name="Footer Placeholder 9">
            <a:extLst xmlns:a="http://schemas.openxmlformats.org/drawingml/2006/main">
              <a:ext uri="{FF2B5EF4-FFF2-40B4-BE49-F238E27FC236}">
                <a16:creationId xmlns:a16="http://schemas.microsoft.com/office/drawing/2014/main" id="{86E641B5-9209-3FE0-FF9F-6D9DEC997FE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15985" y="6056248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100"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26A191F-219A-DB9E-DC19-FDD1658D914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E91A8"/>
                </a:solidFill>
                <a:latin typeface="Helvetica Neue"/>
                <a:ea typeface="Helvetica Neue"/>
                <a:cs typeface="Helvetica Neue"/>
              </a:defRPr>
            </a:pPr>
            <a:fld id="{EE5B3003-2C54-13C6-9832-7637201064DE}" type="slidenum">
              <a:rPr sz="1125">
                <a:solidFill>
                  <a:srgbClr val="7E91A8"/>
                </a:solidFill>
                <a:latin typeface="Helvetica Neue"/>
                <a:ea typeface="Helvetica Neue"/>
                <a:cs typeface="Helvetica Neue"/>
              </a:rPr>
              <a:t>5</a:t>
            </a:fld>
            <a:endParaRPr sz="1100"/>
          </a:p>
        </p:txBody>
      </p:sp>
      <p:graphicFrame>
        <p:nvGraphicFramePr>
          <p:cNvPr id="53" name="Chart"/>
          <p:cNvGraphicFramePr/>
          <p:nvPr/>
        </p:nvGraphicFramePr>
        <p:xfrm>
          <a:off xmlns:a="http://schemas.openxmlformats.org/drawingml/2006/main" x="634472" y="1322449"/>
          <a:ext xmlns:a="http://schemas.openxmlformats.org/drawingml/2006/main" cx="5029728" cy="478459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7a14242af624359"/>
          </a:graphicData>
        </a:graphic>
      </p:graphicFrame>
    </p:spTree>
    <p:extLst>
      <p:ext uri="{BB962C8B-B14F-4D97-AF65-F5344CB8AC3E}">
        <p14:creationId xmlns:p14="http://schemas.microsoft.com/office/powerpoint/2010/main" val="1126433058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16E6E18-DCB5-27BF-4701-D93C82ECBFD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681498"/>
            <a:ext cx="9448800" cy="2491490"/>
          </a:xfrm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À retenir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4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Une prévision, une fourchette, des garde-fous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DF85E7E-4696-758B-00CF-3C8AE6DE933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346700"/>
            <a:ext cx="3568700" cy="706865"/>
          </a:xfrm>
        </p:spPr>
        <p:txBody>
          <a:bodyPr xmlns:a="http://schemas.openxmlformats.org/drawingml/2006/main" wrap="square">
            <a:normAutofit fontScale="7829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Présenter ensemble la courbe P50,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l’intervalle P10–P90 et la performance historique.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23E257-E836-DD5D-F7F1-70302542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 u="none" cap="none" spc="0">
                <a:ln>
                  <a:noFill/>
                </a:ln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FORECAST FRANCE · 9 SEPTEMBRE 2026</a:t>
            </a:r>
          </a:p>
        </p:txBody>
      </p:sp>
    </p:spTree>
    <p:extLst>
      <p:ext uri="{BB962C8B-B14F-4D97-AF65-F5344CB8AC3E}">
        <p14:creationId xmlns:p14="http://schemas.microsoft.com/office/powerpoint/2010/main" val="320632849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2026-09-08T15:30:01.6970000Z</dcterms:created>
  <dcterms:modified xsi:type="dcterms:W3CDTF">2026-09-08T15:30:01.6970000Z</dcterms:modified>
</coreProperties>
</file>