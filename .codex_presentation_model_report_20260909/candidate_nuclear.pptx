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2beb8d0b34f1f" /><Relationship Type="http://schemas.openxmlformats.org/officeDocument/2006/relationships/extended-properties" Target="/docProps/app.xml" Id="Rabe5fa075f514428" /><Relationship Type="http://schemas.openxmlformats.org/officeDocument/2006/relationships/officeDocument" Target="/ppt/presentation.xml" Id="R6bb41e7848fd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bb692d61c2479d"/>
  </p:sldMasterIdLst>
  <p:notesMasterIdLst>
    <p:notesMasterId xmlns:r="http://schemas.openxmlformats.org/officeDocument/2006/relationships" r:id="R9c302602ca524a45"/>
  </p:notesMasterIdLst>
  <p:sldIdLst>
    <p:sldId xmlns:r="http://schemas.openxmlformats.org/officeDocument/2006/relationships" id="256" r:id="Rf452bfd7719744ca"/>
    <p:sldId xmlns:r="http://schemas.openxmlformats.org/officeDocument/2006/relationships" id="257" r:id="Rd1a0e75de4184ceb"/>
    <p:sldId xmlns:r="http://schemas.openxmlformats.org/officeDocument/2006/relationships" id="258" r:id="R3d480e7573064361"/>
    <p:sldId xmlns:r="http://schemas.openxmlformats.org/officeDocument/2006/relationships" id="259" r:id="R8f9782c80be0407a"/>
    <p:sldId xmlns:r="http://schemas.openxmlformats.org/officeDocument/2006/relationships" id="260" r:id="R6f14fdfed787490e"/>
    <p:sldId xmlns:r="http://schemas.openxmlformats.org/officeDocument/2006/relationships" id="261" r:id="Rbc91bbaf07bf412d"/>
    <p:sldId xmlns:r="http://schemas.openxmlformats.org/officeDocument/2006/relationships" id="262" r:id="R31e42ce4e88549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70b6c4040d4014" /><Relationship Type="http://schemas.openxmlformats.org/officeDocument/2006/relationships/slideMaster" Target="/ppt/slideMasters/slideMaster1.xml" Id="R47bb692d61c2479d" /><Relationship Type="http://schemas.openxmlformats.org/officeDocument/2006/relationships/notesMaster" Target="/ppt/notesMasters/notesMaster1.xml" Id="R9c302602ca524a45" /><Relationship Type="http://schemas.openxmlformats.org/officeDocument/2006/relationships/presProps" Target="/ppt/presProps.xml" Id="Rd5c83c6df23443c5" /><Relationship Type="http://schemas.openxmlformats.org/officeDocument/2006/relationships/viewProps" Target="/ppt/viewProps.xml" Id="Rd742a85a3e4c4eef" /><Relationship Type="http://schemas.openxmlformats.org/officeDocument/2006/relationships/tableStyles" Target="/ppt/tableStyles.xml" Id="Rb0550dd273654459" /><Relationship Type="http://schemas.openxmlformats.org/officeDocument/2006/relationships/slide" Target="/ppt/slides/slide1.xml" Id="Rf452bfd7719744ca" /><Relationship Type="http://schemas.openxmlformats.org/officeDocument/2006/relationships/slide" Target="/ppt/slides/slide2.xml" Id="Rd1a0e75de4184ceb" /><Relationship Type="http://schemas.openxmlformats.org/officeDocument/2006/relationships/slide" Target="/ppt/slides/slide3.xml" Id="R3d480e7573064361" /><Relationship Type="http://schemas.openxmlformats.org/officeDocument/2006/relationships/slide" Target="/ppt/slides/slide4.xml" Id="R8f9782c80be0407a" /><Relationship Type="http://schemas.openxmlformats.org/officeDocument/2006/relationships/slide" Target="/ppt/slides/slide5.xml" Id="R6f14fdfed787490e" /><Relationship Type="http://schemas.openxmlformats.org/officeDocument/2006/relationships/slide" Target="/ppt/slides/slide6.xml" Id="Rbc91bbaf07bf412d" /><Relationship Type="http://schemas.openxmlformats.org/officeDocument/2006/relationships/slide" Target="/ppt/slides/slide7.xml" Id="R31e42ce4e88549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24b05d8b97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84460b85e84331" /><Relationship Type="http://schemas.openxmlformats.org/officeDocument/2006/relationships/notesMaster" Target="/ppt/notesMasters/notesMaster1.xml" Id="R1f46330ebed243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6b246617342ec" /><Relationship Type="http://schemas.openxmlformats.org/officeDocument/2006/relationships/notesMaster" Target="/ppt/notesMasters/notesMaster1.xml" Id="Rad42ca2539e340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855e43beb4375" /><Relationship Type="http://schemas.openxmlformats.org/officeDocument/2006/relationships/notesMaster" Target="/ppt/notesMasters/notesMaster1.xml" Id="R6e91b698ece64d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ef86eb51924a91" /><Relationship Type="http://schemas.openxmlformats.org/officeDocument/2006/relationships/notesMaster" Target="/ppt/notesMasters/notesMaster1.xml" Id="R752e9d2c2ddf46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b198fe3c1d4c32" /><Relationship Type="http://schemas.openxmlformats.org/officeDocument/2006/relationships/notesMaster" Target="/ppt/notesMasters/notesMaster1.xml" Id="Rca5800d1526149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ebd9ba3b544afd" /><Relationship Type="http://schemas.openxmlformats.org/officeDocument/2006/relationships/notesMaster" Target="/ppt/notesMasters/notesMaster1.xml" Id="Rff259ee3f40e48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1ffa50ca5545c9" /><Relationship Type="http://schemas.openxmlformats.org/officeDocument/2006/relationships/notesMaster" Target="/ppt/notesMasters/notesMaster1.xml" Id="R6b62945cf2494d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oral : présenter en quelques minutes le fonctionnement du modèle et les principaux résultats du rapport France.</a:t>
            </a:r>
            <a:endParaRPr/>
          </a:p>
          <a:p xmlns:a="http://schemas.openxmlformats.org/drawingml/2006/main">
            <a:r>
              <a:t>Sources : C:\Users\BQ6757\chronos2_v1\runs\exports\2026-09-09\fr\kalman\forecast_fr_2026-09-09_kalman.csv</a:t>
            </a:r>
            <a:endParaRPr/>
          </a:p>
          <a:p xmlns:a="http://schemas.openxmlformats.org/drawingml/2006/main">
            <a:r>
              <a:t>Rapport associé : runs/exports/2026-09-09/fr/kalman/forecast_fr_2026-09-09_kalman.html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Message clé : le modèle est un pipeline causal. Au moment de prévoir une journée, seules les informations déjà disponibles sont utilisées.</a:t>
            </a:r>
          </a:p>
          <a:p xmlns:a="http://schemas.openxmlformats.org/drawingml/2006/main">
            <a:r>
              <a:t>L’absence de fuite future signifie qu’aucune observation postérieure à la date de prévision n’entre dans l’entraînement, la sélection ou la correction appliquée à cette prévision.</a:t>
            </a:r>
          </a:p>
          <a:p xmlns:a="http://schemas.openxmlformats.org/drawingml/2006/main">
            <a:r>
              <a:t>Sources : Forecast.ps1, chronos2_hourly/kalman_residual.py, deliverables/Note_explicative_Kalman.txt.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Chronos-2 est un transformer encodeur-only pour séries temporelles. Il encode le contexte historique et les covariables, puis une tête de prédiction produit l’horizon futur sous forme de quantiles.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correcteur résiduel apprend la quantité observée moins la médiane Chronos-2. CatBoost et HistGradientBoosting construisent chacun une suite d’arbres qui corrige progressivement les erreurs du modèle précédent. Leurs prédictions sont moyennées à parts égales.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filtre de Kalman assimile ensuite uniquement les erreurs déjà observées. La gouvernance compare plusieurs filtres à une identité sans correction et n’applique un filtre que s’il apporte un gain récent.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https://huggingface.co/amazon/chronos-2 ; https://github.com/amazon-science/chronos-forecasting/blob/main/src/chronos/chronos2/model.py ; chronos2_hourly/kalman_residual.py ; deliverables/Note_explicative_Kalman.txt.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source est la série Saturn power.fr.generation.nuclear.gw.fcst. Elle représente une prévision de production nucléaire française en GW, distincte de la disponibilité REMIT et de la production réalisée.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Pour chaque journée de livraison, le pipeline sélectionne le dernier vintage disponible à D−1 08 h, heure de Paris. Il utilise 730 jours historiques complets ainsi que la journée à prévoir.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variable nucléaire entre dans le contexte de Chronos-2 et dans ses covariables futures connues. Le réseau Chronos-2 reste gelé : il n’est ni réentraîné ni adapté par LoRA.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correcteur résiduel reçoit une feature dédiée nommée known_fr_nuclear_generation_fcst_gw_oracle. Le mot oracle est un nom technique du mécanisme de covariable future connue : les valeurs restent des prévisions disponibles à la date de coupure, jamais des réalisations futures.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Kalman ajoute le nucléaire au groupe market. La charge résiduelle n’est pas modifiée, afin de ne pas mélanger une production en GW avec un agrégat de charge résiduelle.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Cette fonctionnalité est un challenger séparé. Elle produit nuclear_autonomous ou nuclear_kalman et ne modifie pas le pipeline standard. Son gain propre doit encore être isolé par une comparaison contrôlée avec et sans nucléaire.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NUCLEAR_FORECAST.md ; chronos2_hourly/nuclear_forecast.py ; config/nuclear_forecast.yaml ; Forecast.ps1.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P50 est la trajectoire centrale. P10 et P90 encadrent l’incertitude du modèle : la valeur réalisée est attendue entre ces deux bornes dans environ 80 % des cas si le modèle est bien calibré.</a:t>
            </a:r>
          </a:p>
          <a:p xmlns:a="http://schemas.openxmlformats.org/drawingml/2006/main">
            <a:r>
              <a:t>Chiffres du jour : moyenne P50 152,81 EUR/MWh ; minimum 78,60 EUR/MWh à 13 h ; maximum 222,89 EUR/MWh à 19 h ; largeur maximale P10–P90 68,65 EUR/MWh à 16 h.</a:t>
            </a:r>
          </a:p>
          <a:p xmlns:a="http://schemas.openxmlformats.org/drawingml/2006/main">
            <a:r>
              <a:t>Source : C:\Users\BQ6757\chronos2_v1\runs\exports\2026-09-09\fr\kalman\forecast_fr_2026-09-09_kalman.csv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MAE est la taille moyenne des erreurs, sans tenir compte du signe. Le biais est la moyenne signée : un biais proche de zéro indique qu’il n’y a pas de surestimation ou de sous-estimation systématique.</a:t>
            </a:r>
          </a:p>
          <a:p xmlns:a="http://schemas.openxmlformats.org/drawingml/2006/main">
            <a:r>
              <a:t>Résultats : MAE 12,5521 contre 12,7050, gain 1,2034 % ; RMSE 20,0488 contre 20,3742, gain 1,5974 % ; biais −0,5590 contre −1,2297 ; corrélation 0,9320 contre 0,9299.</a:t>
            </a:r>
          </a:p>
          <a:p xmlns:a="http://schemas.openxmlformats.org/drawingml/2006/main">
            <a:r>
              <a:t>Point de vigilance : ramp MAE 7,2255 contre 7,2052. Le Kalman améliore le niveau de prix moyen, mais pas toutes les transitions horaires.</a:t>
            </a:r>
          </a:p>
          <a:p xmlns:a="http://schemas.openxmlformats.org/drawingml/2006/main">
            <a:r>
              <a:t>Source : runs/exports/2026-09-09/fr/kalman/forecast_fr_2026-09-09_kalman.html et kalman_filter_audit.json.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proposée : Chronos-2 fournit la structure principale, le correcteur résiduel retire les erreurs récurrentes et le Kalman adapte prudemment la prévision au régime récent.</a:t>
            </a:r>
            <a:endParaRPr/>
          </a:p>
          <a:p xmlns:a="http://schemas.openxmlformats.org/drawingml/2006/main">
            <a:r>
              <a:t>Pour lire le rapport, commencer par P50, regarder ensuite la largeur P10–P90, puis mettre la prévision en perspective avec les métriques historiques.</a:t>
            </a:r>
            <a:endParaRPr/>
          </a:p>
          <a:p xmlns:a="http://schemas.openxmlformats.org/drawingml/2006/main">
            <a:r>
              <a:t>Le benchmark Storm sert à comparer les résultats après coup. Il n’entre pas dans le filtre de Kalman.</a:t>
            </a:r>
            <a:endParaRPr/>
          </a:p>
          <a:p xmlns:a="http://schemas.openxmlformats.org/drawingml/2006/main">
            <a:r>
              <a:t>Source : runs/exports/2026-09-09/fr/kalman/forecast_fr_2026-09-09_kalman.html et kalman_filter_audit.json.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eb6c290da42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002e3543647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7c047751945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9de27d0ae42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bf741d31845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02ec31a5b4e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7ee8dd34143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33e2445654c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0fe0b0a19463e" /><Relationship Type="http://schemas.openxmlformats.org/officeDocument/2006/relationships/image" Target="/ppt/media/image.png" Id="Re00d77ef4a7743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597facdc041fa" /><Relationship Type="http://schemas.openxmlformats.org/officeDocument/2006/relationships/image" Target="/ppt/media/image2.png" Id="R1e8072ce0bed4e7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e00d77ef4a7743c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e8072ce0bed4e7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bb13dcb1fd4b63" /><Relationship Type="http://schemas.openxmlformats.org/officeDocument/2006/relationships/slideLayout" Target="/ppt/slideLayouts/slideLayout1.xml" Id="Raf3ea11a513b4176" /><Relationship Type="http://schemas.openxmlformats.org/officeDocument/2006/relationships/slideLayout" Target="/ppt/slideLayouts/slideLayout2.xml" Id="R3607826d76764d8f" /><Relationship Type="http://schemas.openxmlformats.org/officeDocument/2006/relationships/slideLayout" Target="/ppt/slideLayouts/slideLayout3.xml" Id="R4857265093a34617" /><Relationship Type="http://schemas.openxmlformats.org/officeDocument/2006/relationships/slideLayout" Target="/ppt/slideLayouts/slideLayout4.xml" Id="Rc83c5ba12dea419a" /><Relationship Type="http://schemas.openxmlformats.org/officeDocument/2006/relationships/slideLayout" Target="/ppt/slideLayouts/slideLayout5.xml" Id="R63096014b48d4dcb" /><Relationship Type="http://schemas.openxmlformats.org/officeDocument/2006/relationships/slideLayout" Target="/ppt/slideLayouts/slideLayout6.xml" Id="Ra2f23d934af54245" /><Relationship Type="http://schemas.openxmlformats.org/officeDocument/2006/relationships/slideLayout" Target="/ppt/slideLayouts/slideLayout7.xml" Id="R439e9b960d0640a3" /><Relationship Type="http://schemas.openxmlformats.org/officeDocument/2006/relationships/slideLayout" Target="/ppt/slideLayouts/slideLayout8.xml" Id="R6d77f1c7998e477c" /><Relationship Type="http://schemas.openxmlformats.org/officeDocument/2006/relationships/slideLayout" Target="/ppt/slideLayouts/slideLayout9.xml" Id="R3e277b9a873f4f17" /><Relationship Type="http://schemas.openxmlformats.org/officeDocument/2006/relationships/slideLayout" Target="/ppt/slideLayouts/slideLayout10.xml" Id="R16f3687676af43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3ea11a513b4176"/>
    <p:sldLayoutId xmlns:r="http://schemas.openxmlformats.org/officeDocument/2006/relationships" id="2147483650" r:id="R3607826d76764d8f"/>
    <p:sldLayoutId xmlns:r="http://schemas.openxmlformats.org/officeDocument/2006/relationships" id="2147483651" r:id="R4857265093a34617"/>
    <p:sldLayoutId xmlns:r="http://schemas.openxmlformats.org/officeDocument/2006/relationships" id="2147483652" r:id="Rc83c5ba12dea419a"/>
    <p:sldLayoutId xmlns:r="http://schemas.openxmlformats.org/officeDocument/2006/relationships" id="2147483653" r:id="R63096014b48d4dcb"/>
    <p:sldLayoutId xmlns:r="http://schemas.openxmlformats.org/officeDocument/2006/relationships" id="2147483654" r:id="Ra2f23d934af54245"/>
    <p:sldLayoutId xmlns:r="http://schemas.openxmlformats.org/officeDocument/2006/relationships" id="2147483655" r:id="R439e9b960d0640a3"/>
    <p:sldLayoutId xmlns:r="http://schemas.openxmlformats.org/officeDocument/2006/relationships" id="2147483656" r:id="R6d77f1c7998e477c"/>
    <p:sldLayoutId xmlns:r="http://schemas.openxmlformats.org/officeDocument/2006/relationships" id="2147483657" r:id="R3e277b9a873f4f17"/>
    <p:sldLayoutId xmlns:r="http://schemas.openxmlformats.org/officeDocument/2006/relationships" id="2147483658" r:id="R16f3687676af431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23775c8e34841" /><Relationship Type="http://schemas.openxmlformats.org/officeDocument/2006/relationships/notesSlide" Target="/ppt/notesSlides/notesSlide1.xml" Id="R4820534402be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dcc96de0b7e4641" /><Relationship Type="http://schemas.openxmlformats.org/officeDocument/2006/relationships/notesSlide" Target="/ppt/notesSlides/notesSlide2.xml" Id="Rda6013e9e94148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626bb59fec74f3f" /><Relationship Type="http://schemas.openxmlformats.org/officeDocument/2006/relationships/notesSlide" Target="/ppt/notesSlides/notesSlide3.xml" Id="R4218a57509ab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19356a8a9174225" /><Relationship Type="http://schemas.openxmlformats.org/officeDocument/2006/relationships/notesSlide" Target="/ppt/notesSlides/notesSlide4.xml" Id="R1e51395c7bb6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a8512be314249" /><Relationship Type="http://schemas.openxmlformats.org/officeDocument/2006/relationships/chart" Target="/ppt/slides/charts/chart1.xml" Id="R36844982c9d1425f" /><Relationship Type="http://schemas.openxmlformats.org/officeDocument/2006/relationships/notesSlide" Target="/ppt/notesSlides/notesSlide5.xml" Id="R9bba5e8ff03f4b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532d179b74e28" /><Relationship Type="http://schemas.openxmlformats.org/officeDocument/2006/relationships/chart" Target="/ppt/slides/charts/chart2.xml" Id="Re2d61f0e2bf047aa" /><Relationship Type="http://schemas.openxmlformats.org/officeDocument/2006/relationships/notesSlide" Target="/ppt/notesSlides/notesSlide6.xml" Id="R06d4e0356acd49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73667450b4882" /><Relationship Type="http://schemas.openxmlformats.org/officeDocument/2006/relationships/notesSlide" Target="/ppt/notesSlides/notesSlide7.xml" Id="R5d2ca230bd72415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Prix horaire prévu,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P10</c:v>
          </c:tx>
          <c:spPr>
            <a:ln xmlns:a="http://schemas.openxmlformats.org/drawingml/2006/main" w="19050">
              <a:solidFill>
                <a:srgbClr val="84B9F3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149.95876707045437</c:v>
              </c:pt>
              <c:pt idx="1">
                <c:v>137.7572453188675</c:v>
              </c:pt>
              <c:pt idx="2">
                <c:v>127.81762860557828</c:v>
              </c:pt>
              <c:pt idx="3">
                <c:v>121.36857639829064</c:v>
              </c:pt>
              <c:pt idx="4">
                <c:v>124.41282872865486</c:v>
              </c:pt>
              <c:pt idx="5">
                <c:v>137.5155774568129</c:v>
              </c:pt>
              <c:pt idx="6">
                <c:v>165.04243973063143</c:v>
              </c:pt>
              <c:pt idx="7">
                <c:v>184.68246175483785</c:v>
              </c:pt>
              <c:pt idx="8">
                <c:v>174.53279072186422</c:v>
              </c:pt>
              <c:pt idx="9">
                <c:v>146.54629785883168</c:v>
              </c:pt>
              <c:pt idx="10">
                <c:v>118.57166762693495</c:v>
              </c:pt>
              <c:pt idx="11">
                <c:v>83.31875854807797</c:v>
              </c:pt>
              <c:pt idx="12">
                <c:v>60.61183925716215</c:v>
              </c:pt>
              <c:pt idx="13">
                <c:v>48.07922751650044</c:v>
              </c:pt>
              <c:pt idx="14">
                <c:v>55.33070009108191</c:v>
              </c:pt>
              <c:pt idx="15">
                <c:v>61.5314879905328</c:v>
              </c:pt>
              <c:pt idx="16">
                <c:v>78.67469074860519</c:v>
              </c:pt>
              <c:pt idx="17">
                <c:v>130.1890976204014</c:v>
              </c:pt>
              <c:pt idx="18">
                <c:v>171.15081744940318</c:v>
              </c:pt>
              <c:pt idx="19">
                <c:v>202.60330087862977</c:v>
              </c:pt>
              <c:pt idx="20">
                <c:v>201.9018407426704</c:v>
              </c:pt>
              <c:pt idx="21">
                <c:v>187.9454664795016</c:v>
              </c:pt>
              <c:pt idx="22">
                <c:v>176.8143141306665</c:v>
              </c:pt>
              <c:pt idx="23">
                <c:v>164.29861130777311</c:v>
              </c:pt>
            </c:numLit>
          </c:val>
          <c:smooth val="0"/>
        </c:ser>
        <c:ser>
          <c:idx val="1"/>
          <c:order val="1"/>
          <c:tx>
            <c:v>P90</c:v>
          </c:tx>
          <c:spPr>
            <a:ln xmlns:a="http://schemas.openxmlformats.org/drawingml/2006/main" w="19050">
              <a:solidFill>
                <a:srgbClr val="4D8FE7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162.25065244643093</c:v>
              </c:pt>
              <c:pt idx="1">
                <c:v>154.65757490871124</c:v>
              </c:pt>
              <c:pt idx="2">
                <c:v>147.65831158897672</c:v>
              </c:pt>
              <c:pt idx="3">
                <c:v>145.39463841000938</c:v>
              </c:pt>
              <c:pt idx="4">
                <c:v>149.8417532892017</c:v>
              </c:pt>
              <c:pt idx="5">
                <c:v>163.18820013747697</c:v>
              </c:pt>
              <c:pt idx="6">
                <c:v>191.8681233243814</c:v>
              </c:pt>
              <c:pt idx="7">
                <c:v>213.22176839546285</c:v>
              </c:pt>
              <c:pt idx="8">
                <c:v>204.5584254874892</c:v>
              </c:pt>
              <c:pt idx="9">
                <c:v>180.61232263910512</c:v>
              </c:pt>
              <c:pt idx="10">
                <c:v>157.04244704588027</c:v>
              </c:pt>
              <c:pt idx="11">
                <c:v>135.0407205231756</c:v>
              </c:pt>
              <c:pt idx="12">
                <c:v>122.21332546321682</c:v>
              </c:pt>
              <c:pt idx="13">
                <c:v>109.03237158998678</c:v>
              </c:pt>
              <c:pt idx="14">
                <c:v>115.45225160475376</c:v>
              </c:pt>
              <c:pt idx="15">
                <c:v>123.3432555686578</c:v>
              </c:pt>
              <c:pt idx="16">
                <c:v>147.3235402359099</c:v>
              </c:pt>
              <c:pt idx="17">
                <c:v>180.91176912919047</c:v>
              </c:pt>
              <c:pt idx="18">
                <c:v>219.01373248846568</c:v>
              </c:pt>
              <c:pt idx="19">
                <c:v>251.7794483395673</c:v>
              </c:pt>
              <c:pt idx="20">
                <c:v>253.1616521440376</c:v>
              </c:pt>
              <c:pt idx="21">
                <c:v>229.34405656739216</c:v>
              </c:pt>
              <c:pt idx="22">
                <c:v>208.23032975566647</c:v>
              </c:pt>
              <c:pt idx="23">
                <c:v>193.13164963785124</c:v>
              </c:pt>
            </c:numLit>
          </c:val>
          <c:smooth val="0"/>
        </c:ser>
        <c:ser>
          <c:idx val="2"/>
          <c:order val="2"/>
          <c:tx>
            <c:v>P50</c:v>
          </c:tx>
          <c:spPr>
            <a:ln xmlns:a="http://schemas.openxmlformats.org/drawingml/2006/main" w="38100">
              <a:solidFill>
                <a:srgbClr val="08284F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157.38476194350125</c:v>
              </c:pt>
              <c:pt idx="1">
                <c:v>146.90362288234405</c:v>
              </c:pt>
              <c:pt idx="2">
                <c:v>138.93303082725797</c:v>
              </c:pt>
              <c:pt idx="3">
                <c:v>133.1241611150875</c:v>
              </c:pt>
              <c:pt idx="4">
                <c:v>137.29474096010014</c:v>
              </c:pt>
              <c:pt idx="5">
                <c:v>151.26104559646134</c:v>
              </c:pt>
              <c:pt idx="6">
                <c:v>178.43045547770174</c:v>
              </c:pt>
              <c:pt idx="7">
                <c:v>197.84766866401756</c:v>
              </c:pt>
              <c:pt idx="8">
                <c:v>189.5328059806533</c:v>
              </c:pt>
              <c:pt idx="9">
                <c:v>163.85341150629262</c:v>
              </c:pt>
              <c:pt idx="10">
                <c:v>137.86422438963027</c:v>
              </c:pt>
              <c:pt idx="11">
                <c:v>110.42359405833186</c:v>
              </c:pt>
              <c:pt idx="12">
                <c:v>92.83637233821683</c:v>
              </c:pt>
              <c:pt idx="13">
                <c:v>78.59606177553364</c:v>
              </c:pt>
              <c:pt idx="14">
                <c:v>86.03741853590611</c:v>
              </c:pt>
              <c:pt idx="15">
                <c:v>91.78334956279842</c:v>
              </c:pt>
              <c:pt idx="16">
                <c:v>109.0994954361052</c:v>
              </c:pt>
              <c:pt idx="17">
                <c:v>153.06563875809672</c:v>
              </c:pt>
              <c:pt idx="18">
                <c:v>193.07891803534068</c:v>
              </c:pt>
              <c:pt idx="19">
                <c:v>222.88499338351255</c:v>
              </c:pt>
              <c:pt idx="20">
                <c:v>222.70439201220165</c:v>
              </c:pt>
              <c:pt idx="21">
                <c:v>205.13008256836875</c:v>
              </c:pt>
              <c:pt idx="22">
                <c:v>191.21890092265872</c:v>
              </c:pt>
              <c:pt idx="23">
                <c:v>178.08001389566374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Erreur historique,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Correcteur résiduel</c:v>
          </c:tx>
          <c:spPr>
            <a:solidFill xmlns:a="http://schemas.openxmlformats.org/drawingml/2006/main">
              <a:srgbClr val="7E91A8"/>
            </a:solidFill>
            <a:ln xmlns:a="http://schemas.openxmlformats.org/drawingml/2006/main" w="9525">
              <a:solidFill>
                <a:srgbClr val="7E91A8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12.705</c:v>
              </c:pt>
              <c:pt idx="1">
                <c:v>20.3742</c:v>
              </c:pt>
            </c:numLit>
          </c:val>
        </c:ser>
        <c:ser>
          <c:idx val="1"/>
          <c:order val="1"/>
          <c:tx>
            <c:v>Après Kalman</c:v>
          </c:tx>
          <c:spPr>
            <a:solidFill xmlns:a="http://schemas.openxmlformats.org/drawingml/2006/main">
              <a:srgbClr val="175CD4"/>
            </a:solidFill>
            <a:ln xmlns:a="http://schemas.openxmlformats.org/drawingml/2006/main" w="9525">
              <a:solidFill>
                <a:srgbClr val="175CD4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12.5521</c:v>
              </c:pt>
              <c:pt idx="1">
                <c:v>20.0488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284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EDF5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EDF5FE"/>
    </a:solidFill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day-ahead France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Chronos-2 et ses correcteurs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du 9 septembre 2026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Rapport France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Présentation simple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Modèle et résultats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 SEPT.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1C6BFCB-EC3A-4BF2-824A-25FC3D3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 wrap="square" anchor="t">
            <a:normAutofit fontScale="9860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Données disponibles à D−1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récents, calendrier et prévisions de charge résiduelle sur cinq pays.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Du signal brut au rapport publié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 wrap="square" anchor="t">
            <a:normAutofit fontScale="8997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Prévision et correction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 produit P10, P50 et P90. Le correcteur résiduel apprend les erreurs récurrentes.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 wrap="square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Kalman et publication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filtre admissible le plus performant est retenu, puis les contrôles produisent le CSV et le rapport HTML.</a:t>
            </a:r>
          </a:p>
        </p:txBody>
      </p:sp>
      <p:cxnSp>
        <p:nvCxnSpPr>
          <p:cNvPr id="2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146048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 · ENTRÉES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2 · MODÈLE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3 · SORTIE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Transformer préentraîné de type encodeur-only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Lit l’historique et les variables connues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Produit directement P10, P50 et P90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Correcteur résiduel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Moyenne de CatBoost et HistGradientBoosting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Prévoit l’erreur restante de 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Décale les trois quantiles de façon identique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Filtre de Kalman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Suit le biais récent au fil des jours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Teste plusieurs dynamiques sans fuite future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Peut conserver la prévision inchangée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Trois étages, trois rôles complémentaires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Chaque étage traite une source d’erreur différente, du signal de fond jusqu’aux écarts les plus récents.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spc="100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FONCTIONNEMENT DU MODÈLE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Source et gel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Prévision Saturn de production nucléaire FR en GW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Vintage disponible à D−1, 08 h, heure de Paris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730 jours historiques et la journée à prévoir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Dans 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Ajoutée au contexte historique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Ajoutée comme covariable future connue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 reste gelé, sans nouvel entraînement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Dans les correcteurs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Feature dédiée du correcteur résiduel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Variable « market » supplémentaire dans Kalman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Charge résiduelle inchangée et unités séparées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Introduction de la génération nucléaire française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pipeline ajoute une prévision de production, jamais la réalisation. Cette variante reste séparée du modèle standard.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spc="100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CHALLENGER NUCLÉAIRE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La prévision du 9 septembre 2026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152,8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moyen P50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68,7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27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Largeur maximale P10–P90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à 16 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creux intervient à 13 h, puis la courbe remonte rapidement vers un pic à 19 h.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EC22377-6A13-05D7-1E02-074A373A36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 sz="1100"/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385834" y="1254715"/>
          <a:ext xmlns:a="http://schemas.openxmlformats.org/drawingml/2006/main" cx="5534180" cy="52592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844982c9d1425f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Le Kalman améliore la précision moyenne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1,2 %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7844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Gain de MAE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par rapport au correcteur résiduel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−0,56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Biais moyen après Kalman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Évaluation causale sur 365 jours et 8 760 heures. La correction de Kalman réduit la MAE et la RMSE, tout en rapprochant le biais de zéro. La MAE des variations horaires est légèrement moins bonne.</a:t>
            </a:r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 sz="110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d61f0e2bf047aa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À retenir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Une prévision, une fourchette, des garde-fous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 wrap="square">
            <a:normAutofit fontScale="78290"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Présenter ensemble la courbe P50,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l’intervalle P10–P90 et la performance historique.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 · 9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2026-09-08T15:42:05.3590000Z</dcterms:created>
  <dcterms:modified xsi:type="dcterms:W3CDTF">2026-09-08T15:42:05.3590000Z</dcterms:modified>
</coreProperties>
</file>