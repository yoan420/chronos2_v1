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d4ad3ab10a41d9" /><Relationship Type="http://schemas.openxmlformats.org/officeDocument/2006/relationships/extended-properties" Target="/docProps/app.xml" Id="R3b3e93492b5842e1" /><Relationship Type="http://schemas.openxmlformats.org/officeDocument/2006/relationships/officeDocument" Target="/ppt/presentation.xml" Id="R49e27b16dc454ac2" /></Relationships>
</file>

<file path=ppt/presentation.xml><?xml version="1.0" encoding="utf-8"?>
<p:presentation xmlns:p="http://schemas.openxmlformats.org/presentationml/2006/main">
  <p:sldMasterIdLst>
    <p:sldMasterId xmlns:r="http://schemas.openxmlformats.org/officeDocument/2006/relationships" id="2147483648" r:id="Rdad37ae8a9054e1a"/>
  </p:sldMasterIdLst>
  <p:notesMasterIdLst>
    <p:notesMasterId xmlns:r="http://schemas.openxmlformats.org/officeDocument/2006/relationships" r:id="Rabe78ef62a4f4221"/>
  </p:notesMasterIdLst>
  <p:sldIdLst>
    <p:sldId xmlns:r="http://schemas.openxmlformats.org/officeDocument/2006/relationships" id="256" r:id="R3ce14d2399964b8d"/>
    <p:sldId xmlns:r="http://schemas.openxmlformats.org/officeDocument/2006/relationships" id="257" r:id="R2da6ee76e7564464"/>
    <p:sldId xmlns:r="http://schemas.openxmlformats.org/officeDocument/2006/relationships" id="258" r:id="Rb5b7a7d561534f6c"/>
    <p:sldId xmlns:r="http://schemas.openxmlformats.org/officeDocument/2006/relationships" id="259" r:id="Rdcd46dec4b604a8d"/>
    <p:sldId xmlns:r="http://schemas.openxmlformats.org/officeDocument/2006/relationships" id="260" r:id="R4ed2a7522cab4aa2"/>
    <p:sldId xmlns:r="http://schemas.openxmlformats.org/officeDocument/2006/relationships" id="261" r:id="Recb383c252bd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a45ed27247a4acf" /><Relationship Type="http://schemas.openxmlformats.org/officeDocument/2006/relationships/slideMaster" Target="/ppt/slideMasters/slideMaster1.xml" Id="Rdad37ae8a9054e1a" /><Relationship Type="http://schemas.openxmlformats.org/officeDocument/2006/relationships/notesMaster" Target="/ppt/notesMasters/notesMaster1.xml" Id="Rabe78ef62a4f4221" /><Relationship Type="http://schemas.openxmlformats.org/officeDocument/2006/relationships/presProps" Target="/ppt/presProps.xml" Id="R865ecb2bc6ad4b19" /><Relationship Type="http://schemas.openxmlformats.org/officeDocument/2006/relationships/viewProps" Target="/ppt/viewProps.xml" Id="Rf84b867470d141eb" /><Relationship Type="http://schemas.openxmlformats.org/officeDocument/2006/relationships/tableStyles" Target="/ppt/tableStyles.xml" Id="R51223f4b96a34a35" /><Relationship Type="http://schemas.openxmlformats.org/officeDocument/2006/relationships/slide" Target="/ppt/slides/slide1.xml" Id="R3ce14d2399964b8d" /><Relationship Type="http://schemas.openxmlformats.org/officeDocument/2006/relationships/slide" Target="/ppt/slides/slide2.xml" Id="R2da6ee76e7564464" /><Relationship Type="http://schemas.openxmlformats.org/officeDocument/2006/relationships/slide" Target="/ppt/slides/slide3.xml" Id="Rb5b7a7d561534f6c" /><Relationship Type="http://schemas.openxmlformats.org/officeDocument/2006/relationships/slide" Target="/ppt/slides/slide4.xml" Id="Rdcd46dec4b604a8d" /><Relationship Type="http://schemas.openxmlformats.org/officeDocument/2006/relationships/slide" Target="/ppt/slides/slide5.xml" Id="R4ed2a7522cab4aa2" /><Relationship Type="http://schemas.openxmlformats.org/officeDocument/2006/relationships/slide" Target="/ppt/slides/slide6.xml" Id="Recb383c252bd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feda736d004b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9374339f6e45be" /><Relationship Type="http://schemas.openxmlformats.org/officeDocument/2006/relationships/notesMaster" Target="/ppt/notesMasters/notesMaster1.xml" Id="R4e5072bbdf134b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274822bf834ba6" /><Relationship Type="http://schemas.openxmlformats.org/officeDocument/2006/relationships/notesMaster" Target="/ppt/notesMasters/notesMaster1.xml" Id="R7c8e0e88d0cb4b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54529729c14eed" /><Relationship Type="http://schemas.openxmlformats.org/officeDocument/2006/relationships/notesMaster" Target="/ppt/notesMasters/notesMaster1.xml" Id="R10e8b91035db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d43c0d0727495e" /><Relationship Type="http://schemas.openxmlformats.org/officeDocument/2006/relationships/notesMaster" Target="/ppt/notesMasters/notesMaster1.xml" Id="R86d9f0c024604b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d12f3ff75b41b9" /><Relationship Type="http://schemas.openxmlformats.org/officeDocument/2006/relationships/notesMaster" Target="/ppt/notesMasters/notesMaster1.xml" Id="R04dc7bcea8a148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66b41751b04e32" /><Relationship Type="http://schemas.openxmlformats.org/officeDocument/2006/relationships/notesMaster" Target="/ppt/notesMasters/notesMaster1.xml" Id="R657a8e36e14a4f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Dérouler la chaîne de gauche à droite. Insister sur la causalité : aucune information connue après l’heure du forecast n’est utilisée. Storm est un benchmark ex-post, jamais une variable d’entrée.</a:t>
            </a:r>
          </a:p>
          <a:p xmlns:a="http://schemas.openxmlformats.org/drawingml/2006/main">
            <a:endParaRPr/>
          </a:p>
          <a:p xmlns:a="http://schemas.openxmlformats.org/drawingml/2006/main">
            <a:r>
              <a:t>[Sources]</a:t>
            </a:r>
          </a:p>
          <a:p xmlns:a="http://schemas.openxmlformats.org/drawingml/2006/main">
            <a:r>
              <a:t>- C:/Users/BQ6757/Downloads/Présentation courte — Forecast Fran.txt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Chronos-2 apporte une base probabiliste générale. Le correcteur ne re-prédit pas directement le prix : il prédit le résidu. Les deux algorithmes sont des ensembles d’arbres construits séquentiellement. CatBoost capte bien les interactions complexes ; HistGradientBoosting regroupe les valeurs en intervalles pour apprendre efficacement. Leurs sorties sont moyennées. À chaque forecast, les modèles sont recréés sur le même historique figé : il s’agit d’un réentraînement technique, pas d’un recalibrage avec les toutes dernières observations. Le même déplacement est ajouté à P10, P50 et P90, donc la largeur de la bande reste inchangée.</a:t>
            </a:r>
          </a:p>
          <a:p xmlns:a="http://schemas.openxmlformats.org/drawingml/2006/main">
            <a:endParaRPr/>
          </a:p>
          <a:p xmlns:a="http://schemas.openxmlformats.org/drawingml/2006/main">
            <a:r>
              <a:t>[Sources]</a:t>
            </a:r>
          </a:p>
          <a:p xmlns:a="http://schemas.openxmlformats.org/drawingml/2006/main">
            <a:r>
              <a:t>- C:/Users/BQ6757/Downloads/Présentation courte — Forecast Fran.txt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a:t>
            </a:r>
            <a:r>
              <a:t>correcteur</a:t>
            </a:r>
            <a:r>
              <a:t> </a:t>
            </a:r>
            <a:r>
              <a:t>réduit</a:t>
            </a:r>
            <a:r>
              <a:t> la MAE de Chronos-2 </a:t>
            </a:r>
            <a:r>
              <a:t>d’environ</a:t>
            </a:r>
            <a:r>
              <a:t> 5 %, à 12,44 €/MWh, avec </a:t>
            </a:r>
            <a:r>
              <a:t>une</a:t>
            </a:r>
            <a:r>
              <a:t> </a:t>
            </a:r>
            <a:r>
              <a:t>corrélation</a:t>
            </a:r>
            <a:r>
              <a:t> de 0,93. Storm conserve </a:t>
            </a:r>
            <a:r>
              <a:t>une</a:t>
            </a:r>
            <a:r>
              <a:t> MAE plus </a:t>
            </a:r>
            <a:r>
              <a:t>basse</a:t>
            </a:r>
            <a:r>
              <a:t>, à 11,67 €/MWh, et le </a:t>
            </a:r>
            <a:r>
              <a:t>modèle</a:t>
            </a:r>
            <a:r>
              <a:t> </a:t>
            </a:r>
            <a:r>
              <a:t>gagne</a:t>
            </a:r>
            <a:r>
              <a:t> 47,56 % des </a:t>
            </a:r>
            <a:r>
              <a:t>heures</a:t>
            </a:r>
            <a:r>
              <a:t> face à </a:t>
            </a:r>
            <a:r>
              <a:t>lui</a:t>
            </a:r>
            <a:r>
              <a:t>. Le message final est </a:t>
            </a:r>
            <a:r>
              <a:t>donc</a:t>
            </a:r>
            <a:r>
              <a:t> </a:t>
            </a:r>
            <a:r>
              <a:t>équilibré</a:t>
            </a:r>
            <a:r>
              <a:t> : gain </a:t>
            </a:r>
            <a:r>
              <a:t>réel</a:t>
            </a:r>
            <a:r>
              <a:t> par rapport à la base, </a:t>
            </a:r>
            <a:r>
              <a:t>mais</a:t>
            </a:r>
            <a:r>
              <a:t> marge </a:t>
            </a:r>
            <a:r>
              <a:t>d’amélioration</a:t>
            </a:r>
            <a:r>
              <a:t> encore visible face au benchmark.</a:t>
            </a:r>
          </a:p>
          <a:p xmlns:a="http://schemas.openxmlformats.org/drawingml/2006/main">
            <a:endParaRPr/>
          </a:p>
          <a:p xmlns:a="http://schemas.openxmlformats.org/drawingml/2006/main">
            <a:r>
              <a:t>[Sources]</a:t>
            </a:r>
          </a:p>
          <a:p xmlns:a="http://schemas.openxmlformats.org/drawingml/2006/main">
            <a:r>
              <a:t>- C:/Users/BQ6757/chronos2_v1/runs/exports/2026-08-26/fr/autonomous/forecast_fr_2026-08-26_autonomous.html</a:t>
            </a:r>
          </a:p>
          <a:p xmlns:a="http://schemas.openxmlformats.org/drawingml/2006/main">
            <a:r>
              <a:t>- C:/Users/BQ6757/Downloads/Présentation </a:t>
            </a:r>
            <a:r>
              <a:t>courte</a:t>
            </a:r>
            <a:r>
              <a:t> — Forecast Fran.txt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bandeau Prix moyens porte sur la journée civile locale du forecast, 24 heures appariées. Modèle 163.32969935157357, Storm 147.75663383333332, écart 15.573065518240242 EUR/MWh. Le tableau Statistics ajoute l’observé 149.47260416666668.</a:t>
            </a:r>
          </a:p>
          <a:p xmlns:a="http://schemas.openxmlformats.org/drawingml/2006/main">
            <a:r>
              <a:t>Le tableau filtre les périodes par jour, semaine ou mois et indique quel forecast a le prix moyen le plus proche de l’observé. Le calendrier mesure la valeur absolue de la différence entre la moyenne du modèle et celle de l’observé. Ici l’extrait affiche les sept derniers jours, avec une échelle de couleur 0 à 30 EUR/MWh.</a:t>
            </a:r>
            <a:endParaRPr/>
          </a:p>
          <a:p xmlns:a="http://schemas.openxmlformats.org/drawingml/2006/main">
            <a:r>
              <a:t>Sur les 8759 heures communes, observé 69.94736813563192, modèle 69.98137689699918, Storm 68.1166460619934. MAE horaire sur ces mêmes heures : modèle 11.94156008810655 contre Storm 11.819694510674736. La différence des moyennes peut être faible alors que les erreurs horaires restent importantes, car elles se compensent.</a:t>
            </a:r>
          </a:p>
          <a:p xmlns:a="http://schemas.openxmlformats.org/drawingml/2006/main">
            <a:r>
              <a:t>Le modèle est plus proche en prix moyen dans 161 des 365 journées. Les cases plus rouges signalent un écart plus grand et non le sens de l’erreur. Les jours sans benchmark ne donnent pas de score comparatif.</a:t>
            </a:r>
          </a:p>
          <a:p xmlns:a="http://schemas.openxmlformats.org/drawingml/2006/main">
            <a:r>
              <a:t>Sections HTML : Prix moyens, Statistics — Prix moyens, Calendrier des écarts du modèle à l’observé. Les premières diapositives reprennent le support du 26 août, ces exemples proviennent du rapport du 9 septembre.</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original Performance par heure locale dispose de trois modes : MAE, prix moyens et biais. Deux vues sont présentées simultanément ici. Chaque point regroupe les observations d’une même heure locale sur la période 10/09/2025–09/09/2026.</a:t>
            </a:r>
          </a:p>
          <a:p xmlns:a="http://schemas.openxmlformats.org/drawingml/2006/main">
            <a:r>
              <a:t>MAE : moyenne des erreurs absolues. Biais : moyenne de la prévision moins le prix observé, positif pour la surestimation et négatif pour la sous-estimation. Les moyennes et les erreurs utilisent exactement les mêmes heures appariées, soit 8759 heures sur 8760 heures observées. L’heure locale 02h dispose de 364 points, les autres de 365.</a:t>
            </a:r>
            <a:endParaRPr/>
          </a:p>
          <a:p xmlns:a="http://schemas.openxmlformats.org/drawingml/2006/main">
            <a:r>
              <a:t>Gain MAE = MAE Storm moins MAE modèle. Le modèle gagne dans 10 des 24 tranches horaires. Gain à 00h : 1.843362148283072, à 18h : 1.556275936272769, à 12h : -1.3328098017096597, à 15h : -1.2861586439472905 EUR/MWh.</a:t>
            </a:r>
          </a:p>
          <a:p xmlns:a="http://schemas.openxmlformats.org/drawingml/2006/main">
            <a:r>
              <a:t>Les données manquantes ne sont pas remplacées par zéro. Chaque heure physique compte une fois, en conservant les deux occurrences de 02h en automne.</a:t>
            </a:r>
          </a:p>
          <a:p xmlns:a="http://schemas.openxmlformats.org/drawingml/2006/main">
            <a:r>
              <a:t>Données exactes des sept traces (heures 00h à 23h) :</a:t>
            </a:r>
          </a:p>
          <a:p xmlns:a="http://schemas.openxmlformats.org/drawingml/2006/main">
            <a:r>
              <a:t>[{"name":"Chronos-2 + nucl. + correcteur + Kalman","values":[9.849157213360762,9.567047736991523,10.036229755359962,10.7836310616838,10.667657901830706,10.920119014516779,11.847318675802935,12.380299633284439,13.207583657486458,11.97176600129496,11.657004068602463,11.372520706838054,12.03832389212062,12.41562145295972,12.902235832531316,11.605766904221264,11.540670959482972,11.803911852484323,13.044689956877916,14.847478934055724,14.361908288150218,13.171948064709982,12.309554113324932,12.28977635348198]},{"name":"Storm officiel dashboard","values":[11.692519361643834,9.999882254794521,9.85501921978022,10.290173936986301,10.935639690410959,10.832532526027396,11.976361290410956,12.48788657260274,13.714284580821918,11.724061123287672,10.725743761643836,10.460219819178086,10.70551409041096,12.872692616438355,12.171164287671234,10.319608260273974,10.60132137260274,10.693619610958903,14.600965893150684,15.740556824657533,14.13101746849315,12.870811482191783,12.418184183561642,11.847505356164385]},{"name":"Chronos-2 + nucl. + correcteur + Kalman","values":[82.58249074923096,76.49149633359862,68.94256216765612,62.00917000584686,60.537893582469174,67.22107926255752,79.26021766723845,91.5154754475449,90.74519495491504,72.92453101479782,53.60687199312481,41.06732563007634,34.997538796701036,29.235305505678618,29.988683978262678,34.51654657935729,42.70356553758256,61.37184091306382,88.49694378088914,111.16105136697306,109.33305792346158,101.75904410921459,98.72697742306498,90.35533473692082]},{"name":"Storm officiel dashboard","values":[81.88062407945206,74.4066268630137,69.34350924725275,62.14876690136987,59.24784575616439,63.28608193424658,73.128642369863,84.40929150958905,84.3249813369863,69.2252002849315,52.8066952739726,42.31938510136986,37.046903838356165,32.93998977260274,31.473567427397256,36.47983796986301,43.84514411780821,57.09545196712329,80.10931505479452,103.7395539260274,107.39690547945207,100.89470592602738,95.56818046301369,91.68566015616439]},{"name":"Observé","values":[81.50498630136987,76.24675342465754,69.52023351648351,61.80254794520548,60.093315068493155,66.28018493150685,78.76657534246576,91.21191095890411,91.69986301369865,73.28676712328766,53.088280821917806,41.05754109589041,36.45541095890411,27.563308219178076,29.01766438356164,34.59267123287671,42.92036301369863,61.571828767123286,89.05676712328767,112.11242465753426,109.42708904109588,101.5690479452055,100.72152054794522,89.1686095890411]},{"name":"Chronos-2 + nucl. + correcteur + Kalman","values":[1.0775044478610942,0.24474290894108217,-0.5776713488274026,0.20662206064139338,0.4445785139760175,0.9408943310506884,0.49364232477269815,0.3035644886407882,-0.954668058783586,-0.3622361084898551,0.5185911712070045,0.00978453418593166,-1.4578721622030721,1.6719972865005375,0.9710195947010366,-0.07612465351942674,-0.21679747611606898,-0.19998785405945976,-0.55982334239854,-0.9513732905612016,-0.09403111763429935,0.1899961640090924,-1.9945431248802277,1.186725147879728]},{"name":"Storm officiel dashboard","values":[0.37563777808219156,-1.8401265616438358,-0.1767242692307695,0.34621895616438353,-0.8454693123287675,-2.994102997260274,-5.63793297260274,-6.802619449315069,-7.374881676712328,-4.061566838356164,-0.2815855479452052,1.261844005479452,0.5914928794520548,5.376681553424657,2.455903043835616,1.8871667369863012,0.9247811041095888,-4.4763768,-8.947452068493151,-8.37287073150685,-2.030183561643837,-0.6743420191780827,-5.153340084931508,2.5170505671232877]}]</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barres représentent le poids relatif Shapley, somme des contributions absolues d’un groupe sur les heures du jour divisée par la somme des contributions absolues de tous les groupes. Ce pourcentage ne représente pas une part du prix. Les sept groupes sont tous présents.</a:t>
            </a:r>
          </a:p>
          <a:p xmlns:a="http://schemas.openxmlformats.org/drawingml/2006/main">
            <a:r>
              <a:t>La carte thermique présente les contributions signées des 24 heures : positive, la variable relève le prix par rapport à la référence. Négative, elle le baisse. Les couleurs reprennent l’échelle symétrique originale de -43.21769049489378 à +43.21769049489378 EUR/MWh. Les cases restent éditables dans PowerPoint, les valeurs numériques exactes figurent ci-dessous.</a:t>
            </a:r>
            <a:endParaRPr/>
          </a:p>
          <a:p xmlns:a="http://schemas.openxmlformats.org/drawingml/2006/main">
            <a:r>
              <a:t>La référence est une médiane par heure de la semaine des 56 jours historiques disponibles. Le modèle conserve ses paramètres appris et son calendrier. Shapley groupé par permutations recalcule le pipeline amont de bout en bout. Il explique Chronos-2 + nucléaire + correcteur, avant Kalman. Les états internes du filtre ne sont pas attribués aux variables.</a:t>
            </a:r>
          </a:p>
          <a:p xmlns:a="http://schemas.openxmlformats.org/drawingml/2006/main">
            <a:r>
              <a:t>Les prix passés pèsent 57.198 % et apportent +21.027 EUR/MWh en moyenne. Le nucléaire pèse 1.085 %, avec une contribution moyenne -0.368 EUR/MWh. Ces valeurs décrivent la sensibilité de cette prévision à la référence et aux dépendances entre variables, sans identification d’un effet économique causal.</a:t>
            </a:r>
          </a:p>
          <a:p xmlns:a="http://schemas.openxmlformats.org/drawingml/2006/main">
            <a:r>
              <a:t>Référence moyenne 136.24 + contributions moyennes 27.09 = P50 amont moyenne 163.33 EUR/MWh. Dans ce rapport, l’ajustement Kalman moyen vaut 0.00.</a:t>
            </a:r>
          </a:p>
          <a:p xmlns:a="http://schemas.openxmlformats.org/drawingml/2006/main">
            <a:r>
              <a:t>Valeurs des contributions par groupe, heures 00 à 23 :</a:t>
            </a:r>
          </a:p>
          <a:p xmlns:a="http://schemas.openxmlformats.org/drawingml/2006/main">
            <a:r>
              <a:t>[{"label":"Charge résiduelle FR","values":[-0.5202940703382897,0.2335223434979942,1.593857237356611,-1.8801909640058476,-1.0045692422224946,1.2390551816069948,1.1411604533054351,1.3511338728633815,2.407448889926444,3.467375417596576,7.015624264695317,9.127291435091571,15.292431928126012,15.144152009065085,13.841436089266264,12.68709277414559,8.929185146107097,4.723411600986987,3.670569557721654,2.603740753236714,2.5596177854339563,1.148063731125621,0.8383358966181484,0.6500314150003463]},{"label":"Charge résiduelle DE","values":[-0.2821938381293565,-1.870480698086837,-2.1005509434771144,-1.537486022513522,-1.5131357513161765,-1.4346546735247934,-1.877383423883048,0.2501674670915879,1.9207715447993072,3.553105674904055,7.107110333684218,15.327036609101672,19.97977580017264,21.61930571328185,20.099675344378326,16.29457392398514,7.947222037293827,3.104691719972614,-0.0139457678435945,-1.611505708224218,-1.6735564652876036,-3.070013723917201,-2.33771167238387,-1.866620934723219]},{"label":"Charge résiduelle BE","values":[-1.0745007136753513,-1.4409331543448936,-1.8109809607983407,-2.099667811202079,-1.5110219165871124,-2.5722923360119507,-1.3838902969473068,-0.3339087882855693,-0.7656022367607687,-1.1735175105145688,-2.6684616871918,-2.474255959926599,-0.9613597651185012,-0.1280743702826643,0.2773803190852928,1.1175449849451902,1.1726190199573296,1.2183181100525138,2.726046217993887,3.751964468195779,4.269305911450113,3.96933621171164,4.538211073814338,4.282120240126276]},{"label":"Charge résiduelle NL","values":[-0.2169319113656156,-0.0555163344224745,-0.1331100718386535,-0.352735190328155,0.0274746321494996,-0.5082760142040303,-0.2843833348363898,0.353789047545173,0.5695026851294447,0.8634357031503708,0.4964740663503972,0.630999912855343,1.6985929122519814,2.167176635311078,2.552044128194903,1.9777629062303024,-0.1754707463600531,-0.4609351363071967,-0.9022176156876024,-1.323749641458452,-0.906612883310677,-1.1507428676271845,-0.7032964699372037,-0.5155555254751238]},{"label":"Charge résiduelle ES","values":[-2.6904923015741598,-2.78498738000818,-2.781463686336611,-2.8424349287841144,-2.965334924911033,-3.416425816282233,-4.036110865580124,-3.650499222398565,-2.9818385672204144,-2.518281815220422,-2.273684545615753,-1.7608717674482728,-0.5318312984374363,-0.6894587789853281,-0.0482511681314712,-1.6040293600450817,-2.655286741836114,-2.997981895102656,-2.8525596209247484,-2.4045343554663985,-2.6231542083685646,-2.6864702047443405,-2.4527184990960205,-2.2027281806070453]},{"label":"Production nucléaire prévue FR (GW)","values":[-0.7376451004196163,-0.6453409045595233,-0.5692268765720261,-0.5181477525122578,-0.4962529570172123,-0.6852333435096885,-0.3639716276291542,-0.3815518112251315,-0.1211453301611733,-0.2332380088660537,-0.503929400271272,-0.2047875023280752,-0.3587157066709288,0.0291841560015606,-0.2373902174151696,-0.4964502226498122,-0.4487328193185775,0.4525135996312226,-0.4678738191420448,-0.8033079727257553,-0.1179858897947019,-0.2608406801580063,-0.5154742248645068,-0.1436883096312984]},{"label":"Prix passés (contexte Chronos)","values":[18.14173352171757,14.578432668201527,11.220079462532317,13.449120822400602,16.86071252318068,19.87604525727336,34.92656876341736,38.42097662773197,43.21769049489378,40.71459387852523,40.30475891584401,34.69238016533721,27.13094763088584,19.57544739270173,10.164849626388728,-1.8559805598115535,-4.04252801495594,15.278255466392707,25.46124446507637,20.478345366185,26.237081700708977,15.392946336981884,9.05242381797687,15.362069574883936]}]</a:t>
            </a:r>
          </a:p>
          <a:p xmlns:a="http://schemas.openxmlformats.org/drawingml/2006/main">
            <a:r>
              <a:t>Poids exacts : [{"label":"Production nucléaire prévue FR (GW)","percent":1.0845875068665956},{"label":"Charge résiduelle NL","percent":2.107321375230668},{"label":"Charge résiduelle BE","percent":5.285398343962552},{"label":"Charge résiduelle ES","percent":6.473817791504951},{"label":"Charge résiduelle FR","percent":12.523080018484215},{"label":"Charge résiduelle DE","percent":15.327751001396566},{"label":"Prix passés (contexte Chronos)","percent":57.19804396255444}]</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0155a5c8004b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47ecd9888f472e" /><Relationship Type="http://schemas.openxmlformats.org/officeDocument/2006/relationships/slideLayout" Target="/ppt/slideLayouts/slideLayout1.xml" Id="Rdf7eba6588a44c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7eba6588a44c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0eeeb4bb9a4f59" /><Relationship Type="http://schemas.openxmlformats.org/officeDocument/2006/relationships/notesSlide" Target="/ppt/notesSlides/notesSlide1.xml" Id="R15e953c5ca1541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a8b264ded240ab" /><Relationship Type="http://schemas.openxmlformats.org/officeDocument/2006/relationships/notesSlide" Target="/ppt/notesSlides/notesSlide2.xml" Id="R524289e3a3454c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7b6f42f48646b6" /><Relationship Type="http://schemas.openxmlformats.org/officeDocument/2006/relationships/notesSlide" Target="/ppt/notesSlides/notesSlide3.xml" Id="R3084da006a9947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601e31dade465f" /><Relationship Type="http://schemas.openxmlformats.org/officeDocument/2006/relationships/notesSlide" Target="/ppt/notesSlides/notesSlide4.xml" Id="R5f508bdee97442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68c579266c49ca" /><Relationship Type="http://schemas.openxmlformats.org/officeDocument/2006/relationships/chart" Target="/ppt/slides/charts/chart1.xml" Id="R1e2b81bf42a34e53" /><Relationship Type="http://schemas.openxmlformats.org/officeDocument/2006/relationships/chart" Target="/ppt/slides/charts/chart2.xml" Id="R70e254ad1a6c4100" /><Relationship Type="http://schemas.openxmlformats.org/officeDocument/2006/relationships/notesSlide" Target="/ppt/notesSlides/notesSlide5.xml" Id="Rf15f2d2f3fa546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486d79f62741b0" /><Relationship Type="http://schemas.openxmlformats.org/officeDocument/2006/relationships/chart" Target="/ppt/slides/charts/chart3.xml" Id="Rb2b2d2ad51bf4b01" /><Relationship Type="http://schemas.openxmlformats.org/officeDocument/2006/relationships/notesSlide" Target="/ppt/notesSlides/notesSlide6.xml" Id="R7a2aeb6ce0c04ed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MAE horaire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lineChart>
        <c:grouping val="standard"/>
        <c:varyColors val="0"/>
        <c:ser>
          <c:idx val="0"/>
          <c:order val="0"/>
          <c:tx>
            <c:v>Modèle</c:v>
          </c:tx>
          <c:spPr>
            <a:ln xmlns:a="http://schemas.openxmlformats.org/drawingml/2006/main" w="30480">
              <a:solidFill>
                <a:srgbClr val="3D8DFF"/>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9.849157213360762</c:v>
              </c:pt>
              <c:pt idx="1">
                <c:v>9.567047736991523</c:v>
              </c:pt>
              <c:pt idx="2">
                <c:v>10.036229755359962</c:v>
              </c:pt>
              <c:pt idx="3">
                <c:v>10.7836310616838</c:v>
              </c:pt>
              <c:pt idx="4">
                <c:v>10.667657901830706</c:v>
              </c:pt>
              <c:pt idx="5">
                <c:v>10.920119014516779</c:v>
              </c:pt>
              <c:pt idx="6">
                <c:v>11.847318675802935</c:v>
              </c:pt>
              <c:pt idx="7">
                <c:v>12.380299633284439</c:v>
              </c:pt>
              <c:pt idx="8">
                <c:v>13.207583657486458</c:v>
              </c:pt>
              <c:pt idx="9">
                <c:v>11.97176600129496</c:v>
              </c:pt>
              <c:pt idx="10">
                <c:v>11.657004068602463</c:v>
              </c:pt>
              <c:pt idx="11">
                <c:v>11.372520706838054</c:v>
              </c:pt>
              <c:pt idx="12">
                <c:v>12.03832389212062</c:v>
              </c:pt>
              <c:pt idx="13">
                <c:v>12.41562145295972</c:v>
              </c:pt>
              <c:pt idx="14">
                <c:v>12.902235832531316</c:v>
              </c:pt>
              <c:pt idx="15">
                <c:v>11.605766904221264</c:v>
              </c:pt>
              <c:pt idx="16">
                <c:v>11.540670959482972</c:v>
              </c:pt>
              <c:pt idx="17">
                <c:v>11.803911852484323</c:v>
              </c:pt>
              <c:pt idx="18">
                <c:v>13.044689956877916</c:v>
              </c:pt>
              <c:pt idx="19">
                <c:v>14.847478934055724</c:v>
              </c:pt>
              <c:pt idx="20">
                <c:v>14.361908288150218</c:v>
              </c:pt>
              <c:pt idx="21">
                <c:v>13.171948064709982</c:v>
              </c:pt>
              <c:pt idx="22">
                <c:v>12.309554113324932</c:v>
              </c:pt>
              <c:pt idx="23">
                <c:v>12.28977635348198</c:v>
              </c:pt>
            </c:numLit>
          </c:val>
          <c:smooth val="0"/>
        </c:ser>
        <c:ser>
          <c:idx val="1"/>
          <c:order val="1"/>
          <c:tx>
            <c:v>Storm</c:v>
          </c:tx>
          <c:spPr>
            <a:ln xmlns:a="http://schemas.openxmlformats.org/drawingml/2006/main" w="20955">
              <a:solidFill>
                <a:srgbClr val="000000"/>
              </a:solidFill>
              <a:prstDash val="dash"/>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11.692519361643834</c:v>
              </c:pt>
              <c:pt idx="1">
                <c:v>9.999882254794521</c:v>
              </c:pt>
              <c:pt idx="2">
                <c:v>9.85501921978022</c:v>
              </c:pt>
              <c:pt idx="3">
                <c:v>10.290173936986301</c:v>
              </c:pt>
              <c:pt idx="4">
                <c:v>10.935639690410959</c:v>
              </c:pt>
              <c:pt idx="5">
                <c:v>10.832532526027396</c:v>
              </c:pt>
              <c:pt idx="6">
                <c:v>11.976361290410956</c:v>
              </c:pt>
              <c:pt idx="7">
                <c:v>12.48788657260274</c:v>
              </c:pt>
              <c:pt idx="8">
                <c:v>13.714284580821918</c:v>
              </c:pt>
              <c:pt idx="9">
                <c:v>11.724061123287672</c:v>
              </c:pt>
              <c:pt idx="10">
                <c:v>10.725743761643836</c:v>
              </c:pt>
              <c:pt idx="11">
                <c:v>10.460219819178086</c:v>
              </c:pt>
              <c:pt idx="12">
                <c:v>10.70551409041096</c:v>
              </c:pt>
              <c:pt idx="13">
                <c:v>12.872692616438355</c:v>
              </c:pt>
              <c:pt idx="14">
                <c:v>12.171164287671234</c:v>
              </c:pt>
              <c:pt idx="15">
                <c:v>10.319608260273974</c:v>
              </c:pt>
              <c:pt idx="16">
                <c:v>10.60132137260274</c:v>
              </c:pt>
              <c:pt idx="17">
                <c:v>10.693619610958903</c:v>
              </c:pt>
              <c:pt idx="18">
                <c:v>14.600965893150684</c:v>
              </c:pt>
              <c:pt idx="19">
                <c:v>15.740556824657533</c:v>
              </c:pt>
              <c:pt idx="20">
                <c:v>14.13101746849315</c:v>
              </c:pt>
              <c:pt idx="21">
                <c:v>12.870811482191783</c:v>
              </c:pt>
              <c:pt idx="22">
                <c:v>12.418184183561642</c:v>
              </c:pt>
              <c:pt idx="23">
                <c:v>11.847505356164385</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atAx>
      <c:valAx>
        <c:axId val="48672768"/>
        <c:scaling>
          <c:orientation val="minMax"/>
          <c:max val="18"/>
          <c:min val="0"/>
        </c:scaling>
        <c:delete val="0"/>
        <c:axPos val="l"/>
        <c:majorGridlines>
          <c:spPr>
            <a:ln xmlns:a="http://schemas.openxmlformats.org/drawingml/2006/main" w="7620">
              <a:solidFill>
                <a:srgbClr val="D7DA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Prix moyens par heure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lineChart>
        <c:grouping val="standard"/>
        <c:varyColors val="0"/>
        <c:ser>
          <c:idx val="0"/>
          <c:order val="0"/>
          <c:tx>
            <c:v>Observé</c:v>
          </c:tx>
          <c:spPr>
            <a:ln xmlns:a="http://schemas.openxmlformats.org/drawingml/2006/main" w="20955">
              <a:solidFill>
                <a:srgbClr val="3F9FC9"/>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81.50498630136987</c:v>
              </c:pt>
              <c:pt idx="1">
                <c:v>76.24675342465754</c:v>
              </c:pt>
              <c:pt idx="2">
                <c:v>69.52023351648351</c:v>
              </c:pt>
              <c:pt idx="3">
                <c:v>61.80254794520548</c:v>
              </c:pt>
              <c:pt idx="4">
                <c:v>60.093315068493155</c:v>
              </c:pt>
              <c:pt idx="5">
                <c:v>66.28018493150685</c:v>
              </c:pt>
              <c:pt idx="6">
                <c:v>78.76657534246576</c:v>
              </c:pt>
              <c:pt idx="7">
                <c:v>91.21191095890411</c:v>
              </c:pt>
              <c:pt idx="8">
                <c:v>91.69986301369865</c:v>
              </c:pt>
              <c:pt idx="9">
                <c:v>73.28676712328766</c:v>
              </c:pt>
              <c:pt idx="10">
                <c:v>53.088280821917806</c:v>
              </c:pt>
              <c:pt idx="11">
                <c:v>41.05754109589041</c:v>
              </c:pt>
              <c:pt idx="12">
                <c:v>36.45541095890411</c:v>
              </c:pt>
              <c:pt idx="13">
                <c:v>27.563308219178076</c:v>
              </c:pt>
              <c:pt idx="14">
                <c:v>29.01766438356164</c:v>
              </c:pt>
              <c:pt idx="15">
                <c:v>34.59267123287671</c:v>
              </c:pt>
              <c:pt idx="16">
                <c:v>42.92036301369863</c:v>
              </c:pt>
              <c:pt idx="17">
                <c:v>61.571828767123286</c:v>
              </c:pt>
              <c:pt idx="18">
                <c:v>89.05676712328767</c:v>
              </c:pt>
              <c:pt idx="19">
                <c:v>112.11242465753426</c:v>
              </c:pt>
              <c:pt idx="20">
                <c:v>109.42708904109588</c:v>
              </c:pt>
              <c:pt idx="21">
                <c:v>101.5690479452055</c:v>
              </c:pt>
              <c:pt idx="22">
                <c:v>100.72152054794522</c:v>
              </c:pt>
              <c:pt idx="23">
                <c:v>89.1686095890411</c:v>
              </c:pt>
            </c:numLit>
          </c:val>
          <c:smooth val="0"/>
        </c:ser>
        <c:ser>
          <c:idx val="1"/>
          <c:order val="1"/>
          <c:tx>
            <c:v>Modèle</c:v>
          </c:tx>
          <c:spPr>
            <a:ln xmlns:a="http://schemas.openxmlformats.org/drawingml/2006/main" w="30480">
              <a:solidFill>
                <a:srgbClr val="3D8DFF"/>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82.58249074923096</c:v>
              </c:pt>
              <c:pt idx="1">
                <c:v>76.49149633359862</c:v>
              </c:pt>
              <c:pt idx="2">
                <c:v>68.94256216765612</c:v>
              </c:pt>
              <c:pt idx="3">
                <c:v>62.00917000584686</c:v>
              </c:pt>
              <c:pt idx="4">
                <c:v>60.537893582469174</c:v>
              </c:pt>
              <c:pt idx="5">
                <c:v>67.22107926255752</c:v>
              </c:pt>
              <c:pt idx="6">
                <c:v>79.26021766723845</c:v>
              </c:pt>
              <c:pt idx="7">
                <c:v>91.5154754475449</c:v>
              </c:pt>
              <c:pt idx="8">
                <c:v>90.74519495491504</c:v>
              </c:pt>
              <c:pt idx="9">
                <c:v>72.92453101479782</c:v>
              </c:pt>
              <c:pt idx="10">
                <c:v>53.60687199312481</c:v>
              </c:pt>
              <c:pt idx="11">
                <c:v>41.06732563007634</c:v>
              </c:pt>
              <c:pt idx="12">
                <c:v>34.997538796701036</c:v>
              </c:pt>
              <c:pt idx="13">
                <c:v>29.235305505678618</c:v>
              </c:pt>
              <c:pt idx="14">
                <c:v>29.988683978262678</c:v>
              </c:pt>
              <c:pt idx="15">
                <c:v>34.51654657935729</c:v>
              </c:pt>
              <c:pt idx="16">
                <c:v>42.70356553758256</c:v>
              </c:pt>
              <c:pt idx="17">
                <c:v>61.37184091306382</c:v>
              </c:pt>
              <c:pt idx="18">
                <c:v>88.49694378088914</c:v>
              </c:pt>
              <c:pt idx="19">
                <c:v>111.16105136697306</c:v>
              </c:pt>
              <c:pt idx="20">
                <c:v>109.33305792346158</c:v>
              </c:pt>
              <c:pt idx="21">
                <c:v>101.75904410921459</c:v>
              </c:pt>
              <c:pt idx="22">
                <c:v>98.72697742306498</c:v>
              </c:pt>
              <c:pt idx="23">
                <c:v>90.35533473692082</c:v>
              </c:pt>
            </c:numLit>
          </c:val>
          <c:smooth val="0"/>
        </c:ser>
        <c:ser>
          <c:idx val="2"/>
          <c:order val="2"/>
          <c:tx>
            <c:v>Storm</c:v>
          </c:tx>
          <c:spPr>
            <a:ln xmlns:a="http://schemas.openxmlformats.org/drawingml/2006/main" w="20955">
              <a:solidFill>
                <a:srgbClr val="000000"/>
              </a:solidFill>
              <a:prstDash val="dash"/>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81.88062407945206</c:v>
              </c:pt>
              <c:pt idx="1">
                <c:v>74.4066268630137</c:v>
              </c:pt>
              <c:pt idx="2">
                <c:v>69.34350924725275</c:v>
              </c:pt>
              <c:pt idx="3">
                <c:v>62.14876690136987</c:v>
              </c:pt>
              <c:pt idx="4">
                <c:v>59.24784575616439</c:v>
              </c:pt>
              <c:pt idx="5">
                <c:v>63.28608193424658</c:v>
              </c:pt>
              <c:pt idx="6">
                <c:v>73.128642369863</c:v>
              </c:pt>
              <c:pt idx="7">
                <c:v>84.40929150958905</c:v>
              </c:pt>
              <c:pt idx="8">
                <c:v>84.3249813369863</c:v>
              </c:pt>
              <c:pt idx="9">
                <c:v>69.2252002849315</c:v>
              </c:pt>
              <c:pt idx="10">
                <c:v>52.8066952739726</c:v>
              </c:pt>
              <c:pt idx="11">
                <c:v>42.31938510136986</c:v>
              </c:pt>
              <c:pt idx="12">
                <c:v>37.046903838356165</c:v>
              </c:pt>
              <c:pt idx="13">
                <c:v>32.93998977260274</c:v>
              </c:pt>
              <c:pt idx="14">
                <c:v>31.473567427397256</c:v>
              </c:pt>
              <c:pt idx="15">
                <c:v>36.47983796986301</c:v>
              </c:pt>
              <c:pt idx="16">
                <c:v>43.84514411780821</c:v>
              </c:pt>
              <c:pt idx="17">
                <c:v>57.09545196712329</c:v>
              </c:pt>
              <c:pt idx="18">
                <c:v>80.10931505479452</c:v>
              </c:pt>
              <c:pt idx="19">
                <c:v>103.7395539260274</c:v>
              </c:pt>
              <c:pt idx="20">
                <c:v>107.39690547945207</c:v>
              </c:pt>
              <c:pt idx="21">
                <c:v>100.89470592602738</c:v>
              </c:pt>
              <c:pt idx="22">
                <c:v>95.56818046301369</c:v>
              </c:pt>
              <c:pt idx="23">
                <c:v>91.68566015616439</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atAx>
      <c:valAx>
        <c:axId val="48672768"/>
        <c:scaling>
          <c:orientation val="minMax"/>
          <c:max val="120"/>
          <c:min val="0"/>
        </c:scaling>
        <c:delete val="0"/>
        <c:axPos val="l"/>
        <c:majorGridlines>
          <c:spPr>
            <a:ln xmlns:a="http://schemas.openxmlformats.org/drawingml/2006/main" w="7620">
              <a:solidFill>
                <a:srgbClr val="D7DA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Between val="between"/>
        <c:majorUnit val="3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Poids d’influence sur la journée (%)</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barChart>
        <c:barDir val="bar"/>
        <c:grouping val="clustered"/>
        <c:varyColors val="0"/>
        <c:ser>
          <c:idx val="0"/>
          <c:order val="0"/>
          <c:tx>
            <c:v>Influence Shapley (%)</c:v>
          </c:tx>
          <c:spPr>
            <a:solidFill xmlns:a="http://schemas.openxmlformats.org/drawingml/2006/main">
              <a:srgbClr val="3D8DFF"/>
            </a:solidFill>
            <a:ln xmlns:a="http://schemas.openxmlformats.org/drawingml/2006/main" w="0">
              <a:solidFill>
                <a:srgbClr val="3D8DFF"/>
              </a:solidFill>
            </a:ln>
          </c:spPr>
          <c:dPt>
            <c:idx val="0"/>
            <c:invertIfNegative val="0"/>
            <c:spPr>
              <a:solidFill xmlns:a="http://schemas.openxmlformats.org/drawingml/2006/main">
                <a:srgbClr val="3F9FC9"/>
              </a:solidFill>
            </c:spPr>
          </c:dPt>
          <c:dPt>
            <c:idx val="1"/>
            <c:invertIfNegative val="0"/>
            <c:spPr>
              <a:solidFill xmlns:a="http://schemas.openxmlformats.org/drawingml/2006/main">
                <a:srgbClr val="3D8DFF"/>
              </a:solidFill>
            </c:spPr>
          </c:dPt>
          <c:dPt>
            <c:idx val="2"/>
            <c:invertIfNegative val="0"/>
            <c:spPr>
              <a:solidFill xmlns:a="http://schemas.openxmlformats.org/drawingml/2006/main">
                <a:srgbClr val="3D8DFF"/>
              </a:solidFill>
            </c:spPr>
          </c:dPt>
          <c:dPt>
            <c:idx val="3"/>
            <c:invertIfNegative val="0"/>
            <c:spPr>
              <a:solidFill xmlns:a="http://schemas.openxmlformats.org/drawingml/2006/main">
                <a:srgbClr val="3D8DFF"/>
              </a:solidFill>
            </c:spPr>
          </c:dPt>
          <c:dPt>
            <c:idx val="4"/>
            <c:invertIfNegative val="0"/>
            <c:spPr>
              <a:solidFill xmlns:a="http://schemas.openxmlformats.org/drawingml/2006/main">
                <a:srgbClr val="3D8DFF"/>
              </a:solidFill>
            </c:spPr>
          </c:dPt>
          <c:dPt>
            <c:idx val="5"/>
            <c:invertIfNegative val="0"/>
            <c:spPr>
              <a:solidFill xmlns:a="http://schemas.openxmlformats.org/drawingml/2006/main">
                <a:srgbClr val="3D8DFF"/>
              </a:solidFill>
            </c:spPr>
          </c:dPt>
          <c:dPt>
            <c:idx val="6"/>
            <c:invertIfNegative val="0"/>
            <c:spPr>
              <a:solidFill xmlns:a="http://schemas.openxmlformats.org/drawingml/2006/main">
                <a:srgbClr val="3D8DFF"/>
              </a:solidFill>
            </c:spPr>
          </c:dPt>
          <c:cat>
            <c:strLit>
              <c:ptCount val="7"/>
              <c:pt idx="0">
                <c:v>Nucléaire FR</c:v>
              </c:pt>
              <c:pt idx="1">
                <c:v>Charge résid. NL</c:v>
              </c:pt>
              <c:pt idx="2">
                <c:v>Charge résid. BE</c:v>
              </c:pt>
              <c:pt idx="3">
                <c:v>Charge résid. ES</c:v>
              </c:pt>
              <c:pt idx="4">
                <c:v>Charge résid. FR</c:v>
              </c:pt>
              <c:pt idx="5">
                <c:v>Charge résid. DE</c:v>
              </c:pt>
              <c:pt idx="6">
                <c:v>Prix passés</c:v>
              </c:pt>
            </c:strLit>
          </c:cat>
          <c:val>
            <c:numLit>
              <c:formatCode>0.0</c:formatCode>
              <c:ptCount val="7"/>
              <c:pt idx="0">
                <c:v>1.0845875068665956</c:v>
              </c:pt>
              <c:pt idx="1">
                <c:v>2.107321375230668</c:v>
              </c:pt>
              <c:pt idx="2">
                <c:v>5.285398343962552</c:v>
              </c:pt>
              <c:pt idx="3">
                <c:v>6.473817791504951</c:v>
              </c:pt>
              <c:pt idx="4">
                <c:v>12.523080018484215</c:v>
              </c:pt>
              <c:pt idx="5">
                <c:v>15.327751001396566</c:v>
              </c:pt>
              <c:pt idx="6">
                <c:v>57.19804396255444</c:v>
              </c:pt>
            </c:numLit>
          </c:val>
        </c:ser>
        <c:dLbls>
          <c:txPr>
            <a:bodyPr xmlns:a="http://schemas.openxmlformats.org/drawingml/2006/main" anchorCtr="1"/>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200">
                <a:solidFill>
                  <a:srgbClr val="000000"/>
                </a:solidFill>
                <a:latin typeface="Helvetica Neue"/>
                <a:ea typeface="Helvetica Neue"/>
                <a:cs typeface="Helvetica Neue"/>
              </a:defRPr>
            </a:pPr>
          </a:p>
        </c:txPr>
        <c:crossAx val="48672768"/>
      </c:catAx>
      <c:valAx>
        <c:axId val="48672768"/>
        <c:scaling>
          <c:orientation val="minMax"/>
          <c:max val="65"/>
          <c:min val="0"/>
        </c:scaling>
        <c:delete val="0"/>
        <c:axPos val="b"/>
        <c:majorGridlines>
          <c:spPr>
            <a:ln xmlns:a="http://schemas.openxmlformats.org/drawingml/2006/main" w="4763">
              <a:solidFill>
                <a:srgbClr val="D7DAE0"/>
              </a:solidFill>
            </a:ln>
          </c:spPr>
        </c:majorGridlines>
        <c:numFmt formatCode="0"/>
        <c:majorTickMark val="none"/>
        <c:minorTickMark val="none"/>
        <c:spPr>
          <a:ln xmlns:a="http://schemas.openxmlformats.org/drawingml/2006/main" w="4763">
            <a:solidFill>
              <a:srgbClr val="D7DAE0"/>
            </a:solidFill>
          </a:ln>
        </c:spPr>
        <c:txPr>
          <a:bodyPr xmlns:a="http://schemas.openxmlformats.org/drawingml/2006/main" anchorCtr="1"/>
          <a:lstStyle xmlns:a="http://schemas.openxmlformats.org/drawingml/2006/main"/>
          <a:p xmlns:a="http://schemas.openxmlformats.org/drawingml/2006/main">
            <a:pPr>
              <a:defRPr sz="1050">
                <a:solidFill>
                  <a:srgbClr val="545A64"/>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pipeline-line"/>
          <p:cNvCxnSpPr/>
          <p:nvPr/>
        </p:nvCxnSpPr>
        <p:spPr>
          <a:xfrm xmlns:a="http://schemas.openxmlformats.org/drawingml/2006/main">
            <a:off x="742950" y="2924175"/>
            <a:ext cx="10410825" cy="286"/>
          </a:xfrm>
          <a:prstGeom xmlns:a="http://schemas.openxmlformats.org/drawingml/2006/main" prst="straightConnector1">
            <a:avLst/>
          </a:prstGeom>
          <a:ln xmlns:a="http://schemas.openxmlformats.org/drawingml/2006/main" w="19050">
            <a:solidFill>
              <a:srgbClr val="000000"/>
            </a:solidFill>
            <a:prstDash val="solid"/>
          </a:ln>
        </p:spPr>
      </p:cxnSp>
      <p:sp>
        <p:nvSpPr>
          <p:cNvPr id="4" name="Rectangle 3">
            <a:extLst xmlns:a="http://schemas.openxmlformats.org/drawingml/2006/main">
              <a:ext uri="{FF2B5EF4-FFF2-40B4-BE49-F238E27FC236}">
                <a16:creationId xmlns:a16="http://schemas.microsoft.com/office/drawing/2014/main" id="{F35C8BCF-B89D-4DAB-9AD5-B9A7EAE76FDC}"/>
              </a:ext>
            </a:extLst>
          </p:cNvPr>
          <p:cNvSpPr>
            <a:spLocks xmlns:a="http://schemas.openxmlformats.org/drawingml/2006/main" noGrp="1"/>
          </p:cNvSpPr>
          <p:nvPr/>
        </p:nvSpPr>
        <p:spPr>
          <a:xfrm xmlns:a="http://schemas.openxmlformats.org/drawingml/2006/main">
            <a:off x="742950" y="2143125"/>
            <a:ext cx="17145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D−1</a:t>
            </a:r>
          </a:p>
        </p:txBody>
      </p:sp>
      <p:sp>
        <p:nvSpPr>
          <p:cNvPr id="5" name="node-0">
            <a:extLst xmlns:a="http://schemas.openxmlformats.org/drawingml/2006/main">
              <a:ext uri="{FF2B5EF4-FFF2-40B4-BE49-F238E27FC236}">
                <a16:creationId xmlns:a16="http://schemas.microsoft.com/office/drawing/2014/main" id="{1CAD7742-B40A-4FFD-85FC-91883BD342B6}"/>
              </a:ext>
            </a:extLst>
          </p:cNvPr>
          <p:cNvSpPr>
            <a:spLocks xmlns:a="http://schemas.openxmlformats.org/drawingml/2006/main" noGrp="1"/>
          </p:cNvSpPr>
          <p:nvPr/>
        </p:nvSpPr>
        <p:spPr>
          <a:xfrm xmlns:a="http://schemas.openxmlformats.org/drawingml/2006/main">
            <a:off x="74295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70E061F-272F-4058-8CE8-ED422DBAF0D7}"/>
              </a:ext>
            </a:extLst>
          </p:cNvPr>
          <p:cNvSpPr>
            <a:spLocks xmlns:a="http://schemas.openxmlformats.org/drawingml/2006/main" noGrp="1"/>
          </p:cNvSpPr>
          <p:nvPr/>
        </p:nvSpPr>
        <p:spPr>
          <a:xfrm xmlns:a="http://schemas.openxmlformats.org/drawingml/2006/main">
            <a:off x="742950" y="3371850"/>
            <a:ext cx="18097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Entrées</a:t>
            </a:r>
          </a:p>
        </p:txBody>
      </p:sp>
      <p:sp>
        <p:nvSpPr>
          <p:cNvPr id="7" name="Rectangle 6">
            <a:extLst xmlns:a="http://schemas.openxmlformats.org/drawingml/2006/main">
              <a:ext uri="{FF2B5EF4-FFF2-40B4-BE49-F238E27FC236}">
                <a16:creationId xmlns:a16="http://schemas.microsoft.com/office/drawing/2014/main" id="{2411D0B5-DB25-4DC5-994D-B44D64608346}"/>
              </a:ext>
            </a:extLst>
          </p:cNvPr>
          <p:cNvSpPr>
            <a:spLocks xmlns:a="http://schemas.openxmlformats.org/drawingml/2006/main" noGrp="1"/>
          </p:cNvSpPr>
          <p:nvPr/>
        </p:nvSpPr>
        <p:spPr>
          <a:xfrm xmlns:a="http://schemas.openxmlformats.org/drawingml/2006/main">
            <a:off x="742950" y="3848100"/>
            <a:ext cx="1733550" cy="11906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Prix récents
Calendrier
Charges résiduelles
FR, DE, BE, NL, ES</a:t>
            </a:r>
          </a:p>
        </p:txBody>
      </p:sp>
      <p:sp>
        <p:nvSpPr>
          <p:cNvPr id="8" name="Rectangle 7">
            <a:extLst xmlns:a="http://schemas.openxmlformats.org/drawingml/2006/main">
              <a:ext uri="{FF2B5EF4-FFF2-40B4-BE49-F238E27FC236}">
                <a16:creationId xmlns:a16="http://schemas.microsoft.com/office/drawing/2014/main" id="{9469B013-C86B-454C-AAF6-EB0506A39480}"/>
              </a:ext>
            </a:extLst>
          </p:cNvPr>
          <p:cNvSpPr>
            <a:spLocks xmlns:a="http://schemas.openxmlformats.org/drawingml/2006/main" noGrp="1"/>
          </p:cNvSpPr>
          <p:nvPr/>
        </p:nvSpPr>
        <p:spPr>
          <a:xfrm xmlns:a="http://schemas.openxmlformats.org/drawingml/2006/main">
            <a:off x="2943225" y="2143125"/>
            <a:ext cx="17145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BASE</a:t>
            </a:r>
          </a:p>
        </p:txBody>
      </p:sp>
      <p:sp>
        <p:nvSpPr>
          <p:cNvPr id="9" name="node-1">
            <a:extLst xmlns:a="http://schemas.openxmlformats.org/drawingml/2006/main">
              <a:ext uri="{FF2B5EF4-FFF2-40B4-BE49-F238E27FC236}">
                <a16:creationId xmlns:a16="http://schemas.microsoft.com/office/drawing/2014/main" id="{8735B57C-9C73-4DD8-BAA0-FA51DA012AC5}"/>
              </a:ext>
            </a:extLst>
          </p:cNvPr>
          <p:cNvSpPr>
            <a:spLocks xmlns:a="http://schemas.openxmlformats.org/drawingml/2006/main" noGrp="1"/>
          </p:cNvSpPr>
          <p:nvPr/>
        </p:nvSpPr>
        <p:spPr>
          <a:xfrm xmlns:a="http://schemas.openxmlformats.org/drawingml/2006/main">
            <a:off x="2943225" y="2800350"/>
            <a:ext cx="247650" cy="2476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714B5182-1A16-440B-A11B-344220DE1ABA}"/>
              </a:ext>
            </a:extLst>
          </p:cNvPr>
          <p:cNvSpPr>
            <a:spLocks xmlns:a="http://schemas.openxmlformats.org/drawingml/2006/main" noGrp="1"/>
          </p:cNvSpPr>
          <p:nvPr/>
        </p:nvSpPr>
        <p:spPr>
          <a:xfrm xmlns:a="http://schemas.openxmlformats.org/drawingml/2006/main">
            <a:off x="2943225" y="3371850"/>
            <a:ext cx="18097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Chronos-2</a:t>
            </a:r>
          </a:p>
        </p:txBody>
      </p:sp>
      <p:sp>
        <p:nvSpPr>
          <p:cNvPr id="11" name="Rectangle 10">
            <a:extLst xmlns:a="http://schemas.openxmlformats.org/drawingml/2006/main">
              <a:ext uri="{FF2B5EF4-FFF2-40B4-BE49-F238E27FC236}">
                <a16:creationId xmlns:a16="http://schemas.microsoft.com/office/drawing/2014/main" id="{D29FE012-5EAD-4BA6-A2AA-646E4764DD27}"/>
              </a:ext>
            </a:extLst>
          </p:cNvPr>
          <p:cNvSpPr>
            <a:spLocks xmlns:a="http://schemas.openxmlformats.org/drawingml/2006/main" noGrp="1"/>
          </p:cNvSpPr>
          <p:nvPr/>
        </p:nvSpPr>
        <p:spPr>
          <a:xfrm xmlns:a="http://schemas.openxmlformats.org/drawingml/2006/main">
            <a:off x="2943225" y="3848100"/>
            <a:ext cx="1733550" cy="11906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Construit la forme
de la journée et
produit P10, P50, P90</a:t>
            </a:r>
          </a:p>
        </p:txBody>
      </p:sp>
      <p:sp>
        <p:nvSpPr>
          <p:cNvPr id="12" name="Rectangle 11">
            <a:extLst xmlns:a="http://schemas.openxmlformats.org/drawingml/2006/main">
              <a:ext uri="{FF2B5EF4-FFF2-40B4-BE49-F238E27FC236}">
                <a16:creationId xmlns:a16="http://schemas.microsoft.com/office/drawing/2014/main" id="{539C7203-255C-4718-98C2-4596D99845F1}"/>
              </a:ext>
            </a:extLst>
          </p:cNvPr>
          <p:cNvSpPr>
            <a:spLocks xmlns:a="http://schemas.openxmlformats.org/drawingml/2006/main" noGrp="1"/>
          </p:cNvSpPr>
          <p:nvPr/>
        </p:nvSpPr>
        <p:spPr>
          <a:xfrm xmlns:a="http://schemas.openxmlformats.org/drawingml/2006/main">
            <a:off x="5143500" y="2143125"/>
            <a:ext cx="17145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AJUST.</a:t>
            </a:r>
          </a:p>
        </p:txBody>
      </p:sp>
      <p:sp>
        <p:nvSpPr>
          <p:cNvPr id="13" name="node-2">
            <a:extLst xmlns:a="http://schemas.openxmlformats.org/drawingml/2006/main">
              <a:ext uri="{FF2B5EF4-FFF2-40B4-BE49-F238E27FC236}">
                <a16:creationId xmlns:a16="http://schemas.microsoft.com/office/drawing/2014/main" id="{22E272CC-3963-43AC-8B12-EF6C4727AE9D}"/>
              </a:ext>
            </a:extLst>
          </p:cNvPr>
          <p:cNvSpPr>
            <a:spLocks xmlns:a="http://schemas.openxmlformats.org/drawingml/2006/main" noGrp="1"/>
          </p:cNvSpPr>
          <p:nvPr/>
        </p:nvSpPr>
        <p:spPr>
          <a:xfrm xmlns:a="http://schemas.openxmlformats.org/drawingml/2006/main">
            <a:off x="5143500" y="2800350"/>
            <a:ext cx="247650" cy="24765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B358EAF4-0C53-4DED-92E9-97E728A0E858}"/>
              </a:ext>
            </a:extLst>
          </p:cNvPr>
          <p:cNvSpPr>
            <a:spLocks xmlns:a="http://schemas.openxmlformats.org/drawingml/2006/main" noGrp="1"/>
          </p:cNvSpPr>
          <p:nvPr/>
        </p:nvSpPr>
        <p:spPr>
          <a:xfrm xmlns:a="http://schemas.openxmlformats.org/drawingml/2006/main">
            <a:off x="5143500" y="3371850"/>
            <a:ext cx="18097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Correcteur</a:t>
            </a:r>
          </a:p>
        </p:txBody>
      </p:sp>
      <p:sp>
        <p:nvSpPr>
          <p:cNvPr id="15" name="Rectangle 14">
            <a:extLst xmlns:a="http://schemas.openxmlformats.org/drawingml/2006/main">
              <a:ext uri="{FF2B5EF4-FFF2-40B4-BE49-F238E27FC236}">
                <a16:creationId xmlns:a16="http://schemas.microsoft.com/office/drawing/2014/main" id="{FFA2A9E2-CA39-42EA-A114-2E7411A28598}"/>
              </a:ext>
            </a:extLst>
          </p:cNvPr>
          <p:cNvSpPr>
            <a:spLocks xmlns:a="http://schemas.openxmlformats.org/drawingml/2006/main" noGrp="1"/>
          </p:cNvSpPr>
          <p:nvPr/>
        </p:nvSpPr>
        <p:spPr>
          <a:xfrm xmlns:a="http://schemas.openxmlformats.org/drawingml/2006/main">
            <a:off x="5143500" y="3848100"/>
            <a:ext cx="1733550" cy="11906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Anticipe l’erreur
récurrente et déplace
les trois quantiles</a:t>
            </a:r>
          </a:p>
        </p:txBody>
      </p:sp>
      <p:sp>
        <p:nvSpPr>
          <p:cNvPr id="16" name="Rectangle 15">
            <a:extLst xmlns:a="http://schemas.openxmlformats.org/drawingml/2006/main">
              <a:ext uri="{FF2B5EF4-FFF2-40B4-BE49-F238E27FC236}">
                <a16:creationId xmlns:a16="http://schemas.microsoft.com/office/drawing/2014/main" id="{876A89EC-F143-4CA4-B2E6-7BC7EA36E95F}"/>
              </a:ext>
            </a:extLst>
          </p:cNvPr>
          <p:cNvSpPr>
            <a:spLocks xmlns:a="http://schemas.openxmlformats.org/drawingml/2006/main" noGrp="1"/>
          </p:cNvSpPr>
          <p:nvPr/>
        </p:nvSpPr>
        <p:spPr>
          <a:xfrm xmlns:a="http://schemas.openxmlformats.org/drawingml/2006/main">
            <a:off x="7343775" y="2143125"/>
            <a:ext cx="17145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GEL</a:t>
            </a:r>
          </a:p>
        </p:txBody>
      </p:sp>
      <p:sp>
        <p:nvSpPr>
          <p:cNvPr id="17" name="node-3">
            <a:extLst xmlns:a="http://schemas.openxmlformats.org/drawingml/2006/main">
              <a:ext uri="{FF2B5EF4-FFF2-40B4-BE49-F238E27FC236}">
                <a16:creationId xmlns:a16="http://schemas.microsoft.com/office/drawing/2014/main" id="{F43E8C3C-E908-4138-A27B-54C640160517}"/>
              </a:ext>
            </a:extLst>
          </p:cNvPr>
          <p:cNvSpPr>
            <a:spLocks xmlns:a="http://schemas.openxmlformats.org/drawingml/2006/main" noGrp="1"/>
          </p:cNvSpPr>
          <p:nvPr/>
        </p:nvSpPr>
        <p:spPr>
          <a:xfrm xmlns:a="http://schemas.openxmlformats.org/drawingml/2006/main">
            <a:off x="7343775"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20DE633-E0B5-48E0-9EBA-4B54914012C9}"/>
              </a:ext>
            </a:extLst>
          </p:cNvPr>
          <p:cNvSpPr>
            <a:spLocks xmlns:a="http://schemas.openxmlformats.org/drawingml/2006/main" noGrp="1"/>
          </p:cNvSpPr>
          <p:nvPr/>
        </p:nvSpPr>
        <p:spPr>
          <a:xfrm xmlns:a="http://schemas.openxmlformats.org/drawingml/2006/main">
            <a:off x="7343775" y="3371850"/>
            <a:ext cx="18097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Contrôles</a:t>
            </a:r>
          </a:p>
        </p:txBody>
      </p:sp>
      <p:sp>
        <p:nvSpPr>
          <p:cNvPr id="19" name="Rectangle 18">
            <a:extLst xmlns:a="http://schemas.openxmlformats.org/drawingml/2006/main">
              <a:ext uri="{FF2B5EF4-FFF2-40B4-BE49-F238E27FC236}">
                <a16:creationId xmlns:a16="http://schemas.microsoft.com/office/drawing/2014/main" id="{7FC67745-7E43-49D8-893C-F0078532FBBF}"/>
              </a:ext>
            </a:extLst>
          </p:cNvPr>
          <p:cNvSpPr>
            <a:spLocks xmlns:a="http://schemas.openxmlformats.org/drawingml/2006/main" noGrp="1"/>
          </p:cNvSpPr>
          <p:nvPr/>
        </p:nvSpPr>
        <p:spPr>
          <a:xfrm xmlns:a="http://schemas.openxmlformats.org/drawingml/2006/main">
            <a:off x="7343775" y="3848100"/>
            <a:ext cx="1733550" cy="11906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24 </a:t>
            </a:r>
            <a:r>
              <a:t>heures</a:t>
            </a:r>
            <a:r>
              <a:t>
P10 ≤ P50 ≤ P90
Absence de </a:t>
            </a:r>
            <a:r>
              <a:t>fuite</a:t>
            </a:r>
            <a:r>
              <a:t> future</a:t>
            </a:r>
          </a:p>
        </p:txBody>
      </p:sp>
      <p:sp>
        <p:nvSpPr>
          <p:cNvPr id="20" name="Rectangle 19">
            <a:extLst xmlns:a="http://schemas.openxmlformats.org/drawingml/2006/main">
              <a:ext uri="{FF2B5EF4-FFF2-40B4-BE49-F238E27FC236}">
                <a16:creationId xmlns:a16="http://schemas.microsoft.com/office/drawing/2014/main" id="{91858A03-F067-4C37-822B-C016CA9D8D96}"/>
              </a:ext>
            </a:extLst>
          </p:cNvPr>
          <p:cNvSpPr>
            <a:spLocks xmlns:a="http://schemas.openxmlformats.org/drawingml/2006/main" noGrp="1"/>
          </p:cNvSpPr>
          <p:nvPr/>
        </p:nvSpPr>
        <p:spPr>
          <a:xfrm xmlns:a="http://schemas.openxmlformats.org/drawingml/2006/main">
            <a:off x="9544050" y="2143125"/>
            <a:ext cx="171450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APRÈS</a:t>
            </a:r>
          </a:p>
        </p:txBody>
      </p:sp>
      <p:sp>
        <p:nvSpPr>
          <p:cNvPr id="21" name="node-4">
            <a:extLst xmlns:a="http://schemas.openxmlformats.org/drawingml/2006/main">
              <a:ext uri="{FF2B5EF4-FFF2-40B4-BE49-F238E27FC236}">
                <a16:creationId xmlns:a16="http://schemas.microsoft.com/office/drawing/2014/main" id="{60212B1A-1073-4272-9F68-7D33A2CC238D}"/>
              </a:ext>
            </a:extLst>
          </p:cNvPr>
          <p:cNvSpPr>
            <a:spLocks xmlns:a="http://schemas.openxmlformats.org/drawingml/2006/main" noGrp="1"/>
          </p:cNvSpPr>
          <p:nvPr/>
        </p:nvSpPr>
        <p:spPr>
          <a:xfrm xmlns:a="http://schemas.openxmlformats.org/drawingml/2006/main">
            <a:off x="954405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98303BA9-BD25-4764-BF47-020EF1D1B383}"/>
              </a:ext>
            </a:extLst>
          </p:cNvPr>
          <p:cNvSpPr>
            <a:spLocks xmlns:a="http://schemas.openxmlformats.org/drawingml/2006/main" noGrp="1"/>
          </p:cNvSpPr>
          <p:nvPr/>
        </p:nvSpPr>
        <p:spPr>
          <a:xfrm xmlns:a="http://schemas.openxmlformats.org/drawingml/2006/main">
            <a:off x="9544050" y="3371850"/>
            <a:ext cx="18097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Évaluation</a:t>
            </a:r>
          </a:p>
        </p:txBody>
      </p:sp>
      <p:sp>
        <p:nvSpPr>
          <p:cNvPr id="23" name="Rectangle 22">
            <a:extLst xmlns:a="http://schemas.openxmlformats.org/drawingml/2006/main">
              <a:ext uri="{FF2B5EF4-FFF2-40B4-BE49-F238E27FC236}">
                <a16:creationId xmlns:a16="http://schemas.microsoft.com/office/drawing/2014/main" id="{FADC1D61-85F5-4FE5-BB9D-C4AE16BCAC6C}"/>
              </a:ext>
            </a:extLst>
          </p:cNvPr>
          <p:cNvSpPr>
            <a:spLocks xmlns:a="http://schemas.openxmlformats.org/drawingml/2006/main" noGrp="1"/>
          </p:cNvSpPr>
          <p:nvPr/>
        </p:nvSpPr>
        <p:spPr>
          <a:xfrm xmlns:a="http://schemas.openxmlformats.org/drawingml/2006/main">
            <a:off x="9544050" y="3848100"/>
            <a:ext cx="1733550" cy="11906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Prix réels, métriques
et comparaison à Storm
uniquement après coup</a:t>
            </a:r>
          </a:p>
        </p:txBody>
      </p:sp>
    </p:spTree>
    <p:extLst>
      <p:ext uri="{BB962C8B-B14F-4D97-AF65-F5344CB8AC3E}">
        <p14:creationId xmlns:p14="http://schemas.microsoft.com/office/powerpoint/2010/main" val="21192244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5FB4E6-77B9-44C2-A423-FA6CD477C642}"/>
              </a:ext>
            </a:extLst>
          </p:cNvPr>
          <p:cNvSpPr>
            <a:spLocks xmlns:a="http://schemas.openxmlformats.org/drawingml/2006/main" noGrp="1"/>
          </p:cNvSpPr>
          <p:nvPr/>
        </p:nvSpPr>
        <p:spPr>
          <a:xfrm xmlns:a="http://schemas.openxmlformats.org/drawingml/2006/main">
            <a:off x="390525" y="1047750"/>
            <a:ext cx="11401425"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75" b="0">
                <a:solidFill>
                  <a:srgbClr val="4D5158"/>
                </a:solidFill>
                <a:latin typeface="Helvetica Neue"/>
                <a:ea typeface="Helvetica Neue"/>
                <a:cs typeface="Helvetica Neue"/>
              </a:defRPr>
            </a:pPr>
            <a:r>
              <a:t>Chronos-2 </a:t>
            </a:r>
            <a:r>
              <a:t>construit</a:t>
            </a:r>
            <a:r>
              <a:t> la </a:t>
            </a:r>
            <a:r>
              <a:t>prévision</a:t>
            </a:r>
            <a:r>
              <a:t> de base ; le </a:t>
            </a:r>
            <a:r>
              <a:t>correcteur</a:t>
            </a:r>
            <a:r>
              <a:t> </a:t>
            </a:r>
            <a:r>
              <a:t>apprend</a:t>
            </a:r>
            <a:r>
              <a:t> </a:t>
            </a:r>
            <a:r>
              <a:t>quand</a:t>
            </a:r>
            <a:r>
              <a:t> </a:t>
            </a:r>
            <a:r>
              <a:t>cette</a:t>
            </a:r>
            <a:r>
              <a:t> base se trompe.</a:t>
            </a:r>
          </a:p>
        </p:txBody>
      </p:sp>
      <p:sp>
        <p:nvSpPr>
          <p:cNvPr id="3" name="chronos-card">
            <a:extLst xmlns:a="http://schemas.openxmlformats.org/drawingml/2006/main">
              <a:ext uri="{FF2B5EF4-FFF2-40B4-BE49-F238E27FC236}">
                <a16:creationId xmlns:a16="http://schemas.microsoft.com/office/drawing/2014/main" id="{771C84A8-3E39-4B61-81B5-E56E9B6623E3}"/>
              </a:ext>
            </a:extLst>
          </p:cNvPr>
          <p:cNvSpPr>
            <a:spLocks xmlns:a="http://schemas.openxmlformats.org/drawingml/2006/main" noGrp="1"/>
          </p:cNvSpPr>
          <p:nvPr/>
        </p:nvSpPr>
        <p:spPr>
          <a:xfrm xmlns:a="http://schemas.openxmlformats.org/drawingml/2006/main">
            <a:off x="390525" y="1724025"/>
            <a:ext cx="5534025" cy="410527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rrector-card">
            <a:extLst xmlns:a="http://schemas.openxmlformats.org/drawingml/2006/main">
              <a:ext uri="{FF2B5EF4-FFF2-40B4-BE49-F238E27FC236}">
                <a16:creationId xmlns:a16="http://schemas.microsoft.com/office/drawing/2014/main" id="{FDAC1C5A-6FE0-4230-9924-6388765D6478}"/>
              </a:ext>
            </a:extLst>
          </p:cNvPr>
          <p:cNvSpPr>
            <a:spLocks xmlns:a="http://schemas.openxmlformats.org/drawingml/2006/main" noGrp="1"/>
          </p:cNvSpPr>
          <p:nvPr/>
        </p:nvSpPr>
        <p:spPr>
          <a:xfrm xmlns:a="http://schemas.openxmlformats.org/drawingml/2006/main">
            <a:off x="6257925" y="1724025"/>
            <a:ext cx="5534025" cy="410527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tage-one">
            <a:extLst xmlns:a="http://schemas.openxmlformats.org/drawingml/2006/main">
              <a:ext uri="{FF2B5EF4-FFF2-40B4-BE49-F238E27FC236}">
                <a16:creationId xmlns:a16="http://schemas.microsoft.com/office/drawing/2014/main" id="{1AC672EE-A12B-4DEC-9EE3-A3F668C53005}"/>
              </a:ext>
            </a:extLst>
          </p:cNvPr>
          <p:cNvSpPr>
            <a:spLocks xmlns:a="http://schemas.openxmlformats.org/drawingml/2006/main" noGrp="1"/>
          </p:cNvSpPr>
          <p:nvPr/>
        </p:nvSpPr>
        <p:spPr>
          <a:xfrm xmlns:a="http://schemas.openxmlformats.org/drawingml/2006/main">
            <a:off x="685800" y="2009775"/>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143A6EC-D5F1-4805-B716-C9A71CEBBEEF}"/>
              </a:ext>
            </a:extLst>
          </p:cNvPr>
          <p:cNvSpPr>
            <a:spLocks xmlns:a="http://schemas.openxmlformats.org/drawingml/2006/main" noGrp="1"/>
          </p:cNvSpPr>
          <p:nvPr/>
        </p:nvSpPr>
        <p:spPr>
          <a:xfrm xmlns:a="http://schemas.openxmlformats.org/drawingml/2006/main">
            <a:off x="781050" y="2066925"/>
            <a:ext cx="1524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t>1</a:t>
            </a:r>
          </a:p>
        </p:txBody>
      </p:sp>
      <p:sp>
        <p:nvSpPr>
          <p:cNvPr id="7" name="Rectangle 6">
            <a:extLst xmlns:a="http://schemas.openxmlformats.org/drawingml/2006/main">
              <a:ext uri="{FF2B5EF4-FFF2-40B4-BE49-F238E27FC236}">
                <a16:creationId xmlns:a16="http://schemas.microsoft.com/office/drawing/2014/main" id="{30A83A88-CCE1-46AF-8AFB-7468C3D91FB1}"/>
              </a:ext>
            </a:extLst>
          </p:cNvPr>
          <p:cNvSpPr>
            <a:spLocks xmlns:a="http://schemas.openxmlformats.org/drawingml/2006/main" noGrp="1"/>
          </p:cNvSpPr>
          <p:nvPr/>
        </p:nvSpPr>
        <p:spPr>
          <a:xfrm xmlns:a="http://schemas.openxmlformats.org/drawingml/2006/main">
            <a:off x="1190625" y="1971675"/>
            <a:ext cx="381000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400" b="1">
                <a:solidFill>
                  <a:srgbClr val="000000"/>
                </a:solidFill>
                <a:latin typeface="Helvetica Neue"/>
                <a:ea typeface="Helvetica Neue"/>
                <a:cs typeface="Helvetica Neue"/>
              </a:defRPr>
            </a:pPr>
            <a:r>
              <a:t>Chronos-2</a:t>
            </a:r>
          </a:p>
        </p:txBody>
      </p:sp>
      <p:sp>
        <p:nvSpPr>
          <p:cNvPr id="8" name="Rectangle 7">
            <a:extLst xmlns:a="http://schemas.openxmlformats.org/drawingml/2006/main">
              <a:ext uri="{FF2B5EF4-FFF2-40B4-BE49-F238E27FC236}">
                <a16:creationId xmlns:a16="http://schemas.microsoft.com/office/drawing/2014/main" id="{8278DF05-50E5-43D6-BAED-56BA531FB5F8}"/>
              </a:ext>
            </a:extLst>
          </p:cNvPr>
          <p:cNvSpPr>
            <a:spLocks xmlns:a="http://schemas.openxmlformats.org/drawingml/2006/main" noGrp="1"/>
          </p:cNvSpPr>
          <p:nvPr/>
        </p:nvSpPr>
        <p:spPr>
          <a:xfrm xmlns:a="http://schemas.openxmlformats.org/drawingml/2006/main">
            <a:off x="685800" y="2581275"/>
            <a:ext cx="4762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t>Modèle pré-entraîné de séries temporelles</a:t>
            </a:r>
          </a:p>
        </p:txBody>
      </p:sp>
      <p:sp>
        <p:nvSpPr>
          <p:cNvPr id="9" name="Rectangle 8">
            <a:extLst xmlns:a="http://schemas.openxmlformats.org/drawingml/2006/main">
              <a:ext uri="{FF2B5EF4-FFF2-40B4-BE49-F238E27FC236}">
                <a16:creationId xmlns:a16="http://schemas.microsoft.com/office/drawing/2014/main" id="{7C1B3045-75AE-41A3-91B3-BC4894148697}"/>
              </a:ext>
            </a:extLst>
          </p:cNvPr>
          <p:cNvSpPr>
            <a:spLocks xmlns:a="http://schemas.openxmlformats.org/drawingml/2006/main" noGrp="1"/>
          </p:cNvSpPr>
          <p:nvPr/>
        </p:nvSpPr>
        <p:spPr>
          <a:xfrm xmlns:a="http://schemas.openxmlformats.org/drawingml/2006/main">
            <a:off x="685800" y="3086100"/>
            <a:ext cx="4714875" cy="1352550"/>
          </a:xfrm>
          <a:prstGeom xmlns:a="http://schemas.openxmlformats.org/drawingml/2006/main" prst="rect">
            <a:avLst/>
          </a:prstGeom>
        </p:spPr>
        <p:txBody>
          <a:bodyPr xmlns:a="http://schemas.openxmlformats.org/drawingml/2006/main" wrap="square" lIns="0" tIns="0" rIns="0" bIns="0" anchor="t">
            <a:normAutofit fontScale="92500" lnSpcReduction="10000"/>
          </a:bodyPr>
          <a:lstStyle xmlns:a="http://schemas.openxmlformats.org/drawingml/2006/main"/>
          <a:p xmlns:a="http://schemas.openxmlformats.org/drawingml/2006/main">
            <a:pPr algn="l">
              <a:buNone/>
              <a:defRPr sz="1425" b="0">
                <a:solidFill>
                  <a:srgbClr val="000000"/>
                </a:solidFill>
                <a:latin typeface="Helvetica Neue"/>
                <a:ea typeface="Helvetica Neue"/>
                <a:cs typeface="Helvetica Neue"/>
              </a:defRPr>
            </a:pPr>
            <a:r>
              <a:t>• </a:t>
            </a:r>
            <a:r>
              <a:t>Jusqu’à</a:t>
            </a:r>
            <a:r>
              <a:t> 2 048 </a:t>
            </a:r>
            <a:r>
              <a:t>heures</a:t>
            </a:r>
            <a:r>
              <a:t> de prix </a:t>
            </a:r>
            <a:r>
              <a:t>récent</a:t>
            </a:r>
            <a:r>
              <a:t>
• </a:t>
            </a:r>
            <a:r>
              <a:t>le calendrier : heure, jour de la semaine, week-end et jours fériés ;</a:t>
            </a:r>
          </a:p>
          <a:p xmlns:a="http://schemas.openxmlformats.org/drawingml/2006/main">
            <a:pPr>
              <a:buNone/>
              <a:defRPr sz="1425" b="0">
                <a:solidFill>
                  <a:srgbClr val="000000"/>
                </a:solidFill>
                <a:latin typeface="Helvetica Neue"/>
                <a:ea typeface="Helvetica Neue"/>
                <a:cs typeface="Helvetica Neue"/>
              </a:defRPr>
            </a:pPr>
            <a:r>
              <a:t>• </a:t>
            </a:r>
            <a:r>
              <a:t>Les prévisions de charge résiduelle des cinq pays, déjà connues pour le lendemain.</a:t>
            </a:r>
          </a:p>
          <a:p xmlns:a="http://schemas.openxmlformats.org/drawingml/2006/main">
            <a:pPr algn="l">
              <a:buNone/>
              <a:defRPr sz="1425" b="0">
                <a:solidFill>
                  <a:srgbClr val="000000"/>
                </a:solidFill>
                <a:latin typeface="Helvetica Neue"/>
                <a:ea typeface="Helvetica Neue"/>
                <a:cs typeface="Helvetica Neue"/>
              </a:defRPr>
            </a:pPr>
            <a:r>
              <a:t>
• </a:t>
            </a:r>
            <a:r>
              <a:t>Produit</a:t>
            </a:r>
            <a:r>
              <a:t> </a:t>
            </a:r>
            <a:r>
              <a:t>une</a:t>
            </a:r>
            <a:r>
              <a:t> distribution, pas un point unique</a:t>
            </a:r>
          </a:p>
        </p:txBody>
      </p:sp>
      <p:cxnSp>
        <p:nvCxnSpPr>
          <p:cNvPr id="45" name="quantile-rule"/>
          <p:cNvCxnSpPr/>
          <p:nvPr/>
        </p:nvCxnSpPr>
        <p:spPr>
          <a:xfrm xmlns:a="http://schemas.openxmlformats.org/drawingml/2006/main">
            <a:off x="685800" y="4686300"/>
            <a:ext cx="4705350" cy="286"/>
          </a:xfrm>
          <a:prstGeom xmlns:a="http://schemas.openxmlformats.org/drawingml/2006/main" prst="straightConnector1">
            <a:avLst/>
          </a:prstGeom>
          <a:ln xmlns:a="http://schemas.openxmlformats.org/drawingml/2006/main" w="9525">
            <a:solidFill>
              <a:srgbClr val="B8BCC4"/>
            </a:solidFill>
            <a:prstDash val="solid"/>
          </a:ln>
        </p:spPr>
      </p:cxnSp>
      <p:sp>
        <p:nvSpPr>
          <p:cNvPr id="11" name="Rectangle 10">
            <a:extLst xmlns:a="http://schemas.openxmlformats.org/drawingml/2006/main">
              <a:ext uri="{FF2B5EF4-FFF2-40B4-BE49-F238E27FC236}">
                <a16:creationId xmlns:a16="http://schemas.microsoft.com/office/drawing/2014/main" id="{71372222-2CE9-4EA9-B32C-1E5CEB651B43}"/>
              </a:ext>
            </a:extLst>
          </p:cNvPr>
          <p:cNvSpPr>
            <a:spLocks xmlns:a="http://schemas.openxmlformats.org/drawingml/2006/main" noGrp="1"/>
          </p:cNvSpPr>
          <p:nvPr/>
        </p:nvSpPr>
        <p:spPr>
          <a:xfrm xmlns:a="http://schemas.openxmlformats.org/drawingml/2006/main">
            <a:off x="742950" y="4943475"/>
            <a:ext cx="7429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479AC0"/>
                </a:solidFill>
                <a:latin typeface="Helvetica Neue"/>
                <a:ea typeface="Helvetica Neue"/>
                <a:cs typeface="Helvetica Neue"/>
              </a:defRPr>
            </a:pPr>
            <a:r>
              <a:t>P10</a:t>
            </a:r>
          </a:p>
        </p:txBody>
      </p:sp>
      <p:sp>
        <p:nvSpPr>
          <p:cNvPr id="12" name="Rectangle 11">
            <a:extLst xmlns:a="http://schemas.openxmlformats.org/drawingml/2006/main">
              <a:ext uri="{FF2B5EF4-FFF2-40B4-BE49-F238E27FC236}">
                <a16:creationId xmlns:a16="http://schemas.microsoft.com/office/drawing/2014/main" id="{78DA79E1-8A13-49A0-8D0F-423E70350528}"/>
              </a:ext>
            </a:extLst>
          </p:cNvPr>
          <p:cNvSpPr>
            <a:spLocks xmlns:a="http://schemas.openxmlformats.org/drawingml/2006/main" noGrp="1"/>
          </p:cNvSpPr>
          <p:nvPr/>
        </p:nvSpPr>
        <p:spPr>
          <a:xfrm xmlns:a="http://schemas.openxmlformats.org/drawingml/2006/main">
            <a:off x="2428875" y="4943475"/>
            <a:ext cx="7429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t>P50</a:t>
            </a:r>
          </a:p>
        </p:txBody>
      </p:sp>
      <p:sp>
        <p:nvSpPr>
          <p:cNvPr id="13" name="Rectangle 12">
            <a:extLst xmlns:a="http://schemas.openxmlformats.org/drawingml/2006/main">
              <a:ext uri="{FF2B5EF4-FFF2-40B4-BE49-F238E27FC236}">
                <a16:creationId xmlns:a16="http://schemas.microsoft.com/office/drawing/2014/main" id="{A8B8D01C-C14C-4C35-9CD1-AC1E9478E2AD}"/>
              </a:ext>
            </a:extLst>
          </p:cNvPr>
          <p:cNvSpPr>
            <a:spLocks xmlns:a="http://schemas.openxmlformats.org/drawingml/2006/main" noGrp="1"/>
          </p:cNvSpPr>
          <p:nvPr/>
        </p:nvSpPr>
        <p:spPr>
          <a:xfrm xmlns:a="http://schemas.openxmlformats.org/drawingml/2006/main">
            <a:off x="4114800" y="4943475"/>
            <a:ext cx="7429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479AC0"/>
                </a:solidFill>
                <a:latin typeface="Helvetica Neue"/>
                <a:ea typeface="Helvetica Neue"/>
                <a:cs typeface="Helvetica Neue"/>
              </a:defRPr>
            </a:pPr>
            <a:r>
              <a:t>P90</a:t>
            </a:r>
          </a:p>
        </p:txBody>
      </p:sp>
      <p:sp>
        <p:nvSpPr>
          <p:cNvPr id="14" name="Rectangle 13">
            <a:extLst xmlns:a="http://schemas.openxmlformats.org/drawingml/2006/main">
              <a:ext uri="{FF2B5EF4-FFF2-40B4-BE49-F238E27FC236}">
                <a16:creationId xmlns:a16="http://schemas.microsoft.com/office/drawing/2014/main" id="{46DD204E-DCC7-4BC6-B289-01C0467ED531}"/>
              </a:ext>
            </a:extLst>
          </p:cNvPr>
          <p:cNvSpPr>
            <a:spLocks xmlns:a="http://schemas.openxmlformats.org/drawingml/2006/main" noGrp="1"/>
          </p:cNvSpPr>
          <p:nvPr/>
        </p:nvSpPr>
        <p:spPr>
          <a:xfrm xmlns:a="http://schemas.openxmlformats.org/drawingml/2006/main">
            <a:off x="742950" y="5248275"/>
            <a:ext cx="1047750" cy="2381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5585E"/>
                </a:solidFill>
                <a:latin typeface="Helvetica Neue"/>
                <a:ea typeface="Helvetica Neue"/>
                <a:cs typeface="Helvetica Neue"/>
              </a:defRPr>
            </a:pPr>
            <a:r>
              <a:t>scénario bas</a:t>
            </a:r>
          </a:p>
        </p:txBody>
      </p:sp>
      <p:sp>
        <p:nvSpPr>
          <p:cNvPr id="15" name="Rectangle 14">
            <a:extLst xmlns:a="http://schemas.openxmlformats.org/drawingml/2006/main">
              <a:ext uri="{FF2B5EF4-FFF2-40B4-BE49-F238E27FC236}">
                <a16:creationId xmlns:a16="http://schemas.microsoft.com/office/drawing/2014/main" id="{A7E7DF7A-EBC5-4FC1-B583-A955EB9F585A}"/>
              </a:ext>
            </a:extLst>
          </p:cNvPr>
          <p:cNvSpPr>
            <a:spLocks xmlns:a="http://schemas.openxmlformats.org/drawingml/2006/main" noGrp="1"/>
          </p:cNvSpPr>
          <p:nvPr/>
        </p:nvSpPr>
        <p:spPr>
          <a:xfrm xmlns:a="http://schemas.openxmlformats.org/drawingml/2006/main">
            <a:off x="2428875" y="5248275"/>
            <a:ext cx="1047750" cy="2381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5585E"/>
                </a:solidFill>
                <a:latin typeface="Helvetica Neue"/>
                <a:ea typeface="Helvetica Neue"/>
                <a:cs typeface="Helvetica Neue"/>
              </a:defRPr>
            </a:pPr>
            <a:r>
              <a:t>central</a:t>
            </a:r>
          </a:p>
        </p:txBody>
      </p:sp>
      <p:sp>
        <p:nvSpPr>
          <p:cNvPr id="16" name="Rectangle 15">
            <a:extLst xmlns:a="http://schemas.openxmlformats.org/drawingml/2006/main">
              <a:ext uri="{FF2B5EF4-FFF2-40B4-BE49-F238E27FC236}">
                <a16:creationId xmlns:a16="http://schemas.microsoft.com/office/drawing/2014/main" id="{54AB16CA-53CB-42B4-B41A-E607FEFC2FB0}"/>
              </a:ext>
            </a:extLst>
          </p:cNvPr>
          <p:cNvSpPr>
            <a:spLocks xmlns:a="http://schemas.openxmlformats.org/drawingml/2006/main" noGrp="1"/>
          </p:cNvSpPr>
          <p:nvPr/>
        </p:nvSpPr>
        <p:spPr>
          <a:xfrm xmlns:a="http://schemas.openxmlformats.org/drawingml/2006/main">
            <a:off x="4114800" y="5248275"/>
            <a:ext cx="1143000" cy="2381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5585E"/>
                </a:solidFill>
                <a:latin typeface="Helvetica Neue"/>
                <a:ea typeface="Helvetica Neue"/>
                <a:cs typeface="Helvetica Neue"/>
              </a:defRPr>
            </a:pPr>
            <a:r>
              <a:t>scénario haut</a:t>
            </a:r>
          </a:p>
        </p:txBody>
      </p:sp>
      <p:sp>
        <p:nvSpPr>
          <p:cNvPr id="17" name="stage-two">
            <a:extLst xmlns:a="http://schemas.openxmlformats.org/drawingml/2006/main">
              <a:ext uri="{FF2B5EF4-FFF2-40B4-BE49-F238E27FC236}">
                <a16:creationId xmlns:a16="http://schemas.microsoft.com/office/drawing/2014/main" id="{51F65ACF-45F4-415D-8801-CCA738B9BAA5}"/>
              </a:ext>
            </a:extLst>
          </p:cNvPr>
          <p:cNvSpPr>
            <a:spLocks xmlns:a="http://schemas.openxmlformats.org/drawingml/2006/main" noGrp="1"/>
          </p:cNvSpPr>
          <p:nvPr/>
        </p:nvSpPr>
        <p:spPr>
          <a:xfrm xmlns:a="http://schemas.openxmlformats.org/drawingml/2006/main">
            <a:off x="6553200" y="2009775"/>
            <a:ext cx="342900" cy="3429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C8C42936-13D6-4489-9F21-2D6BC06FCC09}"/>
              </a:ext>
            </a:extLst>
          </p:cNvPr>
          <p:cNvSpPr>
            <a:spLocks xmlns:a="http://schemas.openxmlformats.org/drawingml/2006/main" noGrp="1"/>
          </p:cNvSpPr>
          <p:nvPr/>
        </p:nvSpPr>
        <p:spPr>
          <a:xfrm xmlns:a="http://schemas.openxmlformats.org/drawingml/2006/main">
            <a:off x="6648450" y="2066925"/>
            <a:ext cx="1524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75" b="1">
                <a:solidFill>
                  <a:srgbClr val="000000"/>
                </a:solidFill>
                <a:latin typeface="Helvetica Neue"/>
                <a:ea typeface="Helvetica Neue"/>
                <a:cs typeface="Helvetica Neue"/>
              </a:defRPr>
            </a:pPr>
            <a:r>
              <a:t>2</a:t>
            </a:r>
          </a:p>
        </p:txBody>
      </p:sp>
      <p:sp>
        <p:nvSpPr>
          <p:cNvPr id="19" name="Rectangle 18">
            <a:extLst xmlns:a="http://schemas.openxmlformats.org/drawingml/2006/main">
              <a:ext uri="{FF2B5EF4-FFF2-40B4-BE49-F238E27FC236}">
                <a16:creationId xmlns:a16="http://schemas.microsoft.com/office/drawing/2014/main" id="{8CA35411-3F66-4C6B-B6FD-55C7AF430DC5}"/>
              </a:ext>
            </a:extLst>
          </p:cNvPr>
          <p:cNvSpPr>
            <a:spLocks xmlns:a="http://schemas.openxmlformats.org/drawingml/2006/main" noGrp="1"/>
          </p:cNvSpPr>
          <p:nvPr/>
        </p:nvSpPr>
        <p:spPr>
          <a:xfrm xmlns:a="http://schemas.openxmlformats.org/drawingml/2006/main">
            <a:off x="7058025" y="1971675"/>
            <a:ext cx="419100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400" b="1">
                <a:solidFill>
                  <a:srgbClr val="000000"/>
                </a:solidFill>
                <a:latin typeface="Helvetica Neue"/>
                <a:ea typeface="Helvetica Neue"/>
                <a:cs typeface="Helvetica Neue"/>
              </a:defRPr>
            </a:pPr>
            <a:r>
              <a:t>Correcteur résiduel</a:t>
            </a:r>
          </a:p>
        </p:txBody>
      </p:sp>
      <p:sp>
        <p:nvSpPr>
          <p:cNvPr id="20" name="Rectangle 19">
            <a:extLst xmlns:a="http://schemas.openxmlformats.org/drawingml/2006/main">
              <a:ext uri="{FF2B5EF4-FFF2-40B4-BE49-F238E27FC236}">
                <a16:creationId xmlns:a16="http://schemas.microsoft.com/office/drawing/2014/main" id="{6F0985D4-24B3-4B63-B434-730073134A8A}"/>
              </a:ext>
            </a:extLst>
          </p:cNvPr>
          <p:cNvSpPr>
            <a:spLocks xmlns:a="http://schemas.openxmlformats.org/drawingml/2006/main" noGrp="1"/>
          </p:cNvSpPr>
          <p:nvPr/>
        </p:nvSpPr>
        <p:spPr>
          <a:xfrm xmlns:a="http://schemas.openxmlformats.org/drawingml/2006/main">
            <a:off x="6553200" y="2581275"/>
            <a:ext cx="4762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t>Cible : prix réel − P50 Chronos-2</a:t>
            </a:r>
          </a:p>
        </p:txBody>
      </p:sp>
      <p:sp>
        <p:nvSpPr>
          <p:cNvPr id="21" name="Rectangle 20">
            <a:extLst xmlns:a="http://schemas.openxmlformats.org/drawingml/2006/main">
              <a:ext uri="{FF2B5EF4-FFF2-40B4-BE49-F238E27FC236}">
                <a16:creationId xmlns:a16="http://schemas.microsoft.com/office/drawing/2014/main" id="{5FD6D32F-D8B1-403D-8C5C-0A064D7F99DD}"/>
              </a:ext>
            </a:extLst>
          </p:cNvPr>
          <p:cNvSpPr>
            <a:spLocks xmlns:a="http://schemas.openxmlformats.org/drawingml/2006/main" noGrp="1"/>
          </p:cNvSpPr>
          <p:nvPr/>
        </p:nvSpPr>
        <p:spPr>
          <a:xfrm xmlns:a="http://schemas.openxmlformats.org/drawingml/2006/main">
            <a:off x="6553200" y="3048000"/>
            <a:ext cx="4762500" cy="800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0">
                <a:solidFill>
                  <a:srgbClr val="000000"/>
                </a:solidFill>
                <a:latin typeface="Helvetica Neue"/>
                <a:ea typeface="Helvetica Neue"/>
                <a:cs typeface="Helvetica Neue"/>
              </a:defRPr>
            </a:pPr>
            <a:r>
              <a:t>CatBoost et HistGradientBoosting ajoutent des arbres successifs : chaque arbre corrige une partie de l’erreur laissée par les précédents.</a:t>
            </a:r>
          </a:p>
        </p:txBody>
      </p:sp>
      <p:sp>
        <p:nvSpPr>
          <p:cNvPr id="22" name="blend">
            <a:extLst xmlns:a="http://schemas.openxmlformats.org/drawingml/2006/main">
              <a:ext uri="{FF2B5EF4-FFF2-40B4-BE49-F238E27FC236}">
                <a16:creationId xmlns:a16="http://schemas.microsoft.com/office/drawing/2014/main" id="{85CD00FF-1A4F-4B14-859D-2F357EC310D8}"/>
              </a:ext>
            </a:extLst>
          </p:cNvPr>
          <p:cNvSpPr>
            <a:spLocks xmlns:a="http://schemas.openxmlformats.org/drawingml/2006/main" noGrp="1"/>
          </p:cNvSpPr>
          <p:nvPr/>
        </p:nvSpPr>
        <p:spPr>
          <a:xfrm xmlns:a="http://schemas.openxmlformats.org/drawingml/2006/main">
            <a:off x="6553200" y="4029075"/>
            <a:ext cx="47625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7AE13508-A8E7-438E-B246-517CBBFD2115}"/>
              </a:ext>
            </a:extLst>
          </p:cNvPr>
          <p:cNvSpPr>
            <a:spLocks xmlns:a="http://schemas.openxmlformats.org/drawingml/2006/main" noGrp="1"/>
          </p:cNvSpPr>
          <p:nvPr/>
        </p:nvSpPr>
        <p:spPr>
          <a:xfrm xmlns:a="http://schemas.openxmlformats.org/drawingml/2006/main">
            <a:off x="6762750" y="4200525"/>
            <a:ext cx="4352925" cy="23812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0000"/>
                </a:solidFill>
                <a:latin typeface="Helvetica Neue"/>
                <a:ea typeface="Helvetica Neue"/>
                <a:cs typeface="Helvetica Neue"/>
              </a:defRPr>
            </a:pPr>
            <a:r>
              <a:t>CatBoost  50 %   +   HistGradientBoosting  50 %</a:t>
            </a:r>
          </a:p>
        </p:txBody>
      </p:sp>
      <p:sp>
        <p:nvSpPr>
          <p:cNvPr id="25" name="Rectangle 24">
            <a:extLst xmlns:a="http://schemas.openxmlformats.org/drawingml/2006/main">
              <a:ext uri="{FF2B5EF4-FFF2-40B4-BE49-F238E27FC236}">
                <a16:creationId xmlns:a16="http://schemas.microsoft.com/office/drawing/2014/main" id="{54B5104C-6075-4DB5-8C8D-77EE47170B7C}"/>
              </a:ext>
            </a:extLst>
          </p:cNvPr>
          <p:cNvSpPr>
            <a:spLocks xmlns:a="http://schemas.openxmlformats.org/drawingml/2006/main" noGrp="1"/>
          </p:cNvSpPr>
          <p:nvPr/>
        </p:nvSpPr>
        <p:spPr>
          <a:xfrm xmlns:a="http://schemas.openxmlformats.org/drawingml/2006/main">
            <a:off x="6553200" y="5372100"/>
            <a:ext cx="476250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t>Exemple   150 + 8 = 158 €/MWh</a:t>
            </a:r>
          </a:p>
        </p:txBody>
      </p:sp>
    </p:spTree>
    <p:extLst>
      <p:ext uri="{BB962C8B-B14F-4D97-AF65-F5344CB8AC3E}">
        <p14:creationId xmlns:p14="http://schemas.microsoft.com/office/powerpoint/2010/main" val="1814664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t>Histo</a:t>
            </a:r>
            <a:endParaRPr/>
          </a:p>
          <a:p xmlns:a="http://schemas.openxmlformats.org/drawingml/2006/main">
            <a:pPr algn="l">
              <a:buNone/>
              <a:defRPr sz="2925" b="1">
                <a:solidFill>
                  <a:srgbClr val="000000"/>
                </a:solidFill>
                <a:latin typeface="Helvetica Neue"/>
                <a:ea typeface="Helvetica Neue"/>
                <a:cs typeface="Helvetica Neue"/>
              </a:defRPr>
            </a:pPr>
            <a:endParaRPr/>
          </a:p>
        </p:txBody>
      </p:sp>
      <p:sp>
        <p:nvSpPr>
          <p:cNvPr id="3" name="Rectangle 2">
            <a:extLst xmlns:a="http://schemas.openxmlformats.org/drawingml/2006/main">
              <a:ext uri="{FF2B5EF4-FFF2-40B4-BE49-F238E27FC236}">
                <a16:creationId xmlns:a16="http://schemas.microsoft.com/office/drawing/2014/main" id="{15B859A4-4F28-4B85-9E43-FA903256B8C0}"/>
              </a:ext>
            </a:extLst>
          </p:cNvPr>
          <p:cNvSpPr>
            <a:spLocks xmlns:a="http://schemas.openxmlformats.org/drawingml/2006/main" noGrp="1"/>
          </p:cNvSpPr>
          <p:nvPr/>
        </p:nvSpPr>
        <p:spPr>
          <a:xfrm xmlns:a="http://schemas.openxmlformats.org/drawingml/2006/main">
            <a:off x="390525" y="1752600"/>
            <a:ext cx="476250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MAE </a:t>
            </a:r>
            <a:endParaRPr/>
          </a:p>
        </p:txBody>
      </p:sp>
      <p:sp>
        <p:nvSpPr>
          <p:cNvPr id="4" name="Rectangle 3">
            <a:extLst xmlns:a="http://schemas.openxmlformats.org/drawingml/2006/main">
              <a:ext uri="{FF2B5EF4-FFF2-40B4-BE49-F238E27FC236}">
                <a16:creationId xmlns:a16="http://schemas.microsoft.com/office/drawing/2014/main" id="{6B322D0E-23BD-45CA-8549-642802CE4A82}"/>
              </a:ext>
            </a:extLst>
          </p:cNvPr>
          <p:cNvSpPr>
            <a:spLocks xmlns:a="http://schemas.openxmlformats.org/drawingml/2006/main" noGrp="1"/>
          </p:cNvSpPr>
          <p:nvPr/>
        </p:nvSpPr>
        <p:spPr>
          <a:xfrm xmlns:a="http://schemas.openxmlformats.org/drawingml/2006/main">
            <a:off x="390525" y="23526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Chronos-2</a:t>
            </a:r>
          </a:p>
        </p:txBody>
      </p:sp>
      <p:sp>
        <p:nvSpPr>
          <p:cNvPr id="5" name="bar-chronos">
            <a:extLst xmlns:a="http://schemas.openxmlformats.org/drawingml/2006/main">
              <a:ext uri="{FF2B5EF4-FFF2-40B4-BE49-F238E27FC236}">
                <a16:creationId xmlns:a16="http://schemas.microsoft.com/office/drawing/2014/main" id="{841C0D73-48ED-4652-908F-7A951BA41591}"/>
              </a:ext>
            </a:extLst>
          </p:cNvPr>
          <p:cNvSpPr>
            <a:spLocks xmlns:a="http://schemas.openxmlformats.org/drawingml/2006/main" noGrp="1"/>
          </p:cNvSpPr>
          <p:nvPr/>
        </p:nvSpPr>
        <p:spPr>
          <a:xfrm xmlns:a="http://schemas.openxmlformats.org/drawingml/2006/main">
            <a:off x="2095500" y="2333625"/>
            <a:ext cx="4095750" cy="304800"/>
          </a:xfrm>
          <a:prstGeom xmlns:a="http://schemas.openxmlformats.org/drawingml/2006/main" prst="roundRect">
            <a:avLst>
              <a:gd name="adj" fmla="val 25000"/>
            </a:avLst>
          </a:prstGeom>
          <a:solidFill xmlns:a="http://schemas.openxmlformats.org/drawingml/2006/main">
            <a:srgbClr val="D7D9DE"/>
          </a:solidFill>
          <a:ln xmlns:a="http://schemas.openxmlformats.org/drawingml/2006/main" w="0">
            <a:solidFill>
              <a:srgbClr val="D7D9DE"/>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DE9C04F3-8B6B-4ECA-818B-C938B153C19E}"/>
              </a:ext>
            </a:extLst>
          </p:cNvPr>
          <p:cNvSpPr>
            <a:spLocks xmlns:a="http://schemas.openxmlformats.org/drawingml/2006/main" noGrp="1"/>
          </p:cNvSpPr>
          <p:nvPr/>
        </p:nvSpPr>
        <p:spPr>
          <a:xfrm xmlns:a="http://schemas.openxmlformats.org/drawingml/2006/main">
            <a:off x="6334125" y="23241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000000"/>
                </a:solidFill>
                <a:latin typeface="Helvetica Neue"/>
                <a:ea typeface="Helvetica Neue"/>
                <a:cs typeface="Helvetica Neue"/>
              </a:defRPr>
            </a:pPr>
            <a:r>
              <a:t>13,11</a:t>
            </a:r>
          </a:p>
        </p:txBody>
      </p:sp>
      <p:sp>
        <p:nvSpPr>
          <p:cNvPr id="7" name="Rectangle 6">
            <a:extLst xmlns:a="http://schemas.openxmlformats.org/drawingml/2006/main">
              <a:ext uri="{FF2B5EF4-FFF2-40B4-BE49-F238E27FC236}">
                <a16:creationId xmlns:a16="http://schemas.microsoft.com/office/drawing/2014/main" id="{9D65842B-5841-482A-A1A4-4082AFB43137}"/>
              </a:ext>
            </a:extLst>
          </p:cNvPr>
          <p:cNvSpPr>
            <a:spLocks xmlns:a="http://schemas.openxmlformats.org/drawingml/2006/main" noGrp="1"/>
          </p:cNvSpPr>
          <p:nvPr/>
        </p:nvSpPr>
        <p:spPr>
          <a:xfrm xmlns:a="http://schemas.openxmlformats.org/drawingml/2006/main">
            <a:off x="390525" y="30384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t>Corrigé</a:t>
            </a:r>
          </a:p>
        </p:txBody>
      </p:sp>
      <p:sp>
        <p:nvSpPr>
          <p:cNvPr id="8" name="bar-corrected">
            <a:extLst xmlns:a="http://schemas.openxmlformats.org/drawingml/2006/main">
              <a:ext uri="{FF2B5EF4-FFF2-40B4-BE49-F238E27FC236}">
                <a16:creationId xmlns:a16="http://schemas.microsoft.com/office/drawing/2014/main" id="{F6C80582-5835-48A4-A52D-E131A414DC9D}"/>
              </a:ext>
            </a:extLst>
          </p:cNvPr>
          <p:cNvSpPr>
            <a:spLocks xmlns:a="http://schemas.openxmlformats.org/drawingml/2006/main" noGrp="1"/>
          </p:cNvSpPr>
          <p:nvPr/>
        </p:nvSpPr>
        <p:spPr>
          <a:xfrm xmlns:a="http://schemas.openxmlformats.org/drawingml/2006/main">
            <a:off x="2095500" y="3019425"/>
            <a:ext cx="3886200" cy="304800"/>
          </a:xfrm>
          <a:prstGeom xmlns:a="http://schemas.openxmlformats.org/drawingml/2006/main" prst="roundRect">
            <a:avLst>
              <a:gd name="adj" fmla="val 25000"/>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66A6BAE2-8B05-484D-AA49-220ADEF378C4}"/>
              </a:ext>
            </a:extLst>
          </p:cNvPr>
          <p:cNvSpPr>
            <a:spLocks xmlns:a="http://schemas.openxmlformats.org/drawingml/2006/main" noGrp="1"/>
          </p:cNvSpPr>
          <p:nvPr/>
        </p:nvSpPr>
        <p:spPr>
          <a:xfrm xmlns:a="http://schemas.openxmlformats.org/drawingml/2006/main">
            <a:off x="6334125" y="30099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3D8DFF"/>
                </a:solidFill>
                <a:latin typeface="Helvetica Neue"/>
                <a:ea typeface="Helvetica Neue"/>
                <a:cs typeface="Helvetica Neue"/>
              </a:defRPr>
            </a:pPr>
            <a:r>
              <a:t>12,44</a:t>
            </a:r>
          </a:p>
        </p:txBody>
      </p:sp>
      <p:sp>
        <p:nvSpPr>
          <p:cNvPr id="10" name="Rectangle 9">
            <a:extLst xmlns:a="http://schemas.openxmlformats.org/drawingml/2006/main">
              <a:ext uri="{FF2B5EF4-FFF2-40B4-BE49-F238E27FC236}">
                <a16:creationId xmlns:a16="http://schemas.microsoft.com/office/drawing/2014/main" id="{6224B779-09E1-4F50-83D5-E3BCF3EB9D6C}"/>
              </a:ext>
            </a:extLst>
          </p:cNvPr>
          <p:cNvSpPr>
            <a:spLocks xmlns:a="http://schemas.openxmlformats.org/drawingml/2006/main" noGrp="1"/>
          </p:cNvSpPr>
          <p:nvPr/>
        </p:nvSpPr>
        <p:spPr>
          <a:xfrm xmlns:a="http://schemas.openxmlformats.org/drawingml/2006/main">
            <a:off x="390525" y="37242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Storm</a:t>
            </a:r>
          </a:p>
        </p:txBody>
      </p:sp>
      <p:sp>
        <p:nvSpPr>
          <p:cNvPr id="11" name="bar-storm">
            <a:extLst xmlns:a="http://schemas.openxmlformats.org/drawingml/2006/main">
              <a:ext uri="{FF2B5EF4-FFF2-40B4-BE49-F238E27FC236}">
                <a16:creationId xmlns:a16="http://schemas.microsoft.com/office/drawing/2014/main" id="{BAB337B3-C39E-4A4D-B98E-521CF4DD4A2B}"/>
              </a:ext>
            </a:extLst>
          </p:cNvPr>
          <p:cNvSpPr>
            <a:spLocks xmlns:a="http://schemas.openxmlformats.org/drawingml/2006/main" noGrp="1"/>
          </p:cNvSpPr>
          <p:nvPr/>
        </p:nvSpPr>
        <p:spPr>
          <a:xfrm xmlns:a="http://schemas.openxmlformats.org/drawingml/2006/main">
            <a:off x="2095500" y="3705225"/>
            <a:ext cx="3648075" cy="304800"/>
          </a:xfrm>
          <a:prstGeom xmlns:a="http://schemas.openxmlformats.org/drawingml/2006/main" prst="roundRect">
            <a:avLst>
              <a:gd name="adj" fmla="val 25000"/>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049829AD-F69D-48D7-AB21-14A46D932FCB}"/>
              </a:ext>
            </a:extLst>
          </p:cNvPr>
          <p:cNvSpPr>
            <a:spLocks xmlns:a="http://schemas.openxmlformats.org/drawingml/2006/main" noGrp="1"/>
          </p:cNvSpPr>
          <p:nvPr/>
        </p:nvSpPr>
        <p:spPr>
          <a:xfrm xmlns:a="http://schemas.openxmlformats.org/drawingml/2006/main">
            <a:off x="6334125" y="36957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000000"/>
                </a:solidFill>
                <a:latin typeface="Helvetica Neue"/>
                <a:ea typeface="Helvetica Neue"/>
                <a:cs typeface="Helvetica Neue"/>
              </a:defRPr>
            </a:pPr>
            <a:r>
              <a:t>11,67</a:t>
            </a:r>
          </a:p>
        </p:txBody>
      </p:sp>
      <p:cxnSp>
        <p:nvCxnSpPr>
          <p:cNvPr id="47" name="evidence-separator"/>
          <p:cNvCxnSpPr/>
          <p:nvPr/>
        </p:nvCxnSpPr>
        <p:spPr>
          <a:xfrm xmlns:a="http://schemas.openxmlformats.org/drawingml/2006/main">
            <a:off x="7524750" y="1752600"/>
            <a:ext cx="286" cy="3057525"/>
          </a:xfrm>
          <a:prstGeom xmlns:a="http://schemas.openxmlformats.org/drawingml/2006/main" prst="straightConnector1">
            <a:avLst/>
          </a:prstGeom>
          <a:ln xmlns:a="http://schemas.openxmlformats.org/drawingml/2006/main" w="9525">
            <a:solidFill>
              <a:srgbClr val="B8BCC4"/>
            </a:solidFill>
            <a:prstDash val="solid"/>
          </a:ln>
        </p:spPr>
      </p:cxnSp>
      <p:sp>
        <p:nvSpPr>
          <p:cNvPr id="14" name="Rectangle 13">
            <a:extLst xmlns:a="http://schemas.openxmlformats.org/drawingml/2006/main">
              <a:ext uri="{FF2B5EF4-FFF2-40B4-BE49-F238E27FC236}">
                <a16:creationId xmlns:a16="http://schemas.microsoft.com/office/drawing/2014/main" id="{7171AF29-7ACF-40D2-A0DE-ABCF1B8F1DAB}"/>
              </a:ext>
            </a:extLst>
          </p:cNvPr>
          <p:cNvSpPr>
            <a:spLocks xmlns:a="http://schemas.openxmlformats.org/drawingml/2006/main" noGrp="1"/>
          </p:cNvSpPr>
          <p:nvPr/>
        </p:nvSpPr>
        <p:spPr>
          <a:xfrm xmlns:a="http://schemas.openxmlformats.org/drawingml/2006/main">
            <a:off x="8010525" y="2000250"/>
            <a:ext cx="3381375" cy="781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4350" b="1">
                <a:solidFill>
                  <a:srgbClr val="3D8DFF"/>
                </a:solidFill>
                <a:latin typeface="Helvetica Neue"/>
                <a:ea typeface="Helvetica Neue"/>
                <a:cs typeface="Helvetica Neue"/>
              </a:defRPr>
            </a:pPr>
            <a:r>
              <a:t>−5,1 %</a:t>
            </a:r>
          </a:p>
        </p:txBody>
      </p:sp>
      <p:sp>
        <p:nvSpPr>
          <p:cNvPr id="15" name="Rectangle 14">
            <a:extLst xmlns:a="http://schemas.openxmlformats.org/drawingml/2006/main">
              <a:ext uri="{FF2B5EF4-FFF2-40B4-BE49-F238E27FC236}">
                <a16:creationId xmlns:a16="http://schemas.microsoft.com/office/drawing/2014/main" id="{0928D047-8028-4AFA-90C1-10C20AF2B043}"/>
              </a:ext>
            </a:extLst>
          </p:cNvPr>
          <p:cNvSpPr>
            <a:spLocks xmlns:a="http://schemas.openxmlformats.org/drawingml/2006/main" noGrp="1"/>
          </p:cNvSpPr>
          <p:nvPr/>
        </p:nvSpPr>
        <p:spPr>
          <a:xfrm xmlns:a="http://schemas.openxmlformats.org/drawingml/2006/main">
            <a:off x="8010525" y="2847975"/>
            <a:ext cx="3381375" cy="5334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de MAE par rapport à Chronos-2 brut</a:t>
            </a:r>
          </a:p>
        </p:txBody>
      </p:sp>
      <p:sp>
        <p:nvSpPr>
          <p:cNvPr id="16" name="Rectangle 15">
            <a:extLst xmlns:a="http://schemas.openxmlformats.org/drawingml/2006/main">
              <a:ext uri="{FF2B5EF4-FFF2-40B4-BE49-F238E27FC236}">
                <a16:creationId xmlns:a16="http://schemas.microsoft.com/office/drawing/2014/main" id="{E631A244-DA59-4353-82B8-11450876F023}"/>
              </a:ext>
            </a:extLst>
          </p:cNvPr>
          <p:cNvSpPr>
            <a:spLocks xmlns:a="http://schemas.openxmlformats.org/drawingml/2006/main" noGrp="1"/>
          </p:cNvSpPr>
          <p:nvPr/>
        </p:nvSpPr>
        <p:spPr>
          <a:xfrm xmlns:a="http://schemas.openxmlformats.org/drawingml/2006/main">
            <a:off x="8010525" y="3638550"/>
            <a:ext cx="3381375"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t>Corrélation : 0,93</a:t>
            </a:r>
          </a:p>
        </p:txBody>
      </p:sp>
    </p:spTree>
    <p:extLst>
      <p:ext uri="{BB962C8B-B14F-4D97-AF65-F5344CB8AC3E}">
        <p14:creationId xmlns:p14="http://schemas.microsoft.com/office/powerpoint/2010/main" val="1919669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Prix moyens et comparaison à l’observé</a:t>
            </a:r>
            <a:endParaRPr/>
          </a:p>
        </p:txBody>
      </p:sp>
      <p:sp>
        <p:nvSpPr>
          <p:cNvPr id="24" name="">
            <a:extLst xmlns:a="http://schemas.openxmlformats.org/drawingml/2006/main">
              <a:ext uri="{FF2B5EF4-FFF2-40B4-BE49-F238E27FC236}">
                <a16:creationId xmlns:a16="http://schemas.microsoft.com/office/drawing/2014/main" id="{404F01F4-704A-4D0D-835D-BC42C9A43817}"/>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Exemple du 9 septembre 2026 avec Chronos-2 + nucléaire + correcteur + Kalman</a:t>
            </a:r>
          </a:p>
        </p:txBody>
      </p:sp>
      <p:sp>
        <p:nvSpPr>
          <p:cNvPr id="25" name="">
            <a:extLst xmlns:a="http://schemas.openxmlformats.org/drawingml/2006/main">
              <a:ext uri="{FF2B5EF4-FFF2-40B4-BE49-F238E27FC236}">
                <a16:creationId xmlns:a16="http://schemas.microsoft.com/office/drawing/2014/main" id="{7B18052D-AA64-42A3-85C4-22F50B6D1A41}"/>
              </a:ext>
            </a:extLst>
          </p:cNvPr>
          <p:cNvSpPr>
            <a:spLocks xmlns:a="http://schemas.openxmlformats.org/drawingml/2006/main" noGrp="1"/>
          </p:cNvSpPr>
          <p:nvPr/>
        </p:nvSpPr>
        <p:spPr>
          <a:xfrm xmlns:a="http://schemas.openxmlformats.org/drawingml/2006/main">
            <a:off x="3905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163,33</a:t>
            </a:r>
          </a:p>
        </p:txBody>
      </p:sp>
      <p:sp>
        <p:nvSpPr>
          <p:cNvPr id="26" name="">
            <a:extLst xmlns:a="http://schemas.openxmlformats.org/drawingml/2006/main">
              <a:ext uri="{FF2B5EF4-FFF2-40B4-BE49-F238E27FC236}">
                <a16:creationId xmlns:a16="http://schemas.microsoft.com/office/drawing/2014/main" id="{DB1A05AF-B57F-4DD7-B76F-6ACB705C85A4}"/>
              </a:ext>
            </a:extLst>
          </p:cNvPr>
          <p:cNvSpPr>
            <a:spLocks xmlns:a="http://schemas.openxmlformats.org/drawingml/2006/main" noGrp="1"/>
          </p:cNvSpPr>
          <p:nvPr/>
        </p:nvSpPr>
        <p:spPr>
          <a:xfrm xmlns:a="http://schemas.openxmlformats.org/drawingml/2006/main">
            <a:off x="3905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modèle P50 (EUR/MWh)</a:t>
            </a:r>
          </a:p>
        </p:txBody>
      </p:sp>
      <p:sp>
        <p:nvSpPr>
          <p:cNvPr id="27" name="">
            <a:extLst xmlns:a="http://schemas.openxmlformats.org/drawingml/2006/main">
              <a:ext uri="{FF2B5EF4-FFF2-40B4-BE49-F238E27FC236}">
                <a16:creationId xmlns:a16="http://schemas.microsoft.com/office/drawing/2014/main" id="{32EF569A-132F-4F55-BCA5-24AB01155B57}"/>
              </a:ext>
            </a:extLst>
          </p:cNvPr>
          <p:cNvSpPr>
            <a:spLocks xmlns:a="http://schemas.openxmlformats.org/drawingml/2006/main" noGrp="1"/>
          </p:cNvSpPr>
          <p:nvPr/>
        </p:nvSpPr>
        <p:spPr>
          <a:xfrm xmlns:a="http://schemas.openxmlformats.org/drawingml/2006/main">
            <a:off x="42386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00000"/>
                </a:solidFill>
                <a:latin typeface="Helvetica Neue"/>
                <a:ea typeface="Helvetica Neue"/>
                <a:cs typeface="Helvetica Neue"/>
              </a:defRPr>
            </a:pPr>
            <a:r>
              <a:rPr sz="4050" b="1">
                <a:solidFill>
                  <a:srgbClr val="000000"/>
                </a:solidFill>
                <a:latin typeface="Helvetica Neue"/>
                <a:ea typeface="Helvetica Neue"/>
                <a:cs typeface="Helvetica Neue"/>
              </a:rPr>
              <a:t>147,76</a:t>
            </a:r>
          </a:p>
        </p:txBody>
      </p:sp>
      <p:sp>
        <p:nvSpPr>
          <p:cNvPr id="28" name="">
            <a:extLst xmlns:a="http://schemas.openxmlformats.org/drawingml/2006/main">
              <a:ext uri="{FF2B5EF4-FFF2-40B4-BE49-F238E27FC236}">
                <a16:creationId xmlns:a16="http://schemas.microsoft.com/office/drawing/2014/main" id="{6DAE7D58-CC85-4152-8272-5D233A53EDCF}"/>
              </a:ext>
            </a:extLst>
          </p:cNvPr>
          <p:cNvSpPr>
            <a:spLocks xmlns:a="http://schemas.openxmlformats.org/drawingml/2006/main" noGrp="1"/>
          </p:cNvSpPr>
          <p:nvPr/>
        </p:nvSpPr>
        <p:spPr>
          <a:xfrm xmlns:a="http://schemas.openxmlformats.org/drawingml/2006/main">
            <a:off x="42386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Storm (EUR/MWh)</a:t>
            </a:r>
          </a:p>
        </p:txBody>
      </p:sp>
      <p:sp>
        <p:nvSpPr>
          <p:cNvPr id="29" name="">
            <a:extLst xmlns:a="http://schemas.openxmlformats.org/drawingml/2006/main">
              <a:ext uri="{FF2B5EF4-FFF2-40B4-BE49-F238E27FC236}">
                <a16:creationId xmlns:a16="http://schemas.microsoft.com/office/drawing/2014/main" id="{26DDD149-2586-4968-A94A-175CA1B54061}"/>
              </a:ext>
            </a:extLst>
          </p:cNvPr>
          <p:cNvSpPr>
            <a:spLocks xmlns:a="http://schemas.openxmlformats.org/drawingml/2006/main" noGrp="1"/>
          </p:cNvSpPr>
          <p:nvPr/>
        </p:nvSpPr>
        <p:spPr>
          <a:xfrm xmlns:a="http://schemas.openxmlformats.org/drawingml/2006/main">
            <a:off x="80867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+15,57</a:t>
            </a:r>
          </a:p>
        </p:txBody>
      </p:sp>
      <p:sp>
        <p:nvSpPr>
          <p:cNvPr id="30" name="">
            <a:extLst xmlns:a="http://schemas.openxmlformats.org/drawingml/2006/main">
              <a:ext uri="{FF2B5EF4-FFF2-40B4-BE49-F238E27FC236}">
                <a16:creationId xmlns:a16="http://schemas.microsoft.com/office/drawing/2014/main" id="{12B83B9B-2071-4FCA-9A29-C5C0AF2708A6}"/>
              </a:ext>
            </a:extLst>
          </p:cNvPr>
          <p:cNvSpPr>
            <a:spLocks xmlns:a="http://schemas.openxmlformats.org/drawingml/2006/main" noGrp="1"/>
          </p:cNvSpPr>
          <p:nvPr/>
        </p:nvSpPr>
        <p:spPr>
          <a:xfrm xmlns:a="http://schemas.openxmlformats.org/drawingml/2006/main">
            <a:off x="80867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Écart modèle − Storm (EUR/MWh)</a:t>
            </a:r>
          </a:p>
        </p:txBody>
      </p:sp>
      <p:sp>
        <p:nvSpPr>
          <p:cNvPr id="31" name="">
            <a:extLst xmlns:a="http://schemas.openxmlformats.org/drawingml/2006/main">
              <a:ext uri="{FF2B5EF4-FFF2-40B4-BE49-F238E27FC236}">
                <a16:creationId xmlns:a16="http://schemas.microsoft.com/office/drawing/2014/main" id="{6FC7207F-CAEC-4135-A850-2C3876446542}"/>
              </a:ext>
            </a:extLst>
          </p:cNvPr>
          <p:cNvSpPr>
            <a:spLocks xmlns:a="http://schemas.openxmlformats.org/drawingml/2006/main" noGrp="1"/>
          </p:cNvSpPr>
          <p:nvPr/>
        </p:nvSpPr>
        <p:spPr>
          <a:xfrm xmlns:a="http://schemas.openxmlformats.org/drawingml/2006/main">
            <a:off x="390525" y="2924175"/>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Prix moyens sur les mêmes heures</a:t>
            </a:r>
          </a:p>
        </p:txBody>
      </p:sp>
      <p:graphicFrame>
        <p:nvGraphicFramePr>
          <p:cNvPr id="48" name=""/>
          <p:cNvGraphicFramePr/>
          <p:nvPr/>
        </p:nvGraphicFramePr>
        <p:xfrm>
          <a:off xmlns:a="http://schemas.openxmlformats.org/drawingml/2006/main" x="390525" y="3352800"/>
          <a:ext xmlns:a="http://schemas.openxmlformats.org/drawingml/2006/main" cx="6419850" cy="1333500"/>
        </p:xfrm>
        <a:graphic xmlns:a="http://schemas.openxmlformats.org/drawingml/2006/main">
          <a:graphicData uri="http://schemas.openxmlformats.org/drawingml/2006/table">
            <a:tbl>
              <a:tblPr firstRow="0" firstCol="0" bandRow="0"/>
              <a:tblGrid>
                <a:gridCol w="2133600"/>
                <a:gridCol w="1428750"/>
                <a:gridCol w="1428750"/>
                <a:gridCol w="1428750"/>
              </a:tblGrid>
              <a:tr h="444500">
                <a:tc>
                  <a:txBody>
                    <a:bodyPr anchor="ctr">
                      <a:noAutofit/>
                    </a:bodyPr>
                    <a:lstStyle/>
                    <a:p>
                      <a:pPr algn="ctr"/>
                      <a:r>
                        <a:rPr sz="1350" b="1">
                          <a:solidFill>
                            <a:srgbClr val="000000"/>
                          </a:solidFill>
                          <a:latin typeface="Helvetica Neue"/>
                          <a:ea typeface="Helvetica Neue"/>
                          <a:cs typeface="Helvetica Neue"/>
                        </a:rPr>
                        <a:t>Période</a:t>
                      </a:r>
                    </a:p>
                  </a:txBody>
                  <a:tcPr marL="47625" marR="47625" marT="47625" marB="47625" anchor="ctr">
                    <a:solidFill>
                      <a:srgbClr val="EDEDED"/>
                    </a:solidFill>
                  </a:tcPr>
                </a:tc>
                <a:tc>
                  <a:txBody>
                    <a:bodyPr anchor="ctr">
                      <a:noAutofit/>
                    </a:bodyPr>
                    <a:lstStyle/>
                    <a:p>
                      <a:pPr algn="ctr"/>
                      <a:r>
                        <a:rPr sz="1350" b="1">
                          <a:solidFill>
                            <a:srgbClr val="000000"/>
                          </a:solidFill>
                          <a:latin typeface="Helvetica Neue"/>
                          <a:ea typeface="Helvetica Neue"/>
                          <a:cs typeface="Helvetica Neue"/>
                        </a:rPr>
                        <a:t>Observé</a:t>
                      </a:r>
                    </a:p>
                  </a:txBody>
                  <a:tcPr marL="47625" marR="47625" marT="47625" marB="47625" anchor="ctr">
                    <a:solidFill>
                      <a:srgbClr val="EDEDED"/>
                    </a:solidFill>
                  </a:tcPr>
                </a:tc>
                <a:tc>
                  <a:txBody>
                    <a:bodyPr anchor="ctr">
                      <a:noAutofit/>
                    </a:bodyPr>
                    <a:lstStyle/>
                    <a:p>
                      <a:pPr algn="ctr"/>
                      <a:r>
                        <a:rPr sz="1350" b="1">
                          <a:solidFill>
                            <a:srgbClr val="3D8DFF"/>
                          </a:solidFill>
                          <a:latin typeface="Helvetica Neue"/>
                          <a:ea typeface="Helvetica Neue"/>
                          <a:cs typeface="Helvetica Neue"/>
                        </a:rPr>
                        <a:t>Modèle</a:t>
                      </a:r>
                    </a:p>
                  </a:txBody>
                  <a:tcPr marL="47625" marR="47625" marT="47625" marB="47625" anchor="ctr">
                    <a:solidFill>
                      <a:srgbClr val="EDEDED"/>
                    </a:solidFill>
                  </a:tcPr>
                </a:tc>
                <a:tc>
                  <a:txBody>
                    <a:bodyPr anchor="ctr">
                      <a:noAutofit/>
                    </a:bodyPr>
                    <a:lstStyle/>
                    <a:p>
                      <a:pPr algn="ctr"/>
                      <a:r>
                        <a:rPr sz="1350" b="1">
                          <a:solidFill>
                            <a:srgbClr val="000000"/>
                          </a:solidFill>
                          <a:latin typeface="Helvetica Neue"/>
                          <a:ea typeface="Helvetica Neue"/>
                          <a:cs typeface="Helvetica Neue"/>
                        </a:rPr>
                        <a:t>Storm</a:t>
                      </a:r>
                    </a:p>
                  </a:txBody>
                  <a:tcPr marL="47625" marR="47625" marT="47625" marB="47625" anchor="ctr">
                    <a:solidFill>
                      <a:srgbClr val="EDEDED"/>
                    </a:solidFill>
                  </a:tcPr>
                </a:tc>
              </a:tr>
              <a:tr h="444500">
                <a:tc>
                  <a:txBody>
                    <a:bodyPr anchor="ctr">
                      <a:noAutofit/>
                    </a:bodyPr>
                    <a:lstStyle/>
                    <a:p>
                      <a:pPr algn="ctr"/>
                      <a:r>
                        <a:rPr sz="1350">
                          <a:solidFill>
                            <a:srgbClr val="545A64"/>
                          </a:solidFill>
                          <a:latin typeface="Helvetica Neue"/>
                          <a:ea typeface="Helvetica Neue"/>
                          <a:cs typeface="Helvetica Neue"/>
                        </a:rPr>
                        <a:t>09/09/2026</a:t>
                      </a:r>
                    </a:p>
                  </a:txBody>
                  <a:tcPr marL="47625" marR="47625" marT="47625" marB="47625" anchor="ctr">
                    <a:solidFill>
                      <a:srgbClr val="FFFFFF"/>
                    </a:solidFill>
                  </a:tcPr>
                </a:tc>
                <a:tc>
                  <a:txBody>
                    <a:bodyPr anchor="ctr">
                      <a:noAutofit/>
                    </a:bodyPr>
                    <a:lstStyle/>
                    <a:p>
                      <a:pPr algn="ctr"/>
                      <a:r>
                        <a:rPr sz="1500">
                          <a:solidFill>
                            <a:srgbClr val="000000"/>
                          </a:solidFill>
                          <a:latin typeface="Helvetica Neue"/>
                          <a:ea typeface="Helvetica Neue"/>
                          <a:cs typeface="Helvetica Neue"/>
                        </a:rPr>
                        <a:t>149,47</a:t>
                      </a:r>
                    </a:p>
                  </a:txBody>
                  <a:tcPr marL="47625" marR="47625" marT="47625" marB="47625" anchor="ctr">
                    <a:solidFill>
                      <a:srgbClr val="FFFFFF"/>
                    </a:solidFill>
                  </a:tcPr>
                </a:tc>
                <a:tc>
                  <a:txBody>
                    <a:bodyPr anchor="ctr">
                      <a:noAutofit/>
                    </a:bodyPr>
                    <a:lstStyle/>
                    <a:p>
                      <a:pPr algn="ctr"/>
                      <a:r>
                        <a:rPr sz="1575" b="1">
                          <a:solidFill>
                            <a:srgbClr val="3D8DFF"/>
                          </a:solidFill>
                          <a:latin typeface="Helvetica Neue"/>
                          <a:ea typeface="Helvetica Neue"/>
                          <a:cs typeface="Helvetica Neue"/>
                        </a:rPr>
                        <a:t>163,33</a:t>
                      </a:r>
                    </a:p>
                  </a:txBody>
                  <a:tcPr marL="47625" marR="47625" marT="47625" marB="47625" anchor="ctr">
                    <a:solidFill>
                      <a:srgbClr val="FFFFFF"/>
                    </a:solidFill>
                  </a:tcPr>
                </a:tc>
                <a:tc>
                  <a:txBody>
                    <a:bodyPr anchor="ctr">
                      <a:noAutofit/>
                    </a:bodyPr>
                    <a:lstStyle/>
                    <a:p>
                      <a:pPr algn="ctr"/>
                      <a:r>
                        <a:rPr sz="1500">
                          <a:solidFill>
                            <a:srgbClr val="000000"/>
                          </a:solidFill>
                          <a:latin typeface="Helvetica Neue"/>
                          <a:ea typeface="Helvetica Neue"/>
                          <a:cs typeface="Helvetica Neue"/>
                        </a:rPr>
                        <a:t>147,76</a:t>
                      </a:r>
                    </a:p>
                  </a:txBody>
                  <a:tcPr marL="47625" marR="47625" marT="47625" marB="47625" anchor="ctr">
                    <a:solidFill>
                      <a:srgbClr val="FFFFFF"/>
                    </a:solidFill>
                  </a:tcPr>
                </a:tc>
              </a:tr>
              <a:tr h="444500">
                <a:tc>
                  <a:txBody>
                    <a:bodyPr anchor="ctr">
                      <a:noAutofit/>
                    </a:bodyPr>
                    <a:lstStyle/>
                    <a:p>
                      <a:pPr algn="ctr"/>
                      <a:r>
                        <a:rPr sz="1350">
                          <a:solidFill>
                            <a:srgbClr val="545A64"/>
                          </a:solidFill>
                          <a:latin typeface="Helvetica Neue"/>
                          <a:ea typeface="Helvetica Neue"/>
                          <a:cs typeface="Helvetica Neue"/>
                        </a:rPr>
                        <a:t>365 jours¹</a:t>
                      </a:r>
                    </a:p>
                  </a:txBody>
                  <a:tcPr marL="47625" marR="47625" marT="47625" marB="47625" anchor="ctr">
                    <a:solidFill>
                      <a:srgbClr val="FFFFFF"/>
                    </a:solidFill>
                  </a:tcPr>
                </a:tc>
                <a:tc>
                  <a:txBody>
                    <a:bodyPr anchor="ctr">
                      <a:noAutofit/>
                    </a:bodyPr>
                    <a:lstStyle/>
                    <a:p>
                      <a:pPr algn="ctr"/>
                      <a:r>
                        <a:rPr sz="1500">
                          <a:solidFill>
                            <a:srgbClr val="000000"/>
                          </a:solidFill>
                          <a:latin typeface="Helvetica Neue"/>
                          <a:ea typeface="Helvetica Neue"/>
                          <a:cs typeface="Helvetica Neue"/>
                        </a:rPr>
                        <a:t>69,95</a:t>
                      </a:r>
                    </a:p>
                  </a:txBody>
                  <a:tcPr marL="47625" marR="47625" marT="47625" marB="47625" anchor="ctr">
                    <a:solidFill>
                      <a:srgbClr val="FFFFFF"/>
                    </a:solidFill>
                  </a:tcPr>
                </a:tc>
                <a:tc>
                  <a:txBody>
                    <a:bodyPr anchor="ctr">
                      <a:noAutofit/>
                    </a:bodyPr>
                    <a:lstStyle/>
                    <a:p>
                      <a:pPr algn="ctr"/>
                      <a:r>
                        <a:rPr sz="1575" b="1">
                          <a:solidFill>
                            <a:srgbClr val="3D8DFF"/>
                          </a:solidFill>
                          <a:latin typeface="Helvetica Neue"/>
                          <a:ea typeface="Helvetica Neue"/>
                          <a:cs typeface="Helvetica Neue"/>
                        </a:rPr>
                        <a:t>69,98</a:t>
                      </a:r>
                    </a:p>
                  </a:txBody>
                  <a:tcPr marL="47625" marR="47625" marT="47625" marB="47625" anchor="ctr">
                    <a:solidFill>
                      <a:srgbClr val="FFFFFF"/>
                    </a:solidFill>
                  </a:tcPr>
                </a:tc>
                <a:tc>
                  <a:txBody>
                    <a:bodyPr anchor="ctr">
                      <a:noAutofit/>
                    </a:bodyPr>
                    <a:lstStyle/>
                    <a:p>
                      <a:pPr algn="ctr"/>
                      <a:r>
                        <a:rPr sz="1500">
                          <a:solidFill>
                            <a:srgbClr val="000000"/>
                          </a:solidFill>
                          <a:latin typeface="Helvetica Neue"/>
                          <a:ea typeface="Helvetica Neue"/>
                          <a:cs typeface="Helvetica Neue"/>
                        </a:rPr>
                        <a:t>68,12</a:t>
                      </a:r>
                    </a:p>
                  </a:txBody>
                  <a:tcPr marL="47625" marR="47625" marT="47625" marB="47625" anchor="ctr">
                    <a:solidFill>
                      <a:srgbClr val="FFFFFF"/>
                    </a:solidFill>
                  </a:tcPr>
                </a:tc>
              </a:tr>
            </a:tbl>
          </a:graphicData>
        </a:graphic>
      </p:graphicFrame>
      <p:sp>
        <p:nvSpPr>
          <p:cNvPr id="33" name="">
            <a:extLst xmlns:a="http://schemas.openxmlformats.org/drawingml/2006/main">
              <a:ext uri="{FF2B5EF4-FFF2-40B4-BE49-F238E27FC236}">
                <a16:creationId xmlns:a16="http://schemas.microsoft.com/office/drawing/2014/main" id="{1C418A60-C0F5-4893-BC07-D083995EED3E}"/>
              </a:ext>
            </a:extLst>
          </p:cNvPr>
          <p:cNvSpPr>
            <a:spLocks xmlns:a="http://schemas.openxmlformats.org/drawingml/2006/main" noGrp="1"/>
          </p:cNvSpPr>
          <p:nvPr/>
        </p:nvSpPr>
        <p:spPr>
          <a:xfrm xmlns:a="http://schemas.openxmlformats.org/drawingml/2006/main">
            <a:off x="7210425" y="292417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Calendrier des écarts quotidiens</a:t>
            </a:r>
          </a:p>
        </p:txBody>
      </p:sp>
      <p:graphicFrame>
        <p:nvGraphicFramePr>
          <p:cNvPr id="50" name=""/>
          <p:cNvGraphicFramePr/>
          <p:nvPr/>
        </p:nvGraphicFramePr>
        <p:xfrm>
          <a:off xmlns:a="http://schemas.openxmlformats.org/drawingml/2006/main" x="7210425" y="3352800"/>
          <a:ext xmlns:a="http://schemas.openxmlformats.org/drawingml/2006/main" cx="4581525" cy="971550"/>
        </p:xfrm>
        <a:graphic xmlns:a="http://schemas.openxmlformats.org/drawingml/2006/main">
          <a:graphicData uri="http://schemas.openxmlformats.org/drawingml/2006/table">
            <a:tbl>
              <a:tblPr firstRow="0" firstCol="0" bandRow="0"/>
              <a:tblGrid>
                <a:gridCol w="654504"/>
                <a:gridCol w="654504"/>
                <a:gridCol w="654504"/>
                <a:gridCol w="654504"/>
                <a:gridCol w="654504"/>
                <a:gridCol w="654504"/>
                <a:gridCol w="654504"/>
              </a:tblGrid>
              <a:tr h="485775">
                <a:tc>
                  <a:txBody>
                    <a:bodyPr anchor="ctr">
                      <a:noAutofit/>
                    </a:bodyPr>
                    <a:lstStyle/>
                    <a:p>
                      <a:pPr algn="ctr"/>
                      <a:r>
                        <a:rPr sz="1125">
                          <a:solidFill>
                            <a:srgbClr val="545A64"/>
                          </a:solidFill>
                          <a:latin typeface="Helvetica Neue"/>
                          <a:ea typeface="Helvetica Neue"/>
                          <a:cs typeface="Helvetica Neue"/>
                        </a:rPr>
                        <a:t>03/09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04/09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05/09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06/09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07/09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08/09</a:t>
                      </a:r>
                    </a:p>
                  </a:txBody>
                  <a:tcPr marL="47625" marR="47625" marT="47625" marB="47625" anchor="ctr">
                    <a:solidFill>
                      <a:srgbClr val="FFFFFF"/>
                    </a:solidFill>
                  </a:tcPr>
                </a:tc>
                <a:tc>
                  <a:txBody>
                    <a:bodyPr anchor="ctr">
                      <a:noAutofit/>
                    </a:bodyPr>
                    <a:lstStyle/>
                    <a:p>
                      <a:pPr algn="ctr"/>
                      <a:r>
                        <a:rPr sz="1125">
                          <a:solidFill>
                            <a:srgbClr val="545A64"/>
                          </a:solidFill>
                          <a:latin typeface="Helvetica Neue"/>
                          <a:ea typeface="Helvetica Neue"/>
                          <a:cs typeface="Helvetica Neue"/>
                        </a:rPr>
                        <a:t>09/09</a:t>
                      </a:r>
                    </a:p>
                  </a:txBody>
                  <a:tcPr marL="47625" marR="47625" marT="47625" marB="47625" anchor="ctr">
                    <a:solidFill>
                      <a:srgbClr val="FFFFFF"/>
                    </a:solidFill>
                  </a:tcPr>
                </a:tc>
              </a:tr>
              <a:tr h="485775">
                <a:tc>
                  <a:txBody>
                    <a:bodyPr anchor="ctr">
                      <a:noAutofit/>
                    </a:bodyPr>
                    <a:lstStyle/>
                    <a:p>
                      <a:pPr algn="ctr"/>
                      <a:r>
                        <a:rPr sz="1425" b="1">
                          <a:solidFill>
                            <a:srgbClr val="000000"/>
                          </a:solidFill>
                          <a:latin typeface="Helvetica Neue"/>
                          <a:ea typeface="Helvetica Neue"/>
                          <a:cs typeface="Helvetica Neue"/>
                        </a:rPr>
                        <a:t>3,9</a:t>
                      </a:r>
                    </a:p>
                  </a:txBody>
                  <a:tcPr marL="47625" marR="47625" marT="47625" marB="47625" anchor="ctr">
                    <a:solidFill>
                      <a:srgbClr val="F5D7D5"/>
                    </a:solidFill>
                  </a:tcPr>
                </a:tc>
                <a:tc>
                  <a:txBody>
                    <a:bodyPr anchor="ctr">
                      <a:noAutofit/>
                    </a:bodyPr>
                    <a:lstStyle/>
                    <a:p>
                      <a:pPr algn="ctr"/>
                      <a:r>
                        <a:rPr sz="1425" b="1">
                          <a:solidFill>
                            <a:srgbClr val="000000"/>
                          </a:solidFill>
                          <a:latin typeface="Helvetica Neue"/>
                          <a:ea typeface="Helvetica Neue"/>
                          <a:cs typeface="Helvetica Neue"/>
                        </a:rPr>
                        <a:t>15,9</a:t>
                      </a:r>
                    </a:p>
                  </a:txBody>
                  <a:tcPr marL="47625" marR="47625" marT="47625" marB="47625" anchor="ctr">
                    <a:solidFill>
                      <a:srgbClr val="D67F87"/>
                    </a:solidFill>
                  </a:tcPr>
                </a:tc>
                <a:tc>
                  <a:txBody>
                    <a:bodyPr anchor="ctr">
                      <a:noAutofit/>
                    </a:bodyPr>
                    <a:lstStyle/>
                    <a:p>
                      <a:pPr algn="ctr"/>
                      <a:r>
                        <a:rPr sz="1425" b="1">
                          <a:solidFill>
                            <a:srgbClr val="FFFFFF"/>
                          </a:solidFill>
                          <a:latin typeface="Helvetica Neue"/>
                          <a:ea typeface="Helvetica Neue"/>
                          <a:cs typeface="Helvetica Neue"/>
                        </a:rPr>
                        <a:t>25,7</a:t>
                      </a:r>
                    </a:p>
                  </a:txBody>
                  <a:tcPr marL="47625" marR="47625" marT="47625" marB="47625" anchor="ctr">
                    <a:solidFill>
                      <a:srgbClr val="BD3747"/>
                    </a:solidFill>
                  </a:tcPr>
                </a:tc>
                <a:tc>
                  <a:txBody>
                    <a:bodyPr anchor="ctr">
                      <a:noAutofit/>
                    </a:bodyPr>
                    <a:lstStyle/>
                    <a:p>
                      <a:pPr algn="ctr"/>
                      <a:r>
                        <a:rPr sz="1425" b="1">
                          <a:solidFill>
                            <a:srgbClr val="000000"/>
                          </a:solidFill>
                          <a:latin typeface="Helvetica Neue"/>
                          <a:ea typeface="Helvetica Neue"/>
                          <a:cs typeface="Helvetica Neue"/>
                        </a:rPr>
                        <a:t>1,2</a:t>
                      </a:r>
                    </a:p>
                  </a:txBody>
                  <a:tcPr marL="47625" marR="47625" marT="47625" marB="47625" anchor="ctr">
                    <a:solidFill>
                      <a:srgbClr val="FCEBE7"/>
                    </a:solidFill>
                  </a:tcPr>
                </a:tc>
                <a:tc>
                  <a:txBody>
                    <a:bodyPr anchor="ctr">
                      <a:noAutofit/>
                    </a:bodyPr>
                    <a:lstStyle/>
                    <a:p>
                      <a:pPr algn="ctr"/>
                      <a:r>
                        <a:rPr sz="1425" b="1">
                          <a:solidFill>
                            <a:srgbClr val="000000"/>
                          </a:solidFill>
                          <a:latin typeface="Helvetica Neue"/>
                          <a:ea typeface="Helvetica Neue"/>
                          <a:cs typeface="Helvetica Neue"/>
                        </a:rPr>
                        <a:t>12,9</a:t>
                      </a:r>
                    </a:p>
                  </a:txBody>
                  <a:tcPr marL="47625" marR="47625" marT="47625" marB="47625" anchor="ctr">
                    <a:solidFill>
                      <a:srgbClr val="DE969B"/>
                    </a:solidFill>
                  </a:tcPr>
                </a:tc>
                <a:tc>
                  <a:txBody>
                    <a:bodyPr anchor="ctr">
                      <a:noAutofit/>
                    </a:bodyPr>
                    <a:lstStyle/>
                    <a:p>
                      <a:pPr algn="ctr"/>
                      <a:r>
                        <a:rPr sz="1425" b="1">
                          <a:solidFill>
                            <a:srgbClr val="000000"/>
                          </a:solidFill>
                          <a:latin typeface="Helvetica Neue"/>
                          <a:ea typeface="Helvetica Neue"/>
                          <a:cs typeface="Helvetica Neue"/>
                        </a:rPr>
                        <a:t>15,6</a:t>
                      </a:r>
                    </a:p>
                  </a:txBody>
                  <a:tcPr marL="47625" marR="47625" marT="47625" marB="47625" anchor="ctr">
                    <a:solidFill>
                      <a:srgbClr val="D78289"/>
                    </a:solidFill>
                  </a:tcPr>
                </a:tc>
                <a:tc>
                  <a:txBody>
                    <a:bodyPr anchor="ctr">
                      <a:noAutofit/>
                    </a:bodyPr>
                    <a:lstStyle/>
                    <a:p>
                      <a:pPr algn="ctr"/>
                      <a:r>
                        <a:rPr sz="1425" b="1">
                          <a:solidFill>
                            <a:srgbClr val="000000"/>
                          </a:solidFill>
                          <a:latin typeface="Helvetica Neue"/>
                          <a:ea typeface="Helvetica Neue"/>
                          <a:cs typeface="Helvetica Neue"/>
                        </a:rPr>
                        <a:t>13,9</a:t>
                      </a:r>
                    </a:p>
                  </a:txBody>
                  <a:tcPr marL="47625" marR="47625" marT="47625" marB="47625" anchor="ctr">
                    <a:solidFill>
                      <a:srgbClr val="DB8E94"/>
                    </a:solidFill>
                  </a:tcPr>
                </a:tc>
              </a:tr>
            </a:tbl>
          </a:graphicData>
        </a:graphic>
      </p:graphicFrame>
      <p:sp>
        <p:nvSpPr>
          <p:cNvPr id="35" name="">
            <a:extLst xmlns:a="http://schemas.openxmlformats.org/drawingml/2006/main">
              <a:ext uri="{FF2B5EF4-FFF2-40B4-BE49-F238E27FC236}">
                <a16:creationId xmlns:a16="http://schemas.microsoft.com/office/drawing/2014/main" id="{503BA57D-DAF5-4279-A863-8E5EBE2E27A4}"/>
              </a:ext>
            </a:extLst>
          </p:cNvPr>
          <p:cNvSpPr>
            <a:spLocks xmlns:a="http://schemas.openxmlformats.org/drawingml/2006/main" noGrp="1"/>
          </p:cNvSpPr>
          <p:nvPr/>
        </p:nvSpPr>
        <p:spPr>
          <a:xfrm xmlns:a="http://schemas.openxmlformats.org/drawingml/2006/main">
            <a:off x="7210425" y="4486275"/>
            <a:ext cx="45815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Le rouge fonce quand l’écart absolu entre</a:t>
            </a:r>
          </a:p>
          <a:p xmlns:a="http://schemas.openxmlformats.org/drawingml/2006/main">
            <a:pPr>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le prix moyen du modèle et l’observé augmente.</a:t>
            </a:r>
          </a:p>
        </p:txBody>
      </p:sp>
      <p:sp>
        <p:nvSpPr>
          <p:cNvPr id="36" name="">
            <a:extLst xmlns:a="http://schemas.openxmlformats.org/drawingml/2006/main">
              <a:ext uri="{FF2B5EF4-FFF2-40B4-BE49-F238E27FC236}">
                <a16:creationId xmlns:a16="http://schemas.microsoft.com/office/drawing/2014/main" id="{2FB356F7-AFC3-4309-B5F6-98C199558BEB}"/>
              </a:ext>
            </a:extLst>
          </p:cNvPr>
          <p:cNvSpPr>
            <a:spLocks xmlns:a="http://schemas.openxmlformats.org/drawingml/2006/main" noGrp="1"/>
          </p:cNvSpPr>
          <p:nvPr/>
        </p:nvSpPr>
        <p:spPr>
          <a:xfrm xmlns:a="http://schemas.openxmlformats.org/drawingml/2006/main">
            <a:off x="390525" y="4848225"/>
            <a:ext cx="6419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Le 09/09 : écart absolu de 13,86 pour le modèle,</a:t>
            </a:r>
          </a:p>
          <a:p xmlns:a="http://schemas.openxmlformats.org/drawingml/2006/main">
            <a:pPr>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contre 1,72 pour Storm (EUR/MWh).</a:t>
            </a:r>
          </a:p>
        </p:txBody>
      </p:sp>
      <p:sp>
        <p:nvSpPr>
          <p:cNvPr id="37" name="">
            <a:extLst xmlns:a="http://schemas.openxmlformats.org/drawingml/2006/main">
              <a:ext uri="{FF2B5EF4-FFF2-40B4-BE49-F238E27FC236}">
                <a16:creationId xmlns:a16="http://schemas.microsoft.com/office/drawing/2014/main" id="{C01B08AC-C501-4EB5-8C8F-528009F98BC2}"/>
              </a:ext>
            </a:extLst>
          </p:cNvPr>
          <p:cNvSpPr>
            <a:spLocks xmlns:a="http://schemas.openxmlformats.org/drawingml/2006/main" noGrp="1"/>
          </p:cNvSpPr>
          <p:nvPr/>
        </p:nvSpPr>
        <p:spPr>
          <a:xfrm xmlns:a="http://schemas.openxmlformats.org/drawingml/2006/main">
            <a:off x="390525" y="5648325"/>
            <a:ext cx="11401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Dans Statistics : filtres jour, semaine et mois, puis classement du forecast le plus proche.</a:t>
            </a:r>
          </a:p>
          <a:p xmlns:a="http://schemas.openxmlformats.org/drawingml/2006/main">
            <a:pPr>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Un prix moyen proche peut masquer des erreurs horaires qui se compensent.</a:t>
            </a:r>
          </a:p>
        </p:txBody>
      </p:sp>
      <p:sp>
        <p:nvSpPr>
          <p:cNvPr id="38" name="">
            <a:extLst xmlns:a="http://schemas.openxmlformats.org/drawingml/2006/main">
              <a:ext uri="{FF2B5EF4-FFF2-40B4-BE49-F238E27FC236}">
                <a16:creationId xmlns:a16="http://schemas.microsoft.com/office/drawing/2014/main" id="{787DA4B6-2473-425B-8558-8D57E14684CA}"/>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¹ Statistics : 10/09/2025 au 09/09/2026, 8 759 heures appariées. Storm sert uniquement à la comparaison.</a:t>
            </a:r>
          </a:p>
        </p:txBody>
      </p:sp>
    </p:spTree>
    <p:extLst>
      <p:ext uri="{BB962C8B-B14F-4D97-AF65-F5344CB8AC3E}">
        <p14:creationId xmlns:p14="http://schemas.microsoft.com/office/powerpoint/2010/main" val="19196696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Performance par heure locale</a:t>
            </a:r>
            <a:endParaRPr/>
          </a:p>
        </p:txBody>
      </p:sp>
      <p:sp>
        <p:nvSpPr>
          <p:cNvPr id="24" name="">
            <a:extLst xmlns:a="http://schemas.openxmlformats.org/drawingml/2006/main">
              <a:ext uri="{FF2B5EF4-FFF2-40B4-BE49-F238E27FC236}">
                <a16:creationId xmlns:a16="http://schemas.microsoft.com/office/drawing/2014/main" id="{AF2849AF-9374-4A9D-860D-9E853962C7D3}"/>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Le menu du rapport propose trois vues : MAE, prix moyens et biais signé</a:t>
            </a:r>
          </a:p>
        </p:txBody>
      </p:sp>
      <p:graphicFrame>
        <p:nvGraphicFramePr>
          <p:cNvPr id="33" name="Chart"/>
          <p:cNvGraphicFramePr/>
          <p:nvPr/>
        </p:nvGraphicFramePr>
        <p:xfrm>
          <a:off xmlns:a="http://schemas.openxmlformats.org/drawingml/2006/main" x="390525" y="1733550"/>
          <a:ext xmlns:a="http://schemas.openxmlformats.org/drawingml/2006/main" cx="5543550" cy="3333750"/>
        </p:xfrm>
        <a:graphic xmlns:a="http://schemas.openxmlformats.org/drawingml/2006/main">
          <a:graphicData uri="http://schemas.openxmlformats.org/drawingml/2006/chart">
            <c:chart xmlns:r="http://schemas.openxmlformats.org/officeDocument/2006/relationships" xmlns:c="http://schemas.openxmlformats.org/drawingml/2006/chart" r:id="R1e2b81bf42a34e53"/>
          </a:graphicData>
        </a:graphic>
      </p:graphicFrame>
      <p:graphicFrame>
        <p:nvGraphicFramePr>
          <p:cNvPr id="34" name="Chart"/>
          <p:cNvGraphicFramePr/>
          <p:nvPr/>
        </p:nvGraphicFramePr>
        <p:xfrm>
          <a:off xmlns:a="http://schemas.openxmlformats.org/drawingml/2006/main" x="6257925" y="1733550"/>
          <a:ext xmlns:a="http://schemas.openxmlformats.org/drawingml/2006/main" cx="5534025" cy="3333750"/>
        </p:xfrm>
        <a:graphic xmlns:a="http://schemas.openxmlformats.org/drawingml/2006/main">
          <a:graphicData uri="http://schemas.openxmlformats.org/drawingml/2006/chart">
            <c:chart xmlns:r="http://schemas.openxmlformats.org/officeDocument/2006/relationships" xmlns:c="http://schemas.openxmlformats.org/drawingml/2006/chart" r:id="R70e254ad1a6c4100"/>
          </a:graphicData>
        </a:graphic>
      </p:graphicFrame>
      <p:sp>
        <p:nvSpPr>
          <p:cNvPr id="27" name="">
            <a:extLst xmlns:a="http://schemas.openxmlformats.org/drawingml/2006/main">
              <a:ext uri="{FF2B5EF4-FFF2-40B4-BE49-F238E27FC236}">
                <a16:creationId xmlns:a16="http://schemas.microsoft.com/office/drawing/2014/main" id="{0643AAF6-0527-4610-A969-4CEDCD08F759}"/>
              </a:ext>
            </a:extLst>
          </p:cNvPr>
          <p:cNvSpPr>
            <a:spLocks xmlns:a="http://schemas.openxmlformats.org/drawingml/2006/main" noGrp="1"/>
          </p:cNvSpPr>
          <p:nvPr/>
        </p:nvSpPr>
        <p:spPr>
          <a:xfrm xmlns:a="http://schemas.openxmlformats.org/drawingml/2006/main">
            <a:off x="390525" y="5305425"/>
            <a:ext cx="554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00 h, la MAE du modèle atteint 9,85,</a:t>
            </a:r>
          </a:p>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11,69 pour Storm.</a:t>
            </a:r>
          </a:p>
        </p:txBody>
      </p:sp>
      <p:sp>
        <p:nvSpPr>
          <p:cNvPr id="28" name="">
            <a:extLst xmlns:a="http://schemas.openxmlformats.org/drawingml/2006/main">
              <a:ext uri="{FF2B5EF4-FFF2-40B4-BE49-F238E27FC236}">
                <a16:creationId xmlns:a16="http://schemas.microsoft.com/office/drawing/2014/main" id="{2575804D-E051-449F-B707-CE15B8FF3D0F}"/>
              </a:ext>
            </a:extLst>
          </p:cNvPr>
          <p:cNvSpPr>
            <a:spLocks xmlns:a="http://schemas.openxmlformats.org/drawingml/2006/main" noGrp="1"/>
          </p:cNvSpPr>
          <p:nvPr/>
        </p:nvSpPr>
        <p:spPr>
          <a:xfrm xmlns:a="http://schemas.openxmlformats.org/drawingml/2006/main">
            <a:off x="6257925" y="5305425"/>
            <a:ext cx="5534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12 h, elle atteint 12,04,</a:t>
            </a:r>
          </a:p>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10,71 pour Storm.</a:t>
            </a:r>
          </a:p>
        </p:txBody>
      </p:sp>
      <p:sp>
        <p:nvSpPr>
          <p:cNvPr id="29" name="">
            <a:extLst xmlns:a="http://schemas.openxmlformats.org/drawingml/2006/main">
              <a:ext uri="{FF2B5EF4-FFF2-40B4-BE49-F238E27FC236}">
                <a16:creationId xmlns:a16="http://schemas.microsoft.com/office/drawing/2014/main" id="{8C4982E6-1F78-43F5-9BDA-E54781CB5EF2}"/>
              </a:ext>
            </a:extLst>
          </p:cNvPr>
          <p:cNvSpPr>
            <a:spLocks xmlns:a="http://schemas.openxmlformats.org/drawingml/2006/main" noGrp="1"/>
          </p:cNvSpPr>
          <p:nvPr/>
        </p:nvSpPr>
        <p:spPr>
          <a:xfrm xmlns:a="http://schemas.openxmlformats.org/drawingml/2006/main">
            <a:off x="390525" y="6010275"/>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La MAE mesure la taille de l’erreur. Le biais signé indique la tendance à surestimer ou sous-estimer.</a:t>
            </a:r>
          </a:p>
        </p:txBody>
      </p:sp>
      <p:sp>
        <p:nvSpPr>
          <p:cNvPr id="30" name="">
            <a:extLst xmlns:a="http://schemas.openxmlformats.org/drawingml/2006/main">
              <a:ext uri="{FF2B5EF4-FFF2-40B4-BE49-F238E27FC236}">
                <a16:creationId xmlns:a16="http://schemas.microsoft.com/office/drawing/2014/main" id="{9B30CF4B-A929-4854-9E91-B313E99ED076}"/>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France, 10/09/2025 au 09/09/2026. Chaque courbe utilise les mêmes 8 759 heures physiques appariées.</a:t>
            </a:r>
          </a:p>
        </p:txBody>
      </p:sp>
    </p:spTree>
    <p:extLst>
      <p:ext uri="{BB962C8B-B14F-4D97-AF65-F5344CB8AC3E}">
        <p14:creationId xmlns:p14="http://schemas.microsoft.com/office/powerpoint/2010/main" val="1919669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Influence des variables dans la prévision amont</a:t>
            </a:r>
            <a:endParaRPr/>
          </a:p>
        </p:txBody>
      </p:sp>
      <p:sp>
        <p:nvSpPr>
          <p:cNvPr id="24" name="">
            <a:extLst xmlns:a="http://schemas.openxmlformats.org/drawingml/2006/main">
              <a:ext uri="{FF2B5EF4-FFF2-40B4-BE49-F238E27FC236}">
                <a16:creationId xmlns:a16="http://schemas.microsoft.com/office/drawing/2014/main" id="{1758A0DB-3D23-48ED-8EB4-D03A7F3E022E}"/>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Shapley groupé sur Chronos-2 + nucléaire + correcteur, avant l’application de Kalman</a:t>
            </a:r>
          </a:p>
        </p:txBody>
      </p:sp>
      <p:graphicFrame>
        <p:nvGraphicFramePr>
          <p:cNvPr id="37" name="Chart"/>
          <p:cNvGraphicFramePr/>
          <p:nvPr/>
        </p:nvGraphicFramePr>
        <p:xfrm>
          <a:off xmlns:a="http://schemas.openxmlformats.org/drawingml/2006/main" x="390525" y="1685925"/>
          <a:ext xmlns:a="http://schemas.openxmlformats.org/drawingml/2006/main" cx="5276850" cy="3314700"/>
        </p:xfrm>
        <a:graphic xmlns:a="http://schemas.openxmlformats.org/drawingml/2006/main">
          <a:graphicData uri="http://schemas.openxmlformats.org/drawingml/2006/chart">
            <c:chart xmlns:r="http://schemas.openxmlformats.org/officeDocument/2006/relationships" xmlns:c="http://schemas.openxmlformats.org/drawingml/2006/chart" r:id="Rb2b2d2ad51bf4b01"/>
          </a:graphicData>
        </a:graphic>
      </p:graphicFrame>
      <p:sp>
        <p:nvSpPr>
          <p:cNvPr id="26" name="">
            <a:extLst xmlns:a="http://schemas.openxmlformats.org/drawingml/2006/main">
              <a:ext uri="{FF2B5EF4-FFF2-40B4-BE49-F238E27FC236}">
                <a16:creationId xmlns:a16="http://schemas.microsoft.com/office/drawing/2014/main" id="{A2CF852F-BB5F-43B6-9940-81D2A6689D21}"/>
              </a:ext>
            </a:extLst>
          </p:cNvPr>
          <p:cNvSpPr>
            <a:spLocks xmlns:a="http://schemas.openxmlformats.org/drawingml/2006/main" noGrp="1"/>
          </p:cNvSpPr>
          <p:nvPr/>
        </p:nvSpPr>
        <p:spPr>
          <a:xfrm xmlns:a="http://schemas.openxmlformats.org/drawingml/2006/main">
            <a:off x="5962650" y="1714500"/>
            <a:ext cx="582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Contributions par heure (EUR/MWh)</a:t>
            </a:r>
          </a:p>
        </p:txBody>
      </p:sp>
      <p:graphicFrame>
        <p:nvGraphicFramePr>
          <p:cNvPr id="39" name=""/>
          <p:cNvGraphicFramePr/>
          <p:nvPr/>
        </p:nvGraphicFramePr>
        <p:xfrm>
          <a:off xmlns:a="http://schemas.openxmlformats.org/drawingml/2006/main" x="5962650" y="2152650"/>
          <a:ext xmlns:a="http://schemas.openxmlformats.org/drawingml/2006/main" cx="5829300" cy="2600325"/>
        </p:xfrm>
        <a:graphic xmlns:a="http://schemas.openxmlformats.org/drawingml/2006/main">
          <a:graphicData uri="http://schemas.openxmlformats.org/drawingml/2006/table">
            <a:tbl>
              <a:tblPr firstRow="0" firstCol="0" bandRow="0"/>
              <a:tblGrid>
                <a:gridCol w="1485900"/>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tblGrid>
              <a:tr h="266700">
                <a:tc>
                  <a:txBody>
                    <a:bodyPr anchor="ctr">
                      <a:noAutofit/>
                    </a:bodyPr>
                    <a:lstStyle/>
                    <a:p>
                      <a:pPr algn="l"/>
                      <a:r>
                        <a:rPr sz="1050">
                          <a:solidFill>
                            <a:srgbClr val="000000"/>
                          </a:solidFill>
                          <a:latin typeface="Helvetica Neue"/>
                          <a:ea typeface="Helvetica Neue"/>
                          <a:cs typeface="Helvetica Neue"/>
                        </a:rPr>
                        <a:t>Heure locale</a:t>
                      </a:r>
                    </a:p>
                  </a:txBody>
                  <a:tcPr marL="47625" marR="47625" marT="47625" marB="47625"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0</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3</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6</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9</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12</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15</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18</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21</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r>
                        <a:rPr sz="825">
                          <a:solidFill>
                            <a:srgbClr val="545A64"/>
                          </a:solidFill>
                          <a:latin typeface="Helvetica Neue"/>
                          <a:ea typeface="Helvetica Neue"/>
                          <a:cs typeface="Helvetica Neue"/>
                        </a:rPr>
                        <a:t>23</a:t>
                      </a:r>
                    </a:p>
                  </a:txBody>
                  <a:tcPr marL="0" marR="0" marT="0" marB="0" anchor="ctr">
                    <a:solidFill>
                      <a:srgbClr val="FFFFFF"/>
                    </a:solidFill>
                  </a:tcPr>
                </a:tc>
              </a:tr>
              <a:tr h="333375">
                <a:tc>
                  <a:txBody>
                    <a:bodyPr anchor="ctr">
                      <a:noAutofit/>
                    </a:bodyPr>
                    <a:lstStyle/>
                    <a:p>
                      <a:pPr algn="l"/>
                      <a:r>
                        <a:rPr sz="1050">
                          <a:solidFill>
                            <a:srgbClr val="000000"/>
                          </a:solidFill>
                          <a:latin typeface="Helvetica Neue"/>
                          <a:ea typeface="Helvetica Neue"/>
                          <a:cs typeface="Helvetica Neue"/>
                        </a:rPr>
                        <a:t>Prix passés</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19E7D"/>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B698"/>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CBB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BDA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A88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907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AF172B"/>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910D2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67001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7D072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80082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B1182B"/>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D15648"/>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937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BD1BB"/>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5EF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29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D8645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98C6E"/>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D55D4C"/>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19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DD8C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191"/>
                    </a:solidFill>
                  </a:tcPr>
                </a:tc>
              </a:tr>
              <a:tr h="333375">
                <a:tc>
                  <a:txBody>
                    <a:bodyPr anchor="ctr">
                      <a:noAutofit/>
                    </a:bodyPr>
                    <a:lstStyle/>
                    <a:p>
                      <a:pPr algn="l"/>
                      <a:r>
                        <a:rPr sz="1050">
                          <a:solidFill>
                            <a:srgbClr val="000000"/>
                          </a:solidFill>
                          <a:latin typeface="Helvetica Neue"/>
                          <a:ea typeface="Helvetica Neue"/>
                          <a:cs typeface="Helvetica Neue"/>
                        </a:rPr>
                        <a:t>Charge résid. DE</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E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1EC"/>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BE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CE0D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19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907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5826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8F7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AB8A"/>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DDDCB"/>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DE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D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5"/>
                    </a:solidFill>
                  </a:tcPr>
                </a:tc>
              </a:tr>
              <a:tr h="333375">
                <a:tc>
                  <a:txBody>
                    <a:bodyPr anchor="ctr">
                      <a:noAutofit/>
                    </a:bodyPr>
                    <a:lstStyle/>
                    <a:p>
                      <a:pPr algn="l"/>
                      <a:r>
                        <a:rPr sz="1050">
                          <a:solidFill>
                            <a:srgbClr val="000000"/>
                          </a:solidFill>
                          <a:latin typeface="Helvetica Neue"/>
                          <a:ea typeface="Helvetica Neue"/>
                          <a:cs typeface="Helvetica Neue"/>
                        </a:rPr>
                        <a:t>Charge résid. FR</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2EE"/>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E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FEA"/>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CE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CE0D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CD8C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19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B29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BB9E"/>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C2A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DD9C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8DD"/>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BE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4F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5F3"/>
                    </a:solidFill>
                  </a:tcPr>
                </a:tc>
              </a:tr>
              <a:tr h="333375">
                <a:tc>
                  <a:txBody>
                    <a:bodyPr anchor="ctr">
                      <a:noAutofit/>
                    </a:bodyPr>
                    <a:lstStyle/>
                    <a:p>
                      <a:pPr algn="l"/>
                      <a:r>
                        <a:rPr sz="1050">
                          <a:solidFill>
                            <a:srgbClr val="000000"/>
                          </a:solidFill>
                          <a:latin typeface="Helvetica Neue"/>
                          <a:ea typeface="Helvetica Neue"/>
                          <a:cs typeface="Helvetica Neue"/>
                        </a:rPr>
                        <a:t>Charge résid. ES</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8F0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5EF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7EF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D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DF2F5"/>
                    </a:solidFill>
                  </a:tcPr>
                </a:tc>
              </a:tr>
              <a:tr h="333375">
                <a:tc>
                  <a:txBody>
                    <a:bodyPr anchor="ctr">
                      <a:noAutofit/>
                    </a:bodyPr>
                    <a:lstStyle/>
                    <a:p>
                      <a:pPr algn="l"/>
                      <a:r>
                        <a:rPr sz="1050">
                          <a:solidFill>
                            <a:srgbClr val="000000"/>
                          </a:solidFill>
                          <a:latin typeface="Helvetica Neue"/>
                          <a:ea typeface="Helvetica Neue"/>
                          <a:cs typeface="Helvetica Neue"/>
                        </a:rPr>
                        <a:t>Charge résid. BE</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FF3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EF3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6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EE8"/>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BE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9D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AE1"/>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8DE"/>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AE9DF"/>
                    </a:solidFill>
                  </a:tcPr>
                </a:tc>
              </a:tr>
              <a:tr h="333375">
                <a:tc>
                  <a:txBody>
                    <a:bodyPr anchor="ctr">
                      <a:noAutofit/>
                    </a:bodyPr>
                    <a:lstStyle/>
                    <a:p>
                      <a:pPr algn="l"/>
                      <a:r>
                        <a:rPr sz="1050">
                          <a:solidFill>
                            <a:srgbClr val="000000"/>
                          </a:solidFill>
                          <a:latin typeface="Helvetica Neue"/>
                          <a:ea typeface="Helvetica Neue"/>
                          <a:cs typeface="Helvetica Neue"/>
                        </a:rPr>
                        <a:t>Charge résid. NL</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6F5"/>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5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4F2"/>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5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5F3"/>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1EE"/>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F0EB"/>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8F1EC"/>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r>
              <a:tr h="333375">
                <a:tc>
                  <a:txBody>
                    <a:bodyPr anchor="ctr">
                      <a:noAutofit/>
                    </a:bodyPr>
                    <a:lstStyle/>
                    <a:p>
                      <a:pPr algn="l"/>
                      <a:r>
                        <a:rPr sz="1050">
                          <a:solidFill>
                            <a:srgbClr val="000000"/>
                          </a:solidFill>
                          <a:latin typeface="Helvetica Neue"/>
                          <a:ea typeface="Helvetica Neue"/>
                          <a:cs typeface="Helvetica Neue"/>
                        </a:rPr>
                        <a:t>Nucléaire FR</a:t>
                      </a:r>
                    </a:p>
                  </a:txBody>
                  <a:tcPr marL="47625" marR="47625" marT="47625" marB="47625" anchor="ctr">
                    <a:solidFill>
                      <a:srgbClr val="FFFFFF"/>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7F6F4"/>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r>
                        <a:rPr sz="1050">
                          <a:solidFill>
                            <a:srgbClr val="000000"/>
                          </a:solidFill>
                          <a:latin typeface="Helvetica Neue"/>
                          <a:ea typeface="Helvetica Neue"/>
                          <a:cs typeface="Helvetica Neue"/>
                        </a:rPr>
                        <a:t/>
                      </a:r>
                    </a:p>
                  </a:txBody>
                  <a:tcPr marL="47625" marR="47625" marT="47625" marB="47625" anchor="ctr">
                    <a:solidFill>
                      <a:srgbClr val="F6F7F7"/>
                    </a:solidFill>
                  </a:tcPr>
                </a:tc>
              </a:tr>
            </a:tbl>
          </a:graphicData>
        </a:graphic>
      </p:graphicFrame>
      <p:sp>
        <p:nvSpPr>
          <p:cNvPr id="28" name="">
            <a:extLst xmlns:a="http://schemas.openxmlformats.org/drawingml/2006/main">
              <a:ext uri="{FF2B5EF4-FFF2-40B4-BE49-F238E27FC236}">
                <a16:creationId xmlns:a16="http://schemas.microsoft.com/office/drawing/2014/main" id="{9725574E-CFCA-4B84-A93A-F5FE70446BED}"/>
              </a:ext>
            </a:extLst>
          </p:cNvPr>
          <p:cNvSpPr>
            <a:spLocks xmlns:a="http://schemas.openxmlformats.org/drawingml/2006/main" noGrp="1"/>
          </p:cNvSpPr>
          <p:nvPr/>
        </p:nvSpPr>
        <p:spPr>
          <a:xfrm xmlns:a="http://schemas.openxmlformats.org/drawingml/2006/main">
            <a:off x="7448550" y="48196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2166AC"/>
                </a:solidFill>
                <a:latin typeface="Helvetica Neue"/>
                <a:ea typeface="Helvetica Neue"/>
                <a:cs typeface="Helvetica Neue"/>
              </a:defRPr>
            </a:pPr>
            <a:r>
              <a:rPr sz="1200">
                <a:solidFill>
                  <a:srgbClr val="2166AC"/>
                </a:solidFill>
                <a:latin typeface="Helvetica Neue"/>
                <a:ea typeface="Helvetica Neue"/>
                <a:cs typeface="Helvetica Neue"/>
              </a:rPr>
              <a:t>Bleu : baisse de la P50</a:t>
            </a:r>
          </a:p>
        </p:txBody>
      </p:sp>
      <p:sp>
        <p:nvSpPr>
          <p:cNvPr id="29" name="">
            <a:extLst xmlns:a="http://schemas.openxmlformats.org/drawingml/2006/main">
              <a:ext uri="{FF2B5EF4-FFF2-40B4-BE49-F238E27FC236}">
                <a16:creationId xmlns:a16="http://schemas.microsoft.com/office/drawing/2014/main" id="{CB61B72B-20E0-4B73-9EF9-0AD1F066CB6F}"/>
              </a:ext>
            </a:extLst>
          </p:cNvPr>
          <p:cNvSpPr>
            <a:spLocks xmlns:a="http://schemas.openxmlformats.org/drawingml/2006/main" noGrp="1"/>
          </p:cNvSpPr>
          <p:nvPr/>
        </p:nvSpPr>
        <p:spPr>
          <a:xfrm xmlns:a="http://schemas.openxmlformats.org/drawingml/2006/main">
            <a:off x="9677400" y="4819650"/>
            <a:ext cx="2114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B2182B"/>
                </a:solidFill>
                <a:latin typeface="Helvetica Neue"/>
                <a:ea typeface="Helvetica Neue"/>
                <a:cs typeface="Helvetica Neue"/>
              </a:defRPr>
            </a:pPr>
            <a:r>
              <a:rPr sz="1200">
                <a:solidFill>
                  <a:srgbClr val="B2182B"/>
                </a:solidFill>
                <a:latin typeface="Helvetica Neue"/>
                <a:ea typeface="Helvetica Neue"/>
                <a:cs typeface="Helvetica Neue"/>
              </a:rPr>
              <a:t>Rouge : hausse de la P50</a:t>
            </a:r>
          </a:p>
        </p:txBody>
      </p:sp>
      <p:sp>
        <p:nvSpPr>
          <p:cNvPr id="30" name="">
            <a:extLst xmlns:a="http://schemas.openxmlformats.org/drawingml/2006/main">
              <a:ext uri="{FF2B5EF4-FFF2-40B4-BE49-F238E27FC236}">
                <a16:creationId xmlns:a16="http://schemas.microsoft.com/office/drawing/2014/main" id="{2B440D0D-CFD8-47EE-9AC9-2E0BBD35E36A}"/>
              </a:ext>
            </a:extLst>
          </p:cNvPr>
          <p:cNvSpPr>
            <a:spLocks xmlns:a="http://schemas.openxmlformats.org/drawingml/2006/main" noGrp="1"/>
          </p:cNvSpPr>
          <p:nvPr/>
        </p:nvSpPr>
        <p:spPr>
          <a:xfrm xmlns:a="http://schemas.openxmlformats.org/drawingml/2006/main">
            <a:off x="7448550" y="5067300"/>
            <a:ext cx="4343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545A64"/>
                </a:solidFill>
                <a:latin typeface="Helvetica Neue"/>
                <a:ea typeface="Helvetica Neue"/>
                <a:cs typeface="Helvetica Neue"/>
              </a:defRPr>
            </a:pPr>
            <a:r>
              <a:rPr sz="1050">
                <a:solidFill>
                  <a:srgbClr val="545A64"/>
                </a:solidFill>
                <a:latin typeface="Helvetica Neue"/>
                <a:ea typeface="Helvetica Neue"/>
                <a:cs typeface="Helvetica Neue"/>
              </a:rPr>
              <a:t>Échelle symétrique : −43,2 à +43,2 EUR/MWh</a:t>
            </a:r>
          </a:p>
        </p:txBody>
      </p:sp>
      <p:sp>
        <p:nvSpPr>
          <p:cNvPr id="31" name="">
            <a:extLst xmlns:a="http://schemas.openxmlformats.org/drawingml/2006/main">
              <a:ext uri="{FF2B5EF4-FFF2-40B4-BE49-F238E27FC236}">
                <a16:creationId xmlns:a16="http://schemas.microsoft.com/office/drawing/2014/main" id="{98452658-B0D7-4313-977A-1B12D6F1B215}"/>
              </a:ext>
            </a:extLst>
          </p:cNvPr>
          <p:cNvSpPr>
            <a:spLocks xmlns:a="http://schemas.openxmlformats.org/drawingml/2006/main" noGrp="1"/>
          </p:cNvSpPr>
          <p:nvPr/>
        </p:nvSpPr>
        <p:spPr>
          <a:xfrm xmlns:a="http://schemas.openxmlformats.org/drawingml/2006/main">
            <a:off x="390525" y="5286375"/>
            <a:ext cx="11401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136,24 + 27,09 = 163,33 EUR/MWh</a:t>
            </a:r>
          </a:p>
        </p:txBody>
      </p:sp>
      <p:sp>
        <p:nvSpPr>
          <p:cNvPr id="32" name="">
            <a:extLst xmlns:a="http://schemas.openxmlformats.org/drawingml/2006/main">
              <a:ext uri="{FF2B5EF4-FFF2-40B4-BE49-F238E27FC236}">
                <a16:creationId xmlns:a16="http://schemas.microsoft.com/office/drawing/2014/main" id="{6A19E7FA-22B9-4659-80D9-90A7DFC7D60F}"/>
              </a:ext>
            </a:extLst>
          </p:cNvPr>
          <p:cNvSpPr>
            <a:spLocks xmlns:a="http://schemas.openxmlformats.org/drawingml/2006/main" noGrp="1"/>
          </p:cNvSpPr>
          <p:nvPr/>
        </p:nvSpPr>
        <p:spPr>
          <a:xfrm xmlns:a="http://schemas.openxmlformats.org/drawingml/2006/main">
            <a:off x="390525" y="5791200"/>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Référence historique + somme des contributions moyennes = P50 amont moyenne du jour</a:t>
            </a:r>
          </a:p>
        </p:txBody>
      </p:sp>
      <p:sp>
        <p:nvSpPr>
          <p:cNvPr id="33" name="">
            <a:extLst xmlns:a="http://schemas.openxmlformats.org/drawingml/2006/main">
              <a:ext uri="{FF2B5EF4-FFF2-40B4-BE49-F238E27FC236}">
                <a16:creationId xmlns:a16="http://schemas.microsoft.com/office/drawing/2014/main" id="{0C52E502-F708-4B43-9D6F-5A5470A49C60}"/>
              </a:ext>
            </a:extLst>
          </p:cNvPr>
          <p:cNvSpPr>
            <a:spLocks xmlns:a="http://schemas.openxmlformats.org/drawingml/2006/main" noGrp="1"/>
          </p:cNvSpPr>
          <p:nvPr/>
        </p:nvSpPr>
        <p:spPr>
          <a:xfrm xmlns:a="http://schemas.openxmlformats.org/drawingml/2006/main">
            <a:off x="390525" y="612457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545A64"/>
                </a:solidFill>
                <a:latin typeface="Helvetica Neue"/>
                <a:ea typeface="Helvetica Neue"/>
                <a:cs typeface="Helvetica Neue"/>
              </a:defRPr>
            </a:pPr>
            <a:r>
              <a:rPr sz="1425">
                <a:solidFill>
                  <a:srgbClr val="545A64"/>
                </a:solidFill>
                <a:latin typeface="Helvetica Neue"/>
                <a:ea typeface="Helvetica Neue"/>
                <a:cs typeface="Helvetica Neue"/>
              </a:rPr>
              <a:t>Les % répartissent l’influence absolue. La carte montre le sens et l’intensité de chaque contribution.</a:t>
            </a:r>
          </a:p>
        </p:txBody>
      </p:sp>
      <p:sp>
        <p:nvSpPr>
          <p:cNvPr id="34" name="">
            <a:extLst xmlns:a="http://schemas.openxmlformats.org/drawingml/2006/main">
              <a:ext uri="{FF2B5EF4-FFF2-40B4-BE49-F238E27FC236}">
                <a16:creationId xmlns:a16="http://schemas.microsoft.com/office/drawing/2014/main" id="{CAE1E116-3D79-4E2C-BE7B-9B0B6549E87C}"/>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Sensibilité locale du 09/09/2026, relative à une médiane historique sur 56 jours. Ces influences ne mesurent pas un effet causal de marché.</a:t>
            </a:r>
          </a:p>
        </p:txBody>
      </p:sp>
    </p:spTree>
    <p:extLst>
      <p:ext uri="{BB962C8B-B14F-4D97-AF65-F5344CB8AC3E}">
        <p14:creationId xmlns:p14="http://schemas.microsoft.com/office/powerpoint/2010/main" val="1919669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2026-09-08T15:59:24.5750000Z</dcterms:created>
  <dcterms:modified xsi:type="dcterms:W3CDTF">2026-09-08T15:59:24.5750000Z</dcterms:modified>
</coreProperties>
</file>