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r>
              <a:rPr lang="en-GB"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MAE horaire (EUR/MWh)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Modèle</c:v>
          </c:tx>
          <c:spPr>
            <a:ln w="30480">
              <a:solidFill>
                <a:srgbClr val="3D8DFF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24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  <c:pt idx="19">
                <c:v>19</c:v>
              </c:pt>
              <c:pt idx="20">
                <c:v>20</c:v>
              </c:pt>
              <c:pt idx="21">
                <c:v>21</c:v>
              </c:pt>
              <c:pt idx="22">
                <c:v>22</c:v>
              </c:pt>
              <c:pt idx="23">
                <c:v>23</c:v>
              </c:pt>
            </c:numLit>
          </c:cat>
          <c:val>
            <c:numLit>
              <c:formatCode>0</c:formatCode>
              <c:ptCount val="24"/>
              <c:pt idx="0">
                <c:v>9.8491572133607619</c:v>
              </c:pt>
              <c:pt idx="1">
                <c:v>9.5670477369915226</c:v>
              </c:pt>
              <c:pt idx="2">
                <c:v>10.036229755359962</c:v>
              </c:pt>
              <c:pt idx="3">
                <c:v>10.783631061683799</c:v>
              </c:pt>
              <c:pt idx="4">
                <c:v>10.667657901830706</c:v>
              </c:pt>
              <c:pt idx="5">
                <c:v>10.920119014516779</c:v>
              </c:pt>
              <c:pt idx="6">
                <c:v>11.847318675802935</c:v>
              </c:pt>
              <c:pt idx="7">
                <c:v>12.380299633284439</c:v>
              </c:pt>
              <c:pt idx="8">
                <c:v>13.207583657486458</c:v>
              </c:pt>
              <c:pt idx="9">
                <c:v>11.971766001294959</c:v>
              </c:pt>
              <c:pt idx="10">
                <c:v>11.657004068602463</c:v>
              </c:pt>
              <c:pt idx="11">
                <c:v>11.372520706838054</c:v>
              </c:pt>
              <c:pt idx="12">
                <c:v>12.038323892120619</c:v>
              </c:pt>
              <c:pt idx="13">
                <c:v>12.415621452959719</c:v>
              </c:pt>
              <c:pt idx="14">
                <c:v>12.902235832531316</c:v>
              </c:pt>
              <c:pt idx="15">
                <c:v>11.605766904221264</c:v>
              </c:pt>
              <c:pt idx="16">
                <c:v>11.540670959482972</c:v>
              </c:pt>
              <c:pt idx="17">
                <c:v>11.803911852484323</c:v>
              </c:pt>
              <c:pt idx="18">
                <c:v>13.044689956877916</c:v>
              </c:pt>
              <c:pt idx="19">
                <c:v>14.847478934055724</c:v>
              </c:pt>
              <c:pt idx="20">
                <c:v>14.361908288150218</c:v>
              </c:pt>
              <c:pt idx="21">
                <c:v>13.171948064709982</c:v>
              </c:pt>
              <c:pt idx="22">
                <c:v>12.309554113324932</c:v>
              </c:pt>
              <c:pt idx="23">
                <c:v>12.289776353481979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D350-4819-8D4A-0C0CBFA69872}"/>
            </c:ext>
          </c:extLst>
        </c:ser>
        <c:ser>
          <c:idx val="1"/>
          <c:order val="1"/>
          <c:tx>
            <c:v>Storm</c:v>
          </c:tx>
          <c:spPr>
            <a:ln w="20955">
              <a:solidFill>
                <a:srgbClr val="000000"/>
              </a:solidFill>
              <a:prstDash val="dash"/>
            </a:ln>
          </c:spPr>
          <c:marker>
            <c:symbol val="none"/>
          </c:marker>
          <c:cat>
            <c:numLit>
              <c:formatCode>General</c:formatCode>
              <c:ptCount val="24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  <c:pt idx="19">
                <c:v>19</c:v>
              </c:pt>
              <c:pt idx="20">
                <c:v>20</c:v>
              </c:pt>
              <c:pt idx="21">
                <c:v>21</c:v>
              </c:pt>
              <c:pt idx="22">
                <c:v>22</c:v>
              </c:pt>
              <c:pt idx="23">
                <c:v>23</c:v>
              </c:pt>
            </c:numLit>
          </c:cat>
          <c:val>
            <c:numLit>
              <c:formatCode>0</c:formatCode>
              <c:ptCount val="24"/>
              <c:pt idx="0">
                <c:v>11.692519361643834</c:v>
              </c:pt>
              <c:pt idx="1">
                <c:v>9.999882254794521</c:v>
              </c:pt>
              <c:pt idx="2">
                <c:v>9.8550192197802193</c:v>
              </c:pt>
              <c:pt idx="3">
                <c:v>10.290173936986301</c:v>
              </c:pt>
              <c:pt idx="4">
                <c:v>10.935639690410959</c:v>
              </c:pt>
              <c:pt idx="5">
                <c:v>10.832532526027396</c:v>
              </c:pt>
              <c:pt idx="6">
                <c:v>11.976361290410956</c:v>
              </c:pt>
              <c:pt idx="7">
                <c:v>12.48788657260274</c:v>
              </c:pt>
              <c:pt idx="8">
                <c:v>13.714284580821918</c:v>
              </c:pt>
              <c:pt idx="9">
                <c:v>11.724061123287672</c:v>
              </c:pt>
              <c:pt idx="10">
                <c:v>10.725743761643836</c:v>
              </c:pt>
              <c:pt idx="11">
                <c:v>10.460219819178086</c:v>
              </c:pt>
              <c:pt idx="12">
                <c:v>10.70551409041096</c:v>
              </c:pt>
              <c:pt idx="13">
                <c:v>12.872692616438355</c:v>
              </c:pt>
              <c:pt idx="14">
                <c:v>12.171164287671234</c:v>
              </c:pt>
              <c:pt idx="15">
                <c:v>10.319608260273974</c:v>
              </c:pt>
              <c:pt idx="16">
                <c:v>10.60132137260274</c:v>
              </c:pt>
              <c:pt idx="17">
                <c:v>10.693619610958903</c:v>
              </c:pt>
              <c:pt idx="18">
                <c:v>14.600965893150684</c:v>
              </c:pt>
              <c:pt idx="19">
                <c:v>15.740556824657533</c:v>
              </c:pt>
              <c:pt idx="20">
                <c:v>14.13101746849315</c:v>
              </c:pt>
              <c:pt idx="21">
                <c:v>12.870811482191783</c:v>
              </c:pt>
              <c:pt idx="22">
                <c:v>12.418184183561642</c:v>
              </c:pt>
              <c:pt idx="23">
                <c:v>11.847505356164385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1-D350-4819-8D4A-0C0CBFA6987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7DAE0"/>
            </a:solidFill>
          </a:ln>
        </c:spPr>
        <c:txPr>
          <a:bodyPr anchorCtr="1"/>
          <a:lstStyle/>
          <a:p>
            <a:pPr>
              <a:defRPr sz="900">
                <a:solidFill>
                  <a:srgbClr val="545A64"/>
                </a:solidFill>
                <a:latin typeface="Helvetica Neue"/>
                <a:ea typeface="Helvetica Neue"/>
                <a:cs typeface="Helvetica Neue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8"/>
          <c:min val="0"/>
        </c:scaling>
        <c:delete val="0"/>
        <c:axPos val="l"/>
        <c:majorGridlines>
          <c:spPr>
            <a:ln w="7620">
              <a:solidFill>
                <a:srgbClr val="D7DAE0"/>
              </a:solidFill>
            </a:ln>
          </c:spPr>
        </c:majorGridlines>
        <c:numFmt formatCode="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125">
                <a:solidFill>
                  <a:srgbClr val="545A64"/>
                </a:solidFill>
                <a:latin typeface="Helvetica Neue"/>
                <a:ea typeface="Helvetica Neue"/>
                <a:cs typeface="Helvetica Neue"/>
              </a:defRPr>
            </a:pPr>
            <a:endParaRPr lang="en-US"/>
          </a:p>
        </c:txPr>
        <c:crossAx val="48650112"/>
        <c:crosses val="autoZero"/>
        <c:crossBetween val="between"/>
        <c:majorUnit val="3"/>
      </c:valAx>
      <c:spPr>
        <a:solidFill>
          <a:srgbClr val="FFFFFF"/>
        </a:solidFill>
      </c:spPr>
    </c:plotArea>
    <c:legend>
      <c:legendPos val="b"/>
      <c:overlay val="0"/>
      <c:txPr>
        <a:bodyPr anchorCtr="1"/>
        <a:lstStyle/>
        <a:p>
          <a:pPr>
            <a:defRPr sz="1275">
              <a:solidFill>
                <a:srgbClr val="000000"/>
              </a:solidFill>
              <a:latin typeface="Helvetica Neue"/>
              <a:ea typeface="Helvetica Neue"/>
              <a:cs typeface="Helvetica Neue"/>
            </a:defRPr>
          </a:pPr>
          <a:endParaRPr lang="en-US"/>
        </a:p>
      </c:txPr>
    </c:legend>
    <c:plotVisOnly val="1"/>
    <c:dispBlanksAs val="zero"/>
    <c:showDLblsOverMax val="1"/>
  </c:chart>
  <c:spPr>
    <a:solidFill>
      <a:srgbClr val="FFFFFF"/>
    </a:solidFill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r>
              <a:rPr lang="fr-FR"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Prix moyens par heure (EUR/MWh)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Observé</c:v>
          </c:tx>
          <c:spPr>
            <a:ln w="20955">
              <a:solidFill>
                <a:srgbClr val="3F9FC9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24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  <c:pt idx="19">
                <c:v>19</c:v>
              </c:pt>
              <c:pt idx="20">
                <c:v>20</c:v>
              </c:pt>
              <c:pt idx="21">
                <c:v>21</c:v>
              </c:pt>
              <c:pt idx="22">
                <c:v>22</c:v>
              </c:pt>
              <c:pt idx="23">
                <c:v>23</c:v>
              </c:pt>
            </c:numLit>
          </c:cat>
          <c:val>
            <c:numLit>
              <c:formatCode>0</c:formatCode>
              <c:ptCount val="24"/>
              <c:pt idx="0">
                <c:v>81.504986301369868</c:v>
              </c:pt>
              <c:pt idx="1">
                <c:v>76.246753424657541</c:v>
              </c:pt>
              <c:pt idx="2">
                <c:v>69.520233516483515</c:v>
              </c:pt>
              <c:pt idx="3">
                <c:v>61.802547945205482</c:v>
              </c:pt>
              <c:pt idx="4">
                <c:v>60.093315068493155</c:v>
              </c:pt>
              <c:pt idx="5">
                <c:v>66.280184931506852</c:v>
              </c:pt>
              <c:pt idx="6">
                <c:v>78.766575342465757</c:v>
              </c:pt>
              <c:pt idx="7">
                <c:v>91.211910958904113</c:v>
              </c:pt>
              <c:pt idx="8">
                <c:v>91.699863013698646</c:v>
              </c:pt>
              <c:pt idx="9">
                <c:v>73.28676712328766</c:v>
              </c:pt>
              <c:pt idx="10">
                <c:v>53.088280821917806</c:v>
              </c:pt>
              <c:pt idx="11">
                <c:v>41.057541095890407</c:v>
              </c:pt>
              <c:pt idx="12">
                <c:v>36.45541095890411</c:v>
              </c:pt>
              <c:pt idx="13">
                <c:v>27.563308219178076</c:v>
              </c:pt>
              <c:pt idx="14">
                <c:v>29.017664383561641</c:v>
              </c:pt>
              <c:pt idx="15">
                <c:v>34.592671232876711</c:v>
              </c:pt>
              <c:pt idx="16">
                <c:v>42.920363013698633</c:v>
              </c:pt>
              <c:pt idx="17">
                <c:v>61.571828767123286</c:v>
              </c:pt>
              <c:pt idx="18">
                <c:v>89.056767123287671</c:v>
              </c:pt>
              <c:pt idx="19">
                <c:v>112.11242465753426</c:v>
              </c:pt>
              <c:pt idx="20">
                <c:v>109.42708904109588</c:v>
              </c:pt>
              <c:pt idx="21">
                <c:v>101.5690479452055</c:v>
              </c:pt>
              <c:pt idx="22">
                <c:v>100.72152054794522</c:v>
              </c:pt>
              <c:pt idx="23">
                <c:v>89.168609589041097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3BD2-43EB-A396-5BE6038B29CE}"/>
            </c:ext>
          </c:extLst>
        </c:ser>
        <c:ser>
          <c:idx val="1"/>
          <c:order val="1"/>
          <c:tx>
            <c:v>Modèle</c:v>
          </c:tx>
          <c:spPr>
            <a:ln w="30480">
              <a:solidFill>
                <a:srgbClr val="3D8DFF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24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  <c:pt idx="19">
                <c:v>19</c:v>
              </c:pt>
              <c:pt idx="20">
                <c:v>20</c:v>
              </c:pt>
              <c:pt idx="21">
                <c:v>21</c:v>
              </c:pt>
              <c:pt idx="22">
                <c:v>22</c:v>
              </c:pt>
              <c:pt idx="23">
                <c:v>23</c:v>
              </c:pt>
            </c:numLit>
          </c:cat>
          <c:val>
            <c:numLit>
              <c:formatCode>0</c:formatCode>
              <c:ptCount val="24"/>
              <c:pt idx="0">
                <c:v>82.582490749230956</c:v>
              </c:pt>
              <c:pt idx="1">
                <c:v>76.491496333598619</c:v>
              </c:pt>
              <c:pt idx="2">
                <c:v>68.942562167656121</c:v>
              </c:pt>
              <c:pt idx="3">
                <c:v>62.009170005846862</c:v>
              </c:pt>
              <c:pt idx="4">
                <c:v>60.537893582469174</c:v>
              </c:pt>
              <c:pt idx="5">
                <c:v>67.221079262557524</c:v>
              </c:pt>
              <c:pt idx="6">
                <c:v>79.26021766723845</c:v>
              </c:pt>
              <c:pt idx="7">
                <c:v>91.515475447544901</c:v>
              </c:pt>
              <c:pt idx="8">
                <c:v>90.745194954915036</c:v>
              </c:pt>
              <c:pt idx="9">
                <c:v>72.924531014797822</c:v>
              </c:pt>
              <c:pt idx="10">
                <c:v>53.606871993124813</c:v>
              </c:pt>
              <c:pt idx="11">
                <c:v>41.06732563007634</c:v>
              </c:pt>
              <c:pt idx="12">
                <c:v>34.997538796701036</c:v>
              </c:pt>
              <c:pt idx="13">
                <c:v>29.235305505678618</c:v>
              </c:pt>
              <c:pt idx="14">
                <c:v>29.988683978262678</c:v>
              </c:pt>
              <c:pt idx="15">
                <c:v>34.516546579357289</c:v>
              </c:pt>
              <c:pt idx="16">
                <c:v>42.703565537582563</c:v>
              </c:pt>
              <c:pt idx="17">
                <c:v>61.371840913063821</c:v>
              </c:pt>
              <c:pt idx="18">
                <c:v>88.49694378088914</c:v>
              </c:pt>
              <c:pt idx="19">
                <c:v>111.16105136697306</c:v>
              </c:pt>
              <c:pt idx="20">
                <c:v>109.33305792346158</c:v>
              </c:pt>
              <c:pt idx="21">
                <c:v>101.75904410921459</c:v>
              </c:pt>
              <c:pt idx="22">
                <c:v>98.72697742306498</c:v>
              </c:pt>
              <c:pt idx="23">
                <c:v>90.355334736920824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1-3BD2-43EB-A396-5BE6038B29CE}"/>
            </c:ext>
          </c:extLst>
        </c:ser>
        <c:ser>
          <c:idx val="2"/>
          <c:order val="2"/>
          <c:tx>
            <c:v>Storm</c:v>
          </c:tx>
          <c:spPr>
            <a:ln w="20955">
              <a:solidFill>
                <a:srgbClr val="000000"/>
              </a:solidFill>
              <a:prstDash val="dash"/>
            </a:ln>
          </c:spPr>
          <c:marker>
            <c:symbol val="none"/>
          </c:marker>
          <c:cat>
            <c:numLit>
              <c:formatCode>General</c:formatCode>
              <c:ptCount val="24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  <c:pt idx="19">
                <c:v>19</c:v>
              </c:pt>
              <c:pt idx="20">
                <c:v>20</c:v>
              </c:pt>
              <c:pt idx="21">
                <c:v>21</c:v>
              </c:pt>
              <c:pt idx="22">
                <c:v>22</c:v>
              </c:pt>
              <c:pt idx="23">
                <c:v>23</c:v>
              </c:pt>
            </c:numLit>
          </c:cat>
          <c:val>
            <c:numLit>
              <c:formatCode>0</c:formatCode>
              <c:ptCount val="24"/>
              <c:pt idx="0">
                <c:v>81.880624079452062</c:v>
              </c:pt>
              <c:pt idx="1">
                <c:v>74.406626863013699</c:v>
              </c:pt>
              <c:pt idx="2">
                <c:v>69.343509247252754</c:v>
              </c:pt>
              <c:pt idx="3">
                <c:v>62.148766901369868</c:v>
              </c:pt>
              <c:pt idx="4">
                <c:v>59.247845756164388</c:v>
              </c:pt>
              <c:pt idx="5">
                <c:v>63.286081934246582</c:v>
              </c:pt>
              <c:pt idx="6">
                <c:v>73.128642369863002</c:v>
              </c:pt>
              <c:pt idx="7">
                <c:v>84.409291509589053</c:v>
              </c:pt>
              <c:pt idx="8">
                <c:v>84.324981336986298</c:v>
              </c:pt>
              <c:pt idx="9">
                <c:v>69.225200284931503</c:v>
              </c:pt>
              <c:pt idx="10">
                <c:v>52.806695273972601</c:v>
              </c:pt>
              <c:pt idx="11">
                <c:v>42.319385101369861</c:v>
              </c:pt>
              <c:pt idx="12">
                <c:v>37.046903838356165</c:v>
              </c:pt>
              <c:pt idx="13">
                <c:v>32.939989772602743</c:v>
              </c:pt>
              <c:pt idx="14">
                <c:v>31.473567427397256</c:v>
              </c:pt>
              <c:pt idx="15">
                <c:v>36.479837969863013</c:v>
              </c:pt>
              <c:pt idx="16">
                <c:v>43.845144117808211</c:v>
              </c:pt>
              <c:pt idx="17">
                <c:v>57.095451967123289</c:v>
              </c:pt>
              <c:pt idx="18">
                <c:v>80.109315054794521</c:v>
              </c:pt>
              <c:pt idx="19">
                <c:v>103.7395539260274</c:v>
              </c:pt>
              <c:pt idx="20">
                <c:v>107.39690547945207</c:v>
              </c:pt>
              <c:pt idx="21">
                <c:v>100.89470592602738</c:v>
              </c:pt>
              <c:pt idx="22">
                <c:v>95.56818046301369</c:v>
              </c:pt>
              <c:pt idx="23">
                <c:v>91.685660156164388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2-3BD2-43EB-A396-5BE6038B29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7DAE0"/>
            </a:solidFill>
          </a:ln>
        </c:spPr>
        <c:txPr>
          <a:bodyPr anchorCtr="1"/>
          <a:lstStyle/>
          <a:p>
            <a:pPr>
              <a:defRPr sz="900">
                <a:solidFill>
                  <a:srgbClr val="545A64"/>
                </a:solidFill>
                <a:latin typeface="Helvetica Neue"/>
                <a:ea typeface="Helvetica Neue"/>
                <a:cs typeface="Helvetica Neue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20"/>
          <c:min val="0"/>
        </c:scaling>
        <c:delete val="0"/>
        <c:axPos val="l"/>
        <c:majorGridlines>
          <c:spPr>
            <a:ln w="7620">
              <a:solidFill>
                <a:srgbClr val="D7DAE0"/>
              </a:solidFill>
            </a:ln>
          </c:spPr>
        </c:majorGridlines>
        <c:numFmt formatCode="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125">
                <a:solidFill>
                  <a:srgbClr val="545A64"/>
                </a:solidFill>
                <a:latin typeface="Helvetica Neue"/>
                <a:ea typeface="Helvetica Neue"/>
                <a:cs typeface="Helvetica Neue"/>
              </a:defRPr>
            </a:pPr>
            <a:endParaRPr lang="en-US"/>
          </a:p>
        </c:txPr>
        <c:crossAx val="48650112"/>
        <c:crosses val="autoZero"/>
        <c:crossBetween val="between"/>
        <c:majorUnit val="30"/>
      </c:valAx>
      <c:spPr>
        <a:solidFill>
          <a:srgbClr val="FFFFFF"/>
        </a:solidFill>
      </c:spPr>
    </c:plotArea>
    <c:legend>
      <c:legendPos val="b"/>
      <c:overlay val="0"/>
      <c:txPr>
        <a:bodyPr anchorCtr="1"/>
        <a:lstStyle/>
        <a:p>
          <a:pPr>
            <a:defRPr sz="1275">
              <a:solidFill>
                <a:srgbClr val="000000"/>
              </a:solidFill>
              <a:latin typeface="Helvetica Neue"/>
              <a:ea typeface="Helvetica Neue"/>
              <a:cs typeface="Helvetica Neue"/>
            </a:defRPr>
          </a:pPr>
          <a:endParaRPr lang="en-US"/>
        </a:p>
      </c:txPr>
    </c:legend>
    <c:plotVisOnly val="1"/>
    <c:dispBlanksAs val="zero"/>
    <c:showDLblsOverMax val="1"/>
  </c:chart>
  <c:spPr>
    <a:solidFill>
      <a:srgbClr val="FFFFFF"/>
    </a:solidFill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r>
              <a:rPr lang="fr-FR"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Poids d’influence sur la journée (%)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v>Influence Shapley (%)</c:v>
          </c:tx>
          <c:spPr>
            <a:solidFill>
              <a:srgbClr val="3D8DFF"/>
            </a:solidFill>
            <a:ln w="0">
              <a:solidFill>
                <a:srgbClr val="3D8DFF"/>
              </a:solidFill>
            </a:ln>
          </c:spPr>
          <c:invertIfNegative val="1"/>
          <c:dPt>
            <c:idx val="0"/>
            <c:invertIfNegative val="0"/>
            <c:bubble3D val="0"/>
            <c:spPr>
              <a:solidFill>
                <a:srgbClr val="3F9FC9"/>
              </a:solidFill>
            </c:spPr>
            <c:extLst>
              <c:ext xmlns:c16="http://schemas.microsoft.com/office/drawing/2014/chart" uri="{C3380CC4-5D6E-409C-BE32-E72D297353CC}">
                <c16:uniqueId val="{00000001-C333-4FF1-A496-7E7094C1F8B0}"/>
              </c:ext>
            </c:extLst>
          </c:dPt>
          <c:dPt>
            <c:idx val="1"/>
            <c:invertIfNegative val="0"/>
            <c:bubble3D val="0"/>
            <c:spPr>
              <a:solidFill>
                <a:srgbClr val="3D8DFF"/>
              </a:solidFill>
            </c:spPr>
            <c:extLst>
              <c:ext xmlns:c16="http://schemas.microsoft.com/office/drawing/2014/chart" uri="{C3380CC4-5D6E-409C-BE32-E72D297353CC}">
                <c16:uniqueId val="{00000003-C333-4FF1-A496-7E7094C1F8B0}"/>
              </c:ext>
            </c:extLst>
          </c:dPt>
          <c:dPt>
            <c:idx val="2"/>
            <c:invertIfNegative val="0"/>
            <c:bubble3D val="0"/>
            <c:spPr>
              <a:solidFill>
                <a:srgbClr val="3D8DFF"/>
              </a:solidFill>
            </c:spPr>
            <c:extLst>
              <c:ext xmlns:c16="http://schemas.microsoft.com/office/drawing/2014/chart" uri="{C3380CC4-5D6E-409C-BE32-E72D297353CC}">
                <c16:uniqueId val="{00000005-C333-4FF1-A496-7E7094C1F8B0}"/>
              </c:ext>
            </c:extLst>
          </c:dPt>
          <c:dPt>
            <c:idx val="3"/>
            <c:invertIfNegative val="0"/>
            <c:bubble3D val="0"/>
            <c:spPr>
              <a:solidFill>
                <a:srgbClr val="3D8DFF"/>
              </a:solidFill>
            </c:spPr>
            <c:extLst>
              <c:ext xmlns:c16="http://schemas.microsoft.com/office/drawing/2014/chart" uri="{C3380CC4-5D6E-409C-BE32-E72D297353CC}">
                <c16:uniqueId val="{00000007-C333-4FF1-A496-7E7094C1F8B0}"/>
              </c:ext>
            </c:extLst>
          </c:dPt>
          <c:dPt>
            <c:idx val="4"/>
            <c:invertIfNegative val="0"/>
            <c:bubble3D val="0"/>
            <c:spPr>
              <a:solidFill>
                <a:srgbClr val="3D8DFF"/>
              </a:solidFill>
            </c:spPr>
            <c:extLst>
              <c:ext xmlns:c16="http://schemas.microsoft.com/office/drawing/2014/chart" uri="{C3380CC4-5D6E-409C-BE32-E72D297353CC}">
                <c16:uniqueId val="{00000009-C333-4FF1-A496-7E7094C1F8B0}"/>
              </c:ext>
            </c:extLst>
          </c:dPt>
          <c:dPt>
            <c:idx val="5"/>
            <c:invertIfNegative val="0"/>
            <c:bubble3D val="0"/>
            <c:spPr>
              <a:solidFill>
                <a:srgbClr val="3D8DFF"/>
              </a:solidFill>
            </c:spPr>
            <c:extLst>
              <c:ext xmlns:c16="http://schemas.microsoft.com/office/drawing/2014/chart" uri="{C3380CC4-5D6E-409C-BE32-E72D297353CC}">
                <c16:uniqueId val="{0000000B-C333-4FF1-A496-7E7094C1F8B0}"/>
              </c:ext>
            </c:extLst>
          </c:dPt>
          <c:dPt>
            <c:idx val="6"/>
            <c:invertIfNegative val="0"/>
            <c:bubble3D val="0"/>
            <c:spPr>
              <a:solidFill>
                <a:srgbClr val="3D8DFF"/>
              </a:solidFill>
            </c:spPr>
            <c:extLst>
              <c:ext xmlns:c16="http://schemas.microsoft.com/office/drawing/2014/chart" uri="{C3380CC4-5D6E-409C-BE32-E72D297353CC}">
                <c16:uniqueId val="{0000000D-C333-4FF1-A496-7E7094C1F8B0}"/>
              </c:ext>
            </c:extLst>
          </c:dPt>
          <c:dLbls>
            <c:spPr>
              <a:noFill/>
              <a:ln>
                <a:noFill/>
              </a:ln>
            </c:spPr>
            <c:txPr>
              <a:bodyPr anchorCtr="1"/>
              <a:lstStyle/>
              <a:p>
                <a:pPr>
                  <a:defRPr sz="1200" b="1">
                    <a:solidFill>
                      <a:srgbClr val="3D8DFF"/>
                    </a:solidFill>
                    <a:latin typeface="Helvetica Neue"/>
                    <a:ea typeface="Helvetica Neue"/>
                    <a:cs typeface="Helvetica Neue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7"/>
              <c:pt idx="0">
                <c:v>Nucléaire FR</c:v>
              </c:pt>
              <c:pt idx="1">
                <c:v>Charge résid. NL</c:v>
              </c:pt>
              <c:pt idx="2">
                <c:v>Charge résid. BE</c:v>
              </c:pt>
              <c:pt idx="3">
                <c:v>Charge résid. ES</c:v>
              </c:pt>
              <c:pt idx="4">
                <c:v>Charge résid. FR</c:v>
              </c:pt>
              <c:pt idx="5">
                <c:v>Charge résid. DE</c:v>
              </c:pt>
              <c:pt idx="6">
                <c:v>Prix passés</c:v>
              </c:pt>
            </c:strLit>
          </c:cat>
          <c:val>
            <c:numLit>
              <c:formatCode>0.0</c:formatCode>
              <c:ptCount val="7"/>
              <c:pt idx="0">
                <c:v>1.0845875068665956</c:v>
              </c:pt>
              <c:pt idx="1">
                <c:v>2.1073213752306681</c:v>
              </c:pt>
              <c:pt idx="2">
                <c:v>5.2853983439625516</c:v>
              </c:pt>
              <c:pt idx="3">
                <c:v>6.4738177915049508</c:v>
              </c:pt>
              <c:pt idx="4">
                <c:v>12.523080018484215</c:v>
              </c:pt>
              <c:pt idx="5">
                <c:v>15.327751001396566</c:v>
              </c:pt>
              <c:pt idx="6">
                <c:v>57.198043962554443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0">
                    <a:solidFill>
                      <a:srgbClr val="3D8DFF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E-C333-4FF1-A496-7E7094C1F8B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0">
            <a:solidFill>
              <a:srgbClr val="FFFFFF"/>
            </a:solidFill>
          </a:ln>
        </c:spPr>
        <c:txPr>
          <a:bodyPr anchorCtr="1"/>
          <a:lstStyle/>
          <a:p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65"/>
          <c:min val="0"/>
        </c:scaling>
        <c:delete val="0"/>
        <c:axPos val="b"/>
        <c:majorGridlines>
          <c:spPr>
            <a:ln w="4763">
              <a:solidFill>
                <a:srgbClr val="D7DAE0"/>
              </a:solidFill>
            </a:ln>
          </c:spPr>
        </c:majorGridlines>
        <c:numFmt formatCode="0.0" sourceLinked="1"/>
        <c:majorTickMark val="none"/>
        <c:minorTickMark val="none"/>
        <c:tickLblPos val="nextTo"/>
        <c:spPr>
          <a:ln w="4763">
            <a:solidFill>
              <a:srgbClr val="D7DAE0"/>
            </a:solidFill>
          </a:ln>
        </c:spPr>
        <c:txPr>
          <a:bodyPr anchorCtr="1"/>
          <a:lstStyle/>
          <a:p>
            <a:pPr>
              <a:defRPr sz="1050">
                <a:solidFill>
                  <a:srgbClr val="545A64"/>
                </a:solidFill>
                <a:latin typeface="Helvetica Neue"/>
                <a:ea typeface="Helvetica Neue"/>
                <a:cs typeface="Helvetica Neue"/>
              </a:defRPr>
            </a:pPr>
            <a:endParaRPr lang="en-US"/>
          </a:p>
        </c:txPr>
        <c:crossAx val="48650112"/>
        <c:crosses val="autoZero"/>
        <c:crossBetween val="between"/>
        <c:majorUnit val="20"/>
      </c:valAx>
      <c:spPr>
        <a:solidFill>
          <a:srgbClr val="FFFFFF"/>
        </a:solidFill>
      </c:spPr>
    </c:plotArea>
    <c:plotVisOnly val="1"/>
    <c:dispBlanksAs val="zero"/>
    <c:showDLblsOverMax val="1"/>
  </c:chart>
  <c:spPr>
    <a:solidFill>
      <a:srgbClr val="FFFFFF"/>
    </a:solidFill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" name="pipeline-line"/>
          <p:cNvCxnSpPr/>
          <p:nvPr/>
        </p:nvCxnSpPr>
        <p:spPr>
          <a:xfrm>
            <a:off x="571500" y="2924175"/>
            <a:ext cx="10887075" cy="286"/>
          </a:xfrm>
          <a:prstGeom prst="straightConnector1">
            <a:avLst/>
          </a:prstGeom>
          <a:ln w="19050">
            <a:solidFill>
              <a:srgbClr val="000000"/>
            </a:solidFill>
            <a:prstDash val="solid"/>
          </a:ln>
        </p:spPr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F35C8BCF-B89D-4DAB-9AD5-B9A7EAE76FDC}"/>
              </a:ext>
            </a:extLst>
          </p:cNvPr>
          <p:cNvSpPr>
            <a:spLocks noGrp="1"/>
          </p:cNvSpPr>
          <p:nvPr/>
        </p:nvSpPr>
        <p:spPr>
          <a:xfrm>
            <a:off x="571500" y="2143125"/>
            <a:ext cx="175260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D−1</a:t>
            </a:r>
          </a:p>
        </p:txBody>
      </p:sp>
      <p:sp>
        <p:nvSpPr>
          <p:cNvPr id="5" name="node-0">
            <a:extLst>
              <a:ext uri="{FF2B5EF4-FFF2-40B4-BE49-F238E27FC236}">
                <a16:creationId xmlns:a16="http://schemas.microsoft.com/office/drawing/2014/main" id="{1CAD7742-B40A-4FFD-85FC-91883BD342B6}"/>
              </a:ext>
            </a:extLst>
          </p:cNvPr>
          <p:cNvSpPr>
            <a:spLocks noGrp="1"/>
          </p:cNvSpPr>
          <p:nvPr/>
        </p:nvSpPr>
        <p:spPr>
          <a:xfrm>
            <a:off x="571500" y="2800350"/>
            <a:ext cx="247650" cy="247650"/>
          </a:xfrm>
          <a:prstGeom prst="ellipse">
            <a:avLst/>
          </a:prstGeom>
          <a:solidFill>
            <a:srgbClr val="000000"/>
          </a:solidFill>
          <a:ln w="0">
            <a:solidFill>
              <a:srgbClr val="00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70E061F-272F-4058-8CE8-ED422DBAF0D7}"/>
              </a:ext>
            </a:extLst>
          </p:cNvPr>
          <p:cNvSpPr>
            <a:spLocks noGrp="1"/>
          </p:cNvSpPr>
          <p:nvPr/>
        </p:nvSpPr>
        <p:spPr>
          <a:xfrm>
            <a:off x="571500" y="3371850"/>
            <a:ext cx="1752600" cy="361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Entrées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411D0B5-DB25-4DC5-994D-B44D64608346}"/>
              </a:ext>
            </a:extLst>
          </p:cNvPr>
          <p:cNvSpPr>
            <a:spLocks noGrp="1"/>
          </p:cNvSpPr>
          <p:nvPr/>
        </p:nvSpPr>
        <p:spPr>
          <a:xfrm>
            <a:off x="571500" y="3848100"/>
            <a:ext cx="1752600" cy="13335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275" b="0">
                <a:solidFill>
                  <a:srgbClr val="545A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45A64"/>
                </a:solidFill>
                <a:latin typeface="Helvetica Neue"/>
                <a:ea typeface="Helvetica Neue"/>
                <a:cs typeface="Helvetica Neue"/>
              </a:rPr>
              <a:t>Prix récents</a:t>
            </a:r>
          </a:p>
          <a:p>
            <a:pPr algn="l">
              <a:buNone/>
              <a:defRPr sz="1275" b="0">
                <a:solidFill>
                  <a:srgbClr val="545A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45A64"/>
                </a:solidFill>
                <a:latin typeface="Helvetica Neue"/>
                <a:ea typeface="Helvetica Neue"/>
                <a:cs typeface="Helvetica Neue"/>
              </a:rPr>
              <a:t>Calendrier</a:t>
            </a:r>
          </a:p>
          <a:p>
            <a:pPr algn="l">
              <a:buNone/>
              <a:defRPr sz="1275" b="0">
                <a:solidFill>
                  <a:srgbClr val="545A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45A64"/>
                </a:solidFill>
                <a:latin typeface="Helvetica Neue"/>
                <a:ea typeface="Helvetica Neue"/>
                <a:cs typeface="Helvetica Neue"/>
              </a:rPr>
              <a:t>Charges résiduelles</a:t>
            </a:r>
          </a:p>
          <a:p>
            <a:pPr algn="l">
              <a:buNone/>
              <a:defRPr sz="1275" b="0">
                <a:solidFill>
                  <a:srgbClr val="545A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45A64"/>
                </a:solidFill>
                <a:latin typeface="Helvetica Neue"/>
                <a:ea typeface="Helvetica Neue"/>
                <a:cs typeface="Helvetica Neue"/>
              </a:rPr>
              <a:t>FR, DE, BE, NL, ES</a:t>
            </a:r>
          </a:p>
          <a:p>
            <a:pPr algn="l">
              <a:buNone/>
              <a:defRPr sz="1275" b="0">
                <a:solidFill>
                  <a:srgbClr val="545A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45A64"/>
                </a:solidFill>
                <a:latin typeface="Helvetica Neue"/>
                <a:ea typeface="Helvetica Neue"/>
                <a:cs typeface="Helvetica Neue"/>
              </a:rPr>
              <a:t>Nucléaire FR prévu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469B013-C86B-454C-AAF6-EB0506A39480}"/>
              </a:ext>
            </a:extLst>
          </p:cNvPr>
          <p:cNvSpPr>
            <a:spLocks noGrp="1"/>
          </p:cNvSpPr>
          <p:nvPr/>
        </p:nvSpPr>
        <p:spPr>
          <a:xfrm>
            <a:off x="2438400" y="2143125"/>
            <a:ext cx="175260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BASE</a:t>
            </a:r>
          </a:p>
        </p:txBody>
      </p:sp>
      <p:sp>
        <p:nvSpPr>
          <p:cNvPr id="9" name="node-1">
            <a:extLst>
              <a:ext uri="{FF2B5EF4-FFF2-40B4-BE49-F238E27FC236}">
                <a16:creationId xmlns:a16="http://schemas.microsoft.com/office/drawing/2014/main" id="{8735B57C-9C73-4DD8-BAA0-FA51DA012AC5}"/>
              </a:ext>
            </a:extLst>
          </p:cNvPr>
          <p:cNvSpPr>
            <a:spLocks noGrp="1"/>
          </p:cNvSpPr>
          <p:nvPr/>
        </p:nvSpPr>
        <p:spPr>
          <a:xfrm>
            <a:off x="2438400" y="2800350"/>
            <a:ext cx="247650" cy="247650"/>
          </a:xfrm>
          <a:prstGeom prst="ellipse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14B5182-1A16-440B-A11B-344220DE1ABA}"/>
              </a:ext>
            </a:extLst>
          </p:cNvPr>
          <p:cNvSpPr>
            <a:spLocks noGrp="1"/>
          </p:cNvSpPr>
          <p:nvPr/>
        </p:nvSpPr>
        <p:spPr>
          <a:xfrm>
            <a:off x="2438400" y="3371850"/>
            <a:ext cx="1752600" cy="361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Chronos-2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29FE012-5EAD-4BA6-A2AA-646E4764DD27}"/>
              </a:ext>
            </a:extLst>
          </p:cNvPr>
          <p:cNvSpPr>
            <a:spLocks noGrp="1"/>
          </p:cNvSpPr>
          <p:nvPr/>
        </p:nvSpPr>
        <p:spPr>
          <a:xfrm>
            <a:off x="2438400" y="3848100"/>
            <a:ext cx="1752600" cy="1333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33363B"/>
                </a:solidFill>
                <a:latin typeface="Helvetica Neue"/>
                <a:ea typeface="Helvetica Neue"/>
                <a:cs typeface="Helvetica Neue"/>
              </a:defRPr>
            </a:pPr>
            <a:r>
              <a:t>Construit la forme
de la journée et
produit P10, P50, P90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39C7203-255C-4718-98C2-4596D99845F1}"/>
              </a:ext>
            </a:extLst>
          </p:cNvPr>
          <p:cNvSpPr>
            <a:spLocks noGrp="1"/>
          </p:cNvSpPr>
          <p:nvPr/>
        </p:nvSpPr>
        <p:spPr>
          <a:xfrm>
            <a:off x="4305300" y="2143125"/>
            <a:ext cx="175260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AJUST.</a:t>
            </a:r>
          </a:p>
        </p:txBody>
      </p:sp>
      <p:sp>
        <p:nvSpPr>
          <p:cNvPr id="13" name="node-2">
            <a:extLst>
              <a:ext uri="{FF2B5EF4-FFF2-40B4-BE49-F238E27FC236}">
                <a16:creationId xmlns:a16="http://schemas.microsoft.com/office/drawing/2014/main" id="{22E272CC-3963-43AC-8B12-EF6C4727AE9D}"/>
              </a:ext>
            </a:extLst>
          </p:cNvPr>
          <p:cNvSpPr>
            <a:spLocks noGrp="1"/>
          </p:cNvSpPr>
          <p:nvPr/>
        </p:nvSpPr>
        <p:spPr>
          <a:xfrm>
            <a:off x="4305300" y="2800350"/>
            <a:ext cx="247650" cy="247650"/>
          </a:xfrm>
          <a:prstGeom prst="ellipse">
            <a:avLst/>
          </a:prstGeom>
          <a:solidFill>
            <a:srgbClr val="6DCBF4"/>
          </a:solidFill>
          <a:ln w="0">
            <a:solidFill>
              <a:srgbClr val="6DCBF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358EAF4-0C53-4DED-92E9-97E728A0E858}"/>
              </a:ext>
            </a:extLst>
          </p:cNvPr>
          <p:cNvSpPr>
            <a:spLocks noGrp="1"/>
          </p:cNvSpPr>
          <p:nvPr/>
        </p:nvSpPr>
        <p:spPr>
          <a:xfrm>
            <a:off x="4305300" y="3371850"/>
            <a:ext cx="1752600" cy="361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Correcteur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FA2A9E2-CA39-42EA-A114-2E7411A28598}"/>
              </a:ext>
            </a:extLst>
          </p:cNvPr>
          <p:cNvSpPr>
            <a:spLocks noGrp="1"/>
          </p:cNvSpPr>
          <p:nvPr/>
        </p:nvSpPr>
        <p:spPr>
          <a:xfrm>
            <a:off x="4305300" y="3848100"/>
            <a:ext cx="1752600" cy="1333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33363B"/>
                </a:solidFill>
                <a:latin typeface="Helvetica Neue"/>
                <a:ea typeface="Helvetica Neue"/>
                <a:cs typeface="Helvetica Neue"/>
              </a:defRPr>
            </a:pPr>
            <a:r>
              <a:t>Anticipe l’erreur
récurrente et déplace
les trois quantiles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76A89EC-F143-4CA4-B2E6-7BC7EA36E95F}"/>
              </a:ext>
            </a:extLst>
          </p:cNvPr>
          <p:cNvSpPr>
            <a:spLocks noGrp="1"/>
          </p:cNvSpPr>
          <p:nvPr/>
        </p:nvSpPr>
        <p:spPr>
          <a:xfrm>
            <a:off x="8039100" y="2143125"/>
            <a:ext cx="175260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GEL</a:t>
            </a:r>
          </a:p>
        </p:txBody>
      </p:sp>
      <p:sp>
        <p:nvSpPr>
          <p:cNvPr id="17" name="node-3">
            <a:extLst>
              <a:ext uri="{FF2B5EF4-FFF2-40B4-BE49-F238E27FC236}">
                <a16:creationId xmlns:a16="http://schemas.microsoft.com/office/drawing/2014/main" id="{F43E8C3C-E908-4138-A27B-54C640160517}"/>
              </a:ext>
            </a:extLst>
          </p:cNvPr>
          <p:cNvSpPr>
            <a:spLocks noGrp="1"/>
          </p:cNvSpPr>
          <p:nvPr/>
        </p:nvSpPr>
        <p:spPr>
          <a:xfrm>
            <a:off x="8039100" y="2800350"/>
            <a:ext cx="247650" cy="247650"/>
          </a:xfrm>
          <a:prstGeom prst="ellipse">
            <a:avLst/>
          </a:prstGeom>
          <a:solidFill>
            <a:srgbClr val="000000"/>
          </a:solidFill>
          <a:ln w="0">
            <a:solidFill>
              <a:srgbClr val="00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20DE633-E0B5-48E0-9EBA-4B54914012C9}"/>
              </a:ext>
            </a:extLst>
          </p:cNvPr>
          <p:cNvSpPr>
            <a:spLocks noGrp="1"/>
          </p:cNvSpPr>
          <p:nvPr/>
        </p:nvSpPr>
        <p:spPr>
          <a:xfrm>
            <a:off x="8039100" y="3371850"/>
            <a:ext cx="1752600" cy="361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Contrôles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FC67745-7E43-49D8-893C-F0078532FBBF}"/>
              </a:ext>
            </a:extLst>
          </p:cNvPr>
          <p:cNvSpPr>
            <a:spLocks noGrp="1"/>
          </p:cNvSpPr>
          <p:nvPr/>
        </p:nvSpPr>
        <p:spPr>
          <a:xfrm>
            <a:off x="8039100" y="3848100"/>
            <a:ext cx="1752600" cy="13335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275" b="0">
                <a:solidFill>
                  <a:srgbClr val="545A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45A64"/>
                </a:solidFill>
                <a:latin typeface="Helvetica Neue"/>
                <a:ea typeface="Helvetica Neue"/>
                <a:cs typeface="Helvetica Neue"/>
              </a:rPr>
              <a:t>23, 24 ou 25 heures</a:t>
            </a:r>
          </a:p>
          <a:p>
            <a:pPr algn="l">
              <a:buNone/>
              <a:defRPr sz="1275" b="0">
                <a:solidFill>
                  <a:srgbClr val="545A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45A64"/>
                </a:solidFill>
                <a:latin typeface="Helvetica Neue"/>
                <a:ea typeface="Helvetica Neue"/>
                <a:cs typeface="Helvetica Neue"/>
              </a:rPr>
              <a:t>P10 ≤ P50 ≤ P90</a:t>
            </a:r>
          </a:p>
          <a:p>
            <a:pPr algn="l">
              <a:buNone/>
              <a:defRPr sz="1275" b="0">
                <a:solidFill>
                  <a:srgbClr val="545A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45A64"/>
                </a:solidFill>
                <a:latin typeface="Helvetica Neue"/>
                <a:ea typeface="Helvetica Neue"/>
                <a:cs typeface="Helvetica Neue"/>
              </a:rPr>
              <a:t>Absence de fuite future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1858A03-F067-4C37-822B-C016CA9D8D96}"/>
              </a:ext>
            </a:extLst>
          </p:cNvPr>
          <p:cNvSpPr>
            <a:spLocks noGrp="1"/>
          </p:cNvSpPr>
          <p:nvPr/>
        </p:nvSpPr>
        <p:spPr>
          <a:xfrm>
            <a:off x="9906000" y="2143125"/>
            <a:ext cx="175260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Résultats</a:t>
            </a:r>
          </a:p>
        </p:txBody>
      </p:sp>
      <p:sp>
        <p:nvSpPr>
          <p:cNvPr id="21" name="node-4">
            <a:extLst>
              <a:ext uri="{FF2B5EF4-FFF2-40B4-BE49-F238E27FC236}">
                <a16:creationId xmlns:a16="http://schemas.microsoft.com/office/drawing/2014/main" id="{60212B1A-1073-4272-9F68-7D33A2CC238D}"/>
              </a:ext>
            </a:extLst>
          </p:cNvPr>
          <p:cNvSpPr>
            <a:spLocks noGrp="1"/>
          </p:cNvSpPr>
          <p:nvPr/>
        </p:nvSpPr>
        <p:spPr>
          <a:xfrm>
            <a:off x="9906000" y="2800350"/>
            <a:ext cx="247650" cy="247650"/>
          </a:xfrm>
          <a:prstGeom prst="ellipse">
            <a:avLst/>
          </a:prstGeom>
          <a:solidFill>
            <a:srgbClr val="000000"/>
          </a:solidFill>
          <a:ln w="0">
            <a:solidFill>
              <a:srgbClr val="00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8303BA9-BD25-4764-BF47-020EF1D1B383}"/>
              </a:ext>
            </a:extLst>
          </p:cNvPr>
          <p:cNvSpPr>
            <a:spLocks noGrp="1"/>
          </p:cNvSpPr>
          <p:nvPr/>
        </p:nvSpPr>
        <p:spPr>
          <a:xfrm>
            <a:off x="9906000" y="3371850"/>
            <a:ext cx="1752600" cy="3619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Évaluation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ADC1D61-85F5-4FE5-BB9D-C4AE16BCAC6C}"/>
              </a:ext>
            </a:extLst>
          </p:cNvPr>
          <p:cNvSpPr>
            <a:spLocks noGrp="1"/>
          </p:cNvSpPr>
          <p:nvPr/>
        </p:nvSpPr>
        <p:spPr>
          <a:xfrm>
            <a:off x="9906000" y="3848100"/>
            <a:ext cx="1752600" cy="1333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33363B"/>
                </a:solidFill>
                <a:latin typeface="Helvetica Neue"/>
                <a:ea typeface="Helvetica Neue"/>
                <a:cs typeface="Helvetica Neue"/>
              </a:defRPr>
            </a:pPr>
            <a:r>
              <a:t>Prix réels, métriques
et comparaison à Storm
uniquement après coup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D015A58-AF8E-407C-AAB0-E88A9E2F4CC1}"/>
              </a:ext>
            </a:extLst>
          </p:cNvPr>
          <p:cNvSpPr>
            <a:spLocks noGrp="1"/>
          </p:cNvSpPr>
          <p:nvPr/>
        </p:nvSpPr>
        <p:spPr>
          <a:xfrm>
            <a:off x="6172200" y="2143125"/>
            <a:ext cx="17526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125" b="1">
                <a:solidFill>
                  <a:srgbClr val="2468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468B8"/>
                </a:solidFill>
                <a:latin typeface="Helvetica Neue"/>
                <a:ea typeface="Helvetica Neue"/>
                <a:cs typeface="Helvetica Neue"/>
              </a:rPr>
              <a:t>ADAPTATION</a:t>
            </a:r>
          </a:p>
        </p:txBody>
      </p:sp>
      <p:sp>
        <p:nvSpPr>
          <p:cNvPr id="32" name="node-kalman">
            <a:extLst>
              <a:ext uri="{FF2B5EF4-FFF2-40B4-BE49-F238E27FC236}">
                <a16:creationId xmlns:a16="http://schemas.microsoft.com/office/drawing/2014/main" id="{26F5D2BE-67F8-4495-8DF0-6B75C157A885}"/>
              </a:ext>
            </a:extLst>
          </p:cNvPr>
          <p:cNvSpPr>
            <a:spLocks noGrp="1"/>
          </p:cNvSpPr>
          <p:nvPr/>
        </p:nvSpPr>
        <p:spPr>
          <a:xfrm>
            <a:off x="6172200" y="2800350"/>
            <a:ext cx="247650" cy="247650"/>
          </a:xfrm>
          <a:prstGeom prst="ellipse">
            <a:avLst/>
          </a:prstGeom>
          <a:solidFill>
            <a:srgbClr val="2468B8"/>
          </a:solidFill>
          <a:ln w="0">
            <a:solidFill>
              <a:srgbClr val="2468B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F02C639-855C-4C79-936E-45BA648425DE}"/>
              </a:ext>
            </a:extLst>
          </p:cNvPr>
          <p:cNvSpPr>
            <a:spLocks noGrp="1"/>
          </p:cNvSpPr>
          <p:nvPr/>
        </p:nvSpPr>
        <p:spPr>
          <a:xfrm>
            <a:off x="6172200" y="3371850"/>
            <a:ext cx="17526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Kalman_filter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E3423C2-89A4-41CD-84C2-7E950F95AA5C}"/>
              </a:ext>
            </a:extLst>
          </p:cNvPr>
          <p:cNvSpPr>
            <a:spLocks noGrp="1"/>
          </p:cNvSpPr>
          <p:nvPr/>
        </p:nvSpPr>
        <p:spPr>
          <a:xfrm>
            <a:off x="6172200" y="3848100"/>
            <a:ext cx="1752600" cy="1333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75">
                <a:solidFill>
                  <a:srgbClr val="545A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45A64"/>
                </a:solidFill>
                <a:latin typeface="Helvetica Neue"/>
                <a:ea typeface="Helvetica Neue"/>
                <a:cs typeface="Helvetica Neue"/>
              </a:rPr>
              <a:t>Suit le biais récent</a:t>
            </a:r>
          </a:p>
          <a:p>
            <a:pPr>
              <a:buNone/>
              <a:defRPr sz="1275">
                <a:solidFill>
                  <a:srgbClr val="545A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45A64"/>
                </a:solidFill>
                <a:latin typeface="Helvetica Neue"/>
                <a:ea typeface="Helvetica Neue"/>
                <a:cs typeface="Helvetica Neue"/>
              </a:rPr>
              <a:t>Corrige si le gain</a:t>
            </a:r>
          </a:p>
          <a:p>
            <a:pPr>
              <a:buNone/>
              <a:defRPr sz="1275">
                <a:solidFill>
                  <a:srgbClr val="545A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45A64"/>
                </a:solidFill>
                <a:latin typeface="Helvetica Neue"/>
                <a:ea typeface="Helvetica Neue"/>
                <a:cs typeface="Helvetica Neue"/>
              </a:rPr>
              <a:t>passé est suffisant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0968F34-CD07-4B55-A4BF-F2A6FF9A1A6E}"/>
              </a:ext>
            </a:extLst>
          </p:cNvPr>
          <p:cNvSpPr>
            <a:spLocks noGrp="1"/>
          </p:cNvSpPr>
          <p:nvPr/>
        </p:nvSpPr>
        <p:spPr>
          <a:xfrm>
            <a:off x="571500" y="574357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725" b="1">
                <a:solidFill>
                  <a:srgbClr val="2468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2468B8"/>
                </a:solidFill>
                <a:latin typeface="Helvetica Neue"/>
                <a:ea typeface="Helvetica Neue"/>
                <a:cs typeface="Helvetica Neue"/>
              </a:rPr>
              <a:t>À chaque heure, le filtre de Kalman "décale" P10, P50 et P90 uniquement si cela est necessaire. </a:t>
            </a:r>
          </a:p>
        </p:txBody>
      </p:sp>
    </p:spTree>
    <p:extLst>
      <p:ext uri="{BB962C8B-B14F-4D97-AF65-F5344CB8AC3E}">
        <p14:creationId xmlns:p14="http://schemas.microsoft.com/office/powerpoint/2010/main" val="21192244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95FB4E6-77B9-44C2-A423-FA6CD477C642}"/>
              </a:ext>
            </a:extLst>
          </p:cNvPr>
          <p:cNvSpPr>
            <a:spLocks noGrp="1"/>
          </p:cNvSpPr>
          <p:nvPr/>
        </p:nvSpPr>
        <p:spPr>
          <a:xfrm>
            <a:off x="390525" y="1057275"/>
            <a:ext cx="11401425" cy="5334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00" b="0">
                <a:solidFill>
                  <a:srgbClr val="545A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45A64"/>
                </a:solidFill>
                <a:latin typeface="Helvetica Neue"/>
                <a:ea typeface="Helvetica Neue"/>
                <a:cs typeface="Helvetica Neue"/>
              </a:rPr>
              <a:t>Variante nucléaire FR : Chronos-2 fournit la base, CatBoost corrige ses erreurs, puis Kalman suit le biais récent.</a:t>
            </a:r>
          </a:p>
        </p:txBody>
      </p:sp>
      <p:sp>
        <p:nvSpPr>
          <p:cNvPr id="3" name="chronos-card">
            <a:extLst>
              <a:ext uri="{FF2B5EF4-FFF2-40B4-BE49-F238E27FC236}">
                <a16:creationId xmlns:a16="http://schemas.microsoft.com/office/drawing/2014/main" id="{771C84A8-3E39-4B61-81B5-E56E9B6623E3}"/>
              </a:ext>
            </a:extLst>
          </p:cNvPr>
          <p:cNvSpPr>
            <a:spLocks noGrp="1"/>
          </p:cNvSpPr>
          <p:nvPr/>
        </p:nvSpPr>
        <p:spPr>
          <a:xfrm>
            <a:off x="390525" y="1724025"/>
            <a:ext cx="3600450" cy="4086225"/>
          </a:xfrm>
          <a:prstGeom prst="roundRect">
            <a:avLst>
              <a:gd name="adj" fmla="val 1856"/>
            </a:avLst>
          </a:prstGeom>
          <a:solidFill>
            <a:srgbClr val="F2F2F2"/>
          </a:solidFill>
          <a:ln w="0">
            <a:solidFill>
              <a:srgbClr val="F2F2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corrector-card">
            <a:extLst>
              <a:ext uri="{FF2B5EF4-FFF2-40B4-BE49-F238E27FC236}">
                <a16:creationId xmlns:a16="http://schemas.microsoft.com/office/drawing/2014/main" id="{FDAC1C5A-6FE0-4230-9924-6388765D6478}"/>
              </a:ext>
            </a:extLst>
          </p:cNvPr>
          <p:cNvSpPr>
            <a:spLocks noGrp="1"/>
          </p:cNvSpPr>
          <p:nvPr/>
        </p:nvSpPr>
        <p:spPr>
          <a:xfrm>
            <a:off x="4286250" y="1724025"/>
            <a:ext cx="3600450" cy="4086225"/>
          </a:xfrm>
          <a:prstGeom prst="roundRect">
            <a:avLst>
              <a:gd name="adj" fmla="val 1856"/>
            </a:avLst>
          </a:prstGeom>
          <a:solidFill>
            <a:srgbClr val="F2F2F2"/>
          </a:solidFill>
          <a:ln w="0">
            <a:solidFill>
              <a:srgbClr val="F2F2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tage-one">
            <a:extLst>
              <a:ext uri="{FF2B5EF4-FFF2-40B4-BE49-F238E27FC236}">
                <a16:creationId xmlns:a16="http://schemas.microsoft.com/office/drawing/2014/main" id="{1AC672EE-A12B-4DEC-9EE3-A3F668C53005}"/>
              </a:ext>
            </a:extLst>
          </p:cNvPr>
          <p:cNvSpPr>
            <a:spLocks noGrp="1"/>
          </p:cNvSpPr>
          <p:nvPr/>
        </p:nvSpPr>
        <p:spPr>
          <a:xfrm>
            <a:off x="609600" y="2000250"/>
            <a:ext cx="304800" cy="304800"/>
          </a:xfrm>
          <a:prstGeom prst="ellipse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143A6EC-D5F1-4805-B716-C9A71CEBBEEF}"/>
              </a:ext>
            </a:extLst>
          </p:cNvPr>
          <p:cNvSpPr>
            <a:spLocks noGrp="1"/>
          </p:cNvSpPr>
          <p:nvPr/>
        </p:nvSpPr>
        <p:spPr>
          <a:xfrm>
            <a:off x="714375" y="2057400"/>
            <a:ext cx="142875" cy="2286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0A83A88-CCE1-46AF-8AFB-7468C3D91FB1}"/>
              </a:ext>
            </a:extLst>
          </p:cNvPr>
          <p:cNvSpPr>
            <a:spLocks noGrp="1"/>
          </p:cNvSpPr>
          <p:nvPr/>
        </p:nvSpPr>
        <p:spPr>
          <a:xfrm>
            <a:off x="1047750" y="1962150"/>
            <a:ext cx="2724150" cy="4572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Chronos-2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278DF05-50E5-43D6-BAED-56BA531FB5F8}"/>
              </a:ext>
            </a:extLst>
          </p:cNvPr>
          <p:cNvSpPr>
            <a:spLocks noGrp="1"/>
          </p:cNvSpPr>
          <p:nvPr/>
        </p:nvSpPr>
        <p:spPr>
          <a:xfrm>
            <a:off x="609600" y="2600325"/>
            <a:ext cx="3143250" cy="523875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Prévision de base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C1B3045-75AE-41A3-91B3-BC4894148697}"/>
              </a:ext>
            </a:extLst>
          </p:cNvPr>
          <p:cNvSpPr>
            <a:spLocks noGrp="1"/>
          </p:cNvSpPr>
          <p:nvPr/>
        </p:nvSpPr>
        <p:spPr>
          <a:xfrm>
            <a:off x="609600" y="3209925"/>
            <a:ext cx="3143250" cy="15621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Jusqu’à 2 048 h de prix passés.</a:t>
            </a:r>
          </a:p>
          <a:p>
            <a:pPr>
              <a:buNone/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endParaRPr sz="135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>
            <a:pPr algn="l">
              <a:buNone/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Calendrier, charges résiduelles</a:t>
            </a:r>
          </a:p>
          <a:p>
            <a:pPr algn="l">
              <a:buNone/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des cinq pays et nucléaire FR</a:t>
            </a:r>
          </a:p>
          <a:p>
            <a:pPr algn="l">
              <a:buNone/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prévu, en entrées connues à D−1.</a:t>
            </a:r>
          </a:p>
          <a:p>
            <a:pPr algn="l">
              <a:buNone/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endParaRPr sz="135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>
            <a:pPr algn="l">
              <a:buNone/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Produit une distribution de prix.</a:t>
            </a:r>
          </a:p>
        </p:txBody>
      </p:sp>
      <p:cxnSp>
        <p:nvCxnSpPr>
          <p:cNvPr id="72" name="quantile-rule"/>
          <p:cNvCxnSpPr/>
          <p:nvPr/>
        </p:nvCxnSpPr>
        <p:spPr>
          <a:xfrm>
            <a:off x="609600" y="4838700"/>
            <a:ext cx="3143250" cy="286"/>
          </a:xfrm>
          <a:prstGeom prst="straightConnector1">
            <a:avLst/>
          </a:prstGeom>
          <a:ln w="9525">
            <a:solidFill>
              <a:srgbClr val="B8BCC4"/>
            </a:solidFill>
            <a:prstDash val="solid"/>
          </a:ln>
        </p:spPr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71372222-2CE9-4EA9-B32C-1E5CEB651B43}"/>
              </a:ext>
            </a:extLst>
          </p:cNvPr>
          <p:cNvSpPr>
            <a:spLocks noGrp="1"/>
          </p:cNvSpPr>
          <p:nvPr/>
        </p:nvSpPr>
        <p:spPr>
          <a:xfrm>
            <a:off x="666750" y="5095875"/>
            <a:ext cx="838200" cy="2857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425" b="1">
                <a:solidFill>
                  <a:srgbClr val="3F9F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3F9FC9"/>
                </a:solidFill>
                <a:latin typeface="Helvetica Neue"/>
                <a:ea typeface="Helvetica Neue"/>
                <a:cs typeface="Helvetica Neue"/>
              </a:rPr>
              <a:t>P10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8DA79E1-8A13-49A0-8D0F-423E70350528}"/>
              </a:ext>
            </a:extLst>
          </p:cNvPr>
          <p:cNvSpPr>
            <a:spLocks noGrp="1"/>
          </p:cNvSpPr>
          <p:nvPr/>
        </p:nvSpPr>
        <p:spPr>
          <a:xfrm>
            <a:off x="1724025" y="5095875"/>
            <a:ext cx="838200" cy="2857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4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P50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8B8D01C-C14C-4C35-9CD1-AC1E9478E2AD}"/>
              </a:ext>
            </a:extLst>
          </p:cNvPr>
          <p:cNvSpPr>
            <a:spLocks noGrp="1"/>
          </p:cNvSpPr>
          <p:nvPr/>
        </p:nvSpPr>
        <p:spPr>
          <a:xfrm>
            <a:off x="2781300" y="5095875"/>
            <a:ext cx="838200" cy="2857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425" b="1">
                <a:solidFill>
                  <a:srgbClr val="3F9F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3F9FC9"/>
                </a:solidFill>
                <a:latin typeface="Helvetica Neue"/>
                <a:ea typeface="Helvetica Neue"/>
                <a:cs typeface="Helvetica Neue"/>
              </a:rPr>
              <a:t>P90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6DD204E-DCC7-4BC6-B289-01C0467ED531}"/>
              </a:ext>
            </a:extLst>
          </p:cNvPr>
          <p:cNvSpPr>
            <a:spLocks noGrp="1"/>
          </p:cNvSpPr>
          <p:nvPr/>
        </p:nvSpPr>
        <p:spPr>
          <a:xfrm>
            <a:off x="666750" y="5457825"/>
            <a:ext cx="952500" cy="238125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125" b="0">
                <a:solidFill>
                  <a:srgbClr val="545A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45A64"/>
                </a:solidFill>
                <a:latin typeface="Helvetica Neue"/>
                <a:ea typeface="Helvetica Neue"/>
                <a:cs typeface="Helvetica Neue"/>
              </a:rPr>
              <a:t>bas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E7DF7A-EBC5-4FC1-B583-A955EB9F585A}"/>
              </a:ext>
            </a:extLst>
          </p:cNvPr>
          <p:cNvSpPr>
            <a:spLocks noGrp="1"/>
          </p:cNvSpPr>
          <p:nvPr/>
        </p:nvSpPr>
        <p:spPr>
          <a:xfrm>
            <a:off x="1724025" y="5457825"/>
            <a:ext cx="952500" cy="238125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125" b="0">
                <a:solidFill>
                  <a:srgbClr val="545A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45A64"/>
                </a:solidFill>
                <a:latin typeface="Helvetica Neue"/>
                <a:ea typeface="Helvetica Neue"/>
                <a:cs typeface="Helvetica Neue"/>
              </a:rPr>
              <a:t>central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4AB16CA-53CB-42B4-B41A-E607FEFC2FB0}"/>
              </a:ext>
            </a:extLst>
          </p:cNvPr>
          <p:cNvSpPr>
            <a:spLocks noGrp="1"/>
          </p:cNvSpPr>
          <p:nvPr/>
        </p:nvSpPr>
        <p:spPr>
          <a:xfrm>
            <a:off x="2781300" y="5457825"/>
            <a:ext cx="952500" cy="238125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125" b="0">
                <a:solidFill>
                  <a:srgbClr val="545A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45A64"/>
                </a:solidFill>
                <a:latin typeface="Helvetica Neue"/>
                <a:ea typeface="Helvetica Neue"/>
                <a:cs typeface="Helvetica Neue"/>
              </a:rPr>
              <a:t>haut</a:t>
            </a:r>
          </a:p>
        </p:txBody>
      </p:sp>
      <p:sp>
        <p:nvSpPr>
          <p:cNvPr id="17" name="stage-two">
            <a:extLst>
              <a:ext uri="{FF2B5EF4-FFF2-40B4-BE49-F238E27FC236}">
                <a16:creationId xmlns:a16="http://schemas.microsoft.com/office/drawing/2014/main" id="{51F65ACF-45F4-415D-8801-CCA738B9BAA5}"/>
              </a:ext>
            </a:extLst>
          </p:cNvPr>
          <p:cNvSpPr>
            <a:spLocks noGrp="1"/>
          </p:cNvSpPr>
          <p:nvPr/>
        </p:nvSpPr>
        <p:spPr>
          <a:xfrm>
            <a:off x="4505325" y="2000250"/>
            <a:ext cx="304800" cy="304800"/>
          </a:xfrm>
          <a:prstGeom prst="ellipse">
            <a:avLst/>
          </a:prstGeom>
          <a:solidFill>
            <a:srgbClr val="6DCBF4"/>
          </a:solidFill>
          <a:ln w="0">
            <a:solidFill>
              <a:srgbClr val="6DCBF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8C42936-13D6-4489-9F21-2D6BC06FCC09}"/>
              </a:ext>
            </a:extLst>
          </p:cNvPr>
          <p:cNvSpPr>
            <a:spLocks noGrp="1"/>
          </p:cNvSpPr>
          <p:nvPr/>
        </p:nvSpPr>
        <p:spPr>
          <a:xfrm>
            <a:off x="4610100" y="2057400"/>
            <a:ext cx="142875" cy="2286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CA35411-3F66-4C6B-B6FD-55C7AF430DC5}"/>
              </a:ext>
            </a:extLst>
          </p:cNvPr>
          <p:cNvSpPr>
            <a:spLocks noGrp="1"/>
          </p:cNvSpPr>
          <p:nvPr/>
        </p:nvSpPr>
        <p:spPr>
          <a:xfrm>
            <a:off x="4943475" y="1962150"/>
            <a:ext cx="2724150" cy="4572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Correcteur résiduel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F0985D4-24B3-4B63-B434-730073134A8A}"/>
              </a:ext>
            </a:extLst>
          </p:cNvPr>
          <p:cNvSpPr>
            <a:spLocks noGrp="1"/>
          </p:cNvSpPr>
          <p:nvPr/>
        </p:nvSpPr>
        <p:spPr>
          <a:xfrm>
            <a:off x="4505325" y="2600325"/>
            <a:ext cx="3143250" cy="523875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Apprentissage des erreurs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FD6D32F-D8B1-403D-8C5C-0A064D7F99DD}"/>
              </a:ext>
            </a:extLst>
          </p:cNvPr>
          <p:cNvSpPr>
            <a:spLocks noGrp="1"/>
          </p:cNvSpPr>
          <p:nvPr/>
        </p:nvSpPr>
        <p:spPr>
          <a:xfrm>
            <a:off x="4505325" y="3209925"/>
            <a:ext cx="3143250" cy="1571625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Cible</a:t>
            </a:r>
            <a:r>
              <a:rPr sz="1350" b="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: prix </a:t>
            </a:r>
            <a:r>
              <a:rPr sz="1350" b="0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réel</a:t>
            </a:r>
            <a:r>
              <a:rPr sz="1350" b="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− P50 Chronos-2</a:t>
            </a:r>
          </a:p>
          <a:p>
            <a:pPr algn="l">
              <a:buNone/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endParaRPr sz="1350" b="0" dirty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>
            <a:pPr algn="l">
              <a:buNone/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CatBoost</a:t>
            </a:r>
            <a:r>
              <a:rPr lang="en-GB" sz="1350" b="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+ </a:t>
            </a:r>
            <a:r>
              <a:rPr lang="en-GB" sz="1350" b="0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XGBoost</a:t>
            </a:r>
            <a:r>
              <a:rPr sz="1350" b="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350" b="0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ajoute</a:t>
            </a:r>
            <a:r>
              <a:rPr lang="en-GB" sz="1350" b="0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nt</a:t>
            </a:r>
            <a:r>
              <a:rPr sz="1350" b="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des </a:t>
            </a:r>
            <a:r>
              <a:rPr sz="1350" b="0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arbres</a:t>
            </a:r>
            <a:endParaRPr sz="1350" b="0" dirty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>
            <a:pPr algn="l">
              <a:buNone/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successifs</a:t>
            </a:r>
            <a:r>
              <a:rPr sz="1350" b="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pour </a:t>
            </a:r>
            <a:r>
              <a:rPr sz="1350" b="0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réduire</a:t>
            </a:r>
            <a:r>
              <a:rPr sz="1350" b="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les </a:t>
            </a:r>
            <a:r>
              <a:rPr sz="1350" b="0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erreurs</a:t>
            </a:r>
            <a:r>
              <a:rPr sz="1350" b="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.</a:t>
            </a:r>
          </a:p>
          <a:p>
            <a:pPr algn="l">
              <a:buNone/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endParaRPr sz="1350" b="0" dirty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>
            <a:pPr algn="l">
              <a:buNone/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Réentraînement</a:t>
            </a:r>
            <a:r>
              <a:rPr sz="1350" b="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350" b="0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chaque</a:t>
            </a:r>
            <a:r>
              <a:rPr sz="1350" b="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jour</a:t>
            </a:r>
          </a:p>
          <a:p>
            <a:pPr algn="l">
              <a:buNone/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sur les 365 </a:t>
            </a:r>
            <a:r>
              <a:rPr sz="1350" b="0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jours</a:t>
            </a:r>
            <a:r>
              <a:rPr sz="1350" b="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350" b="0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précédents</a:t>
            </a:r>
            <a:r>
              <a:rPr sz="1350" b="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.</a:t>
            </a:r>
          </a:p>
        </p:txBody>
      </p:sp>
      <p:sp>
        <p:nvSpPr>
          <p:cNvPr id="22" name="blend">
            <a:extLst>
              <a:ext uri="{FF2B5EF4-FFF2-40B4-BE49-F238E27FC236}">
                <a16:creationId xmlns:a16="http://schemas.microsoft.com/office/drawing/2014/main" id="{85CD00FF-1A4F-4B14-859D-2F357EC310D8}"/>
              </a:ext>
            </a:extLst>
          </p:cNvPr>
          <p:cNvSpPr>
            <a:spLocks noGrp="1"/>
          </p:cNvSpPr>
          <p:nvPr/>
        </p:nvSpPr>
        <p:spPr>
          <a:xfrm>
            <a:off x="4505325" y="4933950"/>
            <a:ext cx="3143250" cy="723900"/>
          </a:xfrm>
          <a:prstGeom prst="roundRect">
            <a:avLst>
              <a:gd name="adj" fmla="val 13115"/>
            </a:avLst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AE13508-A8E7-438E-B246-517CBBFD2115}"/>
              </a:ext>
            </a:extLst>
          </p:cNvPr>
          <p:cNvSpPr>
            <a:spLocks noGrp="1"/>
          </p:cNvSpPr>
          <p:nvPr/>
        </p:nvSpPr>
        <p:spPr>
          <a:xfrm>
            <a:off x="4610100" y="5095875"/>
            <a:ext cx="2933700" cy="523875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350" b="1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nucléaire</a:t>
            </a:r>
            <a:endParaRPr sz="1350" b="1" dirty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>
            <a:pPr algn="ctr">
              <a:buNone/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GB" sz="1350" b="1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Ajouté</a:t>
            </a:r>
            <a:r>
              <a:rPr lang="en-GB" sz="1350" b="1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à </a:t>
            </a:r>
            <a:r>
              <a:rPr lang="en-GB" sz="1350" b="1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l’entraînement</a:t>
            </a:r>
            <a:r>
              <a:rPr lang="en-GB" sz="1350" b="1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lang="en-GB" sz="1350" b="1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ici</a:t>
            </a:r>
            <a:r>
              <a:rPr lang="en-GB" sz="1350" b="1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</a:t>
            </a:r>
            <a:endParaRPr sz="1350" b="1" dirty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CB002C3-178C-4003-813A-1EFB0145E287}"/>
              </a:ext>
            </a:extLst>
          </p:cNvPr>
          <p:cNvSpPr>
            <a:spLocks noGrp="1"/>
          </p:cNvSpPr>
          <p:nvPr/>
        </p:nvSpPr>
        <p:spPr>
          <a:xfrm>
            <a:off x="390525" y="342900"/>
            <a:ext cx="11401425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Chronos-2, correcteur résiduel et Kalman</a:t>
            </a:r>
          </a:p>
        </p:txBody>
      </p:sp>
      <p:sp>
        <p:nvSpPr>
          <p:cNvPr id="47" name="kalman-card">
            <a:extLst>
              <a:ext uri="{FF2B5EF4-FFF2-40B4-BE49-F238E27FC236}">
                <a16:creationId xmlns:a16="http://schemas.microsoft.com/office/drawing/2014/main" id="{BEC8D15B-1C98-4984-BA02-ABDC4C2CD36B}"/>
              </a:ext>
            </a:extLst>
          </p:cNvPr>
          <p:cNvSpPr>
            <a:spLocks noGrp="1"/>
          </p:cNvSpPr>
          <p:nvPr/>
        </p:nvSpPr>
        <p:spPr>
          <a:xfrm>
            <a:off x="8191500" y="1724025"/>
            <a:ext cx="3600450" cy="4086225"/>
          </a:xfrm>
          <a:prstGeom prst="roundRect">
            <a:avLst>
              <a:gd name="adj" fmla="val 2116"/>
            </a:avLst>
          </a:prstGeom>
          <a:solidFill>
            <a:srgbClr val="F2F2F2"/>
          </a:solidFill>
          <a:ln w="0">
            <a:solidFill>
              <a:srgbClr val="F2F2F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8" name="stage-three">
            <a:extLst>
              <a:ext uri="{FF2B5EF4-FFF2-40B4-BE49-F238E27FC236}">
                <a16:creationId xmlns:a16="http://schemas.microsoft.com/office/drawing/2014/main" id="{C64DBD9F-D276-4F7B-B112-CF0B587A0D6F}"/>
              </a:ext>
            </a:extLst>
          </p:cNvPr>
          <p:cNvSpPr>
            <a:spLocks noGrp="1"/>
          </p:cNvSpPr>
          <p:nvPr/>
        </p:nvSpPr>
        <p:spPr>
          <a:xfrm>
            <a:off x="8410575" y="2000250"/>
            <a:ext cx="304800" cy="304800"/>
          </a:xfrm>
          <a:prstGeom prst="ellipse">
            <a:avLst/>
          </a:prstGeom>
          <a:solidFill>
            <a:srgbClr val="2468B8"/>
          </a:solidFill>
          <a:ln w="0">
            <a:solidFill>
              <a:srgbClr val="2468B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FD10E5DB-903F-45E8-8976-6175C6A78320}"/>
              </a:ext>
            </a:extLst>
          </p:cNvPr>
          <p:cNvSpPr>
            <a:spLocks noGrp="1"/>
          </p:cNvSpPr>
          <p:nvPr/>
        </p:nvSpPr>
        <p:spPr>
          <a:xfrm>
            <a:off x="8515350" y="2057400"/>
            <a:ext cx="1428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C8FC4680-882D-4834-BD97-B1319B5957F1}"/>
              </a:ext>
            </a:extLst>
          </p:cNvPr>
          <p:cNvSpPr>
            <a:spLocks noGrp="1"/>
          </p:cNvSpPr>
          <p:nvPr/>
        </p:nvSpPr>
        <p:spPr>
          <a:xfrm>
            <a:off x="8848725" y="1962150"/>
            <a:ext cx="27241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Filtre</a:t>
            </a:r>
            <a:r>
              <a:rPr sz="2100" b="1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de Kalman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0A97143C-F629-49C7-BEA6-3F0DA3C8E5DA}"/>
              </a:ext>
            </a:extLst>
          </p:cNvPr>
          <p:cNvSpPr>
            <a:spLocks noGrp="1"/>
          </p:cNvSpPr>
          <p:nvPr/>
        </p:nvSpPr>
        <p:spPr>
          <a:xfrm>
            <a:off x="8410575" y="2600325"/>
            <a:ext cx="31432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650" b="1">
                <a:solidFill>
                  <a:srgbClr val="2468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468B8"/>
                </a:solidFill>
                <a:latin typeface="Helvetica Neue"/>
                <a:ea typeface="Helvetica Neue"/>
                <a:cs typeface="Helvetica Neue"/>
              </a:rPr>
              <a:t>Adaptation au biais récent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371D9AE8-A486-4F78-B8A5-71498F74FCE3}"/>
              </a:ext>
            </a:extLst>
          </p:cNvPr>
          <p:cNvSpPr>
            <a:spLocks noGrp="1"/>
          </p:cNvSpPr>
          <p:nvPr/>
        </p:nvSpPr>
        <p:spPr>
          <a:xfrm>
            <a:off x="8410575" y="3209925"/>
            <a:ext cx="3143250" cy="1895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Estime le </a:t>
            </a:r>
            <a:r>
              <a:rPr sz="1350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biais</a:t>
            </a:r>
            <a:r>
              <a:rPr sz="135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à </a:t>
            </a:r>
            <a:r>
              <a:rPr sz="1350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partir</a:t>
            </a:r>
            <a:r>
              <a:rPr sz="135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des </a:t>
            </a:r>
            <a:r>
              <a:rPr sz="1350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erreurs</a:t>
            </a:r>
            <a:endParaRPr sz="1350" dirty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>
            <a:pPr>
              <a:buNone/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déjà </a:t>
            </a:r>
            <a:r>
              <a:rPr sz="1350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observées</a:t>
            </a:r>
            <a:r>
              <a:rPr sz="135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.</a:t>
            </a:r>
          </a:p>
          <a:p>
            <a:endParaRPr sz="1350" dirty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>
            <a:pPr>
              <a:buNone/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Choisit</a:t>
            </a:r>
            <a:r>
              <a:rPr sz="135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le </a:t>
            </a:r>
            <a:r>
              <a:rPr sz="1350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filtre</a:t>
            </a:r>
            <a:r>
              <a:rPr sz="135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et son </a:t>
            </a:r>
            <a:r>
              <a:rPr sz="1350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poids</a:t>
            </a:r>
            <a:endParaRPr sz="1350" dirty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>
            <a:pPr>
              <a:buNone/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sur les 60 </a:t>
            </a:r>
            <a:r>
              <a:rPr sz="1350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derniers</a:t>
            </a:r>
            <a:r>
              <a:rPr sz="135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350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jours</a:t>
            </a:r>
            <a:r>
              <a:rPr sz="135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.</a:t>
            </a:r>
          </a:p>
          <a:p>
            <a:endParaRPr sz="1350" dirty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>
            <a:pPr>
              <a:buNone/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Sans gain </a:t>
            </a:r>
            <a:r>
              <a:rPr sz="1350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suffisant</a:t>
            </a:r>
            <a:r>
              <a:rPr sz="135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, conserve</a:t>
            </a:r>
          </a:p>
          <a:p>
            <a:pPr>
              <a:buNone/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la </a:t>
            </a:r>
            <a:r>
              <a:rPr sz="1350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prévision</a:t>
            </a:r>
            <a:r>
              <a:rPr sz="135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350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amont</a:t>
            </a:r>
            <a:r>
              <a:rPr sz="135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.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EB4CBE0-D470-4A71-9F76-4214D5098887}"/>
              </a:ext>
            </a:extLst>
          </p:cNvPr>
          <p:cNvSpPr>
            <a:spLocks noGrp="1"/>
          </p:cNvSpPr>
          <p:nvPr/>
        </p:nvSpPr>
        <p:spPr>
          <a:xfrm>
            <a:off x="8410575" y="5248275"/>
            <a:ext cx="314325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425" b="1">
                <a:solidFill>
                  <a:srgbClr val="2468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dirty="0" err="1">
                <a:solidFill>
                  <a:srgbClr val="2468B8"/>
                </a:solidFill>
                <a:latin typeface="Helvetica Neue"/>
                <a:ea typeface="Helvetica Neue"/>
                <a:cs typeface="Helvetica Neue"/>
              </a:rPr>
              <a:t>Même</a:t>
            </a:r>
            <a:r>
              <a:rPr sz="1425" b="1" dirty="0">
                <a:solidFill>
                  <a:srgbClr val="2468B8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425" b="1" dirty="0" err="1">
                <a:solidFill>
                  <a:srgbClr val="2468B8"/>
                </a:solidFill>
                <a:latin typeface="Helvetica Neue"/>
                <a:ea typeface="Helvetica Neue"/>
                <a:cs typeface="Helvetica Neue"/>
              </a:rPr>
              <a:t>décalage</a:t>
            </a:r>
            <a:r>
              <a:rPr sz="1425" b="1" dirty="0">
                <a:solidFill>
                  <a:srgbClr val="2468B8"/>
                </a:solidFill>
                <a:latin typeface="Helvetica Neue"/>
                <a:ea typeface="Helvetica Neue"/>
                <a:cs typeface="Helvetica Neue"/>
              </a:rPr>
              <a:t> sur</a:t>
            </a:r>
          </a:p>
          <a:p>
            <a:pPr>
              <a:buNone/>
              <a:defRPr sz="1425" b="1">
                <a:solidFill>
                  <a:srgbClr val="2468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dirty="0">
                <a:solidFill>
                  <a:srgbClr val="2468B8"/>
                </a:solidFill>
                <a:latin typeface="Helvetica Neue"/>
                <a:ea typeface="Helvetica Neue"/>
                <a:cs typeface="Helvetica Neue"/>
              </a:rPr>
              <a:t>P10, P50 et P90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FB802BF-A5A6-4046-A2CC-578F42F06AAA}"/>
              </a:ext>
            </a:extLst>
          </p:cNvPr>
          <p:cNvSpPr>
            <a:spLocks noGrp="1"/>
          </p:cNvSpPr>
          <p:nvPr/>
        </p:nvSpPr>
        <p:spPr>
          <a:xfrm>
            <a:off x="390525" y="6143625"/>
            <a:ext cx="11401425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Ex : 150 + 8 + 3 = 161 EUR/MWh</a:t>
            </a:r>
          </a:p>
        </p:txBody>
      </p:sp>
    </p:spTree>
    <p:extLst>
      <p:ext uri="{BB962C8B-B14F-4D97-AF65-F5344CB8AC3E}">
        <p14:creationId xmlns:p14="http://schemas.microsoft.com/office/powerpoint/2010/main" val="18146640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ADA08811-0CCF-4DB4-95B5-E1B4717EC723}"/>
              </a:ext>
            </a:extLst>
          </p:cNvPr>
          <p:cNvSpPr>
            <a:spLocks noGrp="1"/>
          </p:cNvSpPr>
          <p:nvPr/>
        </p:nvSpPr>
        <p:spPr>
          <a:xfrm>
            <a:off x="390525" y="342900"/>
            <a:ext cx="11401425" cy="6286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Prix moyens et comparaison à l’observé</a:t>
            </a:r>
            <a:endParaRPr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04F01F4-704A-4D0D-835D-BC42C9A43817}"/>
              </a:ext>
            </a:extLst>
          </p:cNvPr>
          <p:cNvSpPr>
            <a:spLocks noGrp="1"/>
          </p:cNvSpPr>
          <p:nvPr/>
        </p:nvSpPr>
        <p:spPr>
          <a:xfrm>
            <a:off x="390525" y="1057275"/>
            <a:ext cx="11401425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00">
                <a:solidFill>
                  <a:srgbClr val="545A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545A64"/>
                </a:solidFill>
                <a:latin typeface="Helvetica Neue"/>
                <a:ea typeface="Helvetica Neue"/>
                <a:cs typeface="Helvetica Neue"/>
              </a:rPr>
              <a:t>Exemple du 9 septembre 2026 avec Chronos-2 + nucléaire + correcteur + Kalman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B18052D-AA64-42A3-85C4-22F50B6D1A41}"/>
              </a:ext>
            </a:extLst>
          </p:cNvPr>
          <p:cNvSpPr>
            <a:spLocks noGrp="1"/>
          </p:cNvSpPr>
          <p:nvPr/>
        </p:nvSpPr>
        <p:spPr>
          <a:xfrm>
            <a:off x="390525" y="1685925"/>
            <a:ext cx="3571875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4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163,33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B1A05AF-B57F-4DD7-B76F-6ACB705C85A4}"/>
              </a:ext>
            </a:extLst>
          </p:cNvPr>
          <p:cNvSpPr>
            <a:spLocks noGrp="1"/>
          </p:cNvSpPr>
          <p:nvPr/>
        </p:nvSpPr>
        <p:spPr>
          <a:xfrm>
            <a:off x="390525" y="2343150"/>
            <a:ext cx="35718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>
                <a:solidFill>
                  <a:srgbClr val="545A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545A64"/>
                </a:solidFill>
                <a:latin typeface="Helvetica Neue"/>
                <a:ea typeface="Helvetica Neue"/>
                <a:cs typeface="Helvetica Neue"/>
              </a:rPr>
              <a:t>Prix moyen modèle P50 (EUR/MWh)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2EF569A-132F-4F55-BCA5-24AB01155B57}"/>
              </a:ext>
            </a:extLst>
          </p:cNvPr>
          <p:cNvSpPr>
            <a:spLocks noGrp="1"/>
          </p:cNvSpPr>
          <p:nvPr/>
        </p:nvSpPr>
        <p:spPr>
          <a:xfrm>
            <a:off x="4238625" y="1685925"/>
            <a:ext cx="3571875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40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147,76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DAE7D58-CC85-4152-8272-5D233A53EDCF}"/>
              </a:ext>
            </a:extLst>
          </p:cNvPr>
          <p:cNvSpPr>
            <a:spLocks noGrp="1"/>
          </p:cNvSpPr>
          <p:nvPr/>
        </p:nvSpPr>
        <p:spPr>
          <a:xfrm>
            <a:off x="4238625" y="2343150"/>
            <a:ext cx="35718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>
                <a:solidFill>
                  <a:srgbClr val="545A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545A64"/>
                </a:solidFill>
                <a:latin typeface="Helvetica Neue"/>
                <a:ea typeface="Helvetica Neue"/>
                <a:cs typeface="Helvetica Neue"/>
              </a:rPr>
              <a:t>Prix moyen Storm (EUR/MWh)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6DDD149-2586-4968-A94A-175CA1B54061}"/>
              </a:ext>
            </a:extLst>
          </p:cNvPr>
          <p:cNvSpPr>
            <a:spLocks noGrp="1"/>
          </p:cNvSpPr>
          <p:nvPr/>
        </p:nvSpPr>
        <p:spPr>
          <a:xfrm>
            <a:off x="8086725" y="1685925"/>
            <a:ext cx="3571875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4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+15,57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2B83B9B-2071-4FCA-9A29-C5C0AF2708A6}"/>
              </a:ext>
            </a:extLst>
          </p:cNvPr>
          <p:cNvSpPr>
            <a:spLocks noGrp="1"/>
          </p:cNvSpPr>
          <p:nvPr/>
        </p:nvSpPr>
        <p:spPr>
          <a:xfrm>
            <a:off x="8086725" y="2343150"/>
            <a:ext cx="35718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>
                <a:solidFill>
                  <a:srgbClr val="545A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545A64"/>
                </a:solidFill>
                <a:latin typeface="Helvetica Neue"/>
                <a:ea typeface="Helvetica Neue"/>
                <a:cs typeface="Helvetica Neue"/>
              </a:rPr>
              <a:t>Écart modèle − Storm (EUR/MWh)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FC7207F-CAEC-4135-A850-2C3876446542}"/>
              </a:ext>
            </a:extLst>
          </p:cNvPr>
          <p:cNvSpPr>
            <a:spLocks noGrp="1"/>
          </p:cNvSpPr>
          <p:nvPr/>
        </p:nvSpPr>
        <p:spPr>
          <a:xfrm>
            <a:off x="390525" y="2924175"/>
            <a:ext cx="63817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Prix moyens sur les mêmes heures</a:t>
            </a:r>
          </a:p>
        </p:txBody>
      </p:sp>
      <p:graphicFrame>
        <p:nvGraphicFramePr>
          <p:cNvPr id="49" name="Table 49"/>
          <p:cNvGraphicFramePr/>
          <p:nvPr/>
        </p:nvGraphicFramePr>
        <p:xfrm>
          <a:off x="390525" y="3352800"/>
          <a:ext cx="6419850" cy="1333500"/>
        </p:xfrm>
        <a:graphic>
          <a:graphicData uri="http://schemas.openxmlformats.org/drawingml/2006/table">
            <a:tbl>
              <a:tblPr/>
              <a:tblGrid>
                <a:gridCol w="213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45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Période</a:t>
                      </a:r>
                    </a:p>
                  </a:txBody>
                  <a:tcPr marL="47625" marR="47625" marT="47625" marB="47625"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Observé</a:t>
                      </a:r>
                    </a:p>
                  </a:txBody>
                  <a:tcPr marL="47625" marR="47625" marT="47625" marB="47625"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3D8D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Modèle</a:t>
                      </a:r>
                    </a:p>
                  </a:txBody>
                  <a:tcPr marL="47625" marR="47625" marT="47625" marB="47625"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Storm</a:t>
                      </a:r>
                    </a:p>
                  </a:txBody>
                  <a:tcPr marL="47625" marR="47625" marT="47625" marB="47625" anchor="ctr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>
                          <a:solidFill>
                            <a:srgbClr val="545A6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09/09/2026</a:t>
                      </a:r>
                    </a:p>
                  </a:txBody>
                  <a:tcPr marL="47625" marR="47625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149,47</a:t>
                      </a:r>
                    </a:p>
                  </a:txBody>
                  <a:tcPr marL="47625" marR="47625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1">
                          <a:solidFill>
                            <a:srgbClr val="3D8D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163,33</a:t>
                      </a:r>
                    </a:p>
                  </a:txBody>
                  <a:tcPr marL="47625" marR="47625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147,76</a:t>
                      </a:r>
                    </a:p>
                  </a:txBody>
                  <a:tcPr marL="47625" marR="47625" marT="47625" marB="476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>
                          <a:solidFill>
                            <a:srgbClr val="545A6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365 jours¹</a:t>
                      </a:r>
                    </a:p>
                  </a:txBody>
                  <a:tcPr marL="47625" marR="47625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69,95</a:t>
                      </a:r>
                    </a:p>
                  </a:txBody>
                  <a:tcPr marL="47625" marR="47625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1">
                          <a:solidFill>
                            <a:srgbClr val="3D8D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69,98</a:t>
                      </a:r>
                    </a:p>
                  </a:txBody>
                  <a:tcPr marL="47625" marR="47625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68,12</a:t>
                      </a:r>
                    </a:p>
                  </a:txBody>
                  <a:tcPr marL="47625" marR="47625" marT="47625" marB="476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3" name="Rectangle 32">
            <a:extLst>
              <a:ext uri="{FF2B5EF4-FFF2-40B4-BE49-F238E27FC236}">
                <a16:creationId xmlns:a16="http://schemas.microsoft.com/office/drawing/2014/main" id="{1C418A60-C0F5-4893-BC07-D083995EED3E}"/>
              </a:ext>
            </a:extLst>
          </p:cNvPr>
          <p:cNvSpPr>
            <a:spLocks noGrp="1"/>
          </p:cNvSpPr>
          <p:nvPr/>
        </p:nvSpPr>
        <p:spPr>
          <a:xfrm>
            <a:off x="7210425" y="2924175"/>
            <a:ext cx="458152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Calendrier des écarts quotidiens</a:t>
            </a:r>
          </a:p>
        </p:txBody>
      </p:sp>
      <p:graphicFrame>
        <p:nvGraphicFramePr>
          <p:cNvPr id="51" name="Table 51"/>
          <p:cNvGraphicFramePr/>
          <p:nvPr/>
        </p:nvGraphicFramePr>
        <p:xfrm>
          <a:off x="7210425" y="3352800"/>
          <a:ext cx="4581528" cy="971550"/>
        </p:xfrm>
        <a:graphic>
          <a:graphicData uri="http://schemas.openxmlformats.org/drawingml/2006/table">
            <a:tbl>
              <a:tblPr/>
              <a:tblGrid>
                <a:gridCol w="6545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45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45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45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45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450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450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857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>
                          <a:solidFill>
                            <a:srgbClr val="545A6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03/09</a:t>
                      </a:r>
                    </a:p>
                  </a:txBody>
                  <a:tcPr marL="47625" marR="47625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>
                          <a:solidFill>
                            <a:srgbClr val="545A6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04/09</a:t>
                      </a:r>
                    </a:p>
                  </a:txBody>
                  <a:tcPr marL="47625" marR="47625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>
                          <a:solidFill>
                            <a:srgbClr val="545A6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05/09</a:t>
                      </a:r>
                    </a:p>
                  </a:txBody>
                  <a:tcPr marL="47625" marR="47625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>
                          <a:solidFill>
                            <a:srgbClr val="545A6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06/09</a:t>
                      </a:r>
                    </a:p>
                  </a:txBody>
                  <a:tcPr marL="47625" marR="47625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>
                          <a:solidFill>
                            <a:srgbClr val="545A6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07/09</a:t>
                      </a:r>
                    </a:p>
                  </a:txBody>
                  <a:tcPr marL="47625" marR="47625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>
                          <a:solidFill>
                            <a:srgbClr val="545A6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08/09</a:t>
                      </a:r>
                    </a:p>
                  </a:txBody>
                  <a:tcPr marL="47625" marR="47625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>
                          <a:solidFill>
                            <a:srgbClr val="545A6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09/09</a:t>
                      </a:r>
                    </a:p>
                  </a:txBody>
                  <a:tcPr marL="47625" marR="47625" marT="47625" marB="476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57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1" dirty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3,9</a:t>
                      </a:r>
                    </a:p>
                  </a:txBody>
                  <a:tcPr marL="47625" marR="47625" marT="47625" marB="47625" anchor="ctr">
                    <a:solidFill>
                      <a:srgbClr val="F5D7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15,9</a:t>
                      </a:r>
                    </a:p>
                  </a:txBody>
                  <a:tcPr marL="47625" marR="47625" marT="47625" marB="47625" anchor="ctr">
                    <a:solidFill>
                      <a:srgbClr val="D67F8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25,7</a:t>
                      </a:r>
                    </a:p>
                  </a:txBody>
                  <a:tcPr marL="47625" marR="47625" marT="47625" marB="47625" anchor="ctr">
                    <a:solidFill>
                      <a:srgbClr val="BD37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1,2</a:t>
                      </a:r>
                    </a:p>
                  </a:txBody>
                  <a:tcPr marL="47625" marR="47625" marT="47625" marB="47625" anchor="ctr">
                    <a:solidFill>
                      <a:srgbClr val="FCEB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12,9</a:t>
                      </a:r>
                    </a:p>
                  </a:txBody>
                  <a:tcPr marL="47625" marR="47625" marT="47625" marB="47625" anchor="ctr">
                    <a:solidFill>
                      <a:srgbClr val="DE969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15,6</a:t>
                      </a:r>
                    </a:p>
                  </a:txBody>
                  <a:tcPr marL="47625" marR="47625" marT="47625" marB="47625" anchor="ctr">
                    <a:solidFill>
                      <a:srgbClr val="D7828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1" dirty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13,9</a:t>
                      </a:r>
                    </a:p>
                  </a:txBody>
                  <a:tcPr marL="47625" marR="47625" marT="47625" marB="47625" anchor="ctr">
                    <a:solidFill>
                      <a:srgbClr val="DB8E9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6" name="Rectangle 35">
            <a:extLst>
              <a:ext uri="{FF2B5EF4-FFF2-40B4-BE49-F238E27FC236}">
                <a16:creationId xmlns:a16="http://schemas.microsoft.com/office/drawing/2014/main" id="{2FB356F7-AFC3-4309-B5F6-98C199558BEB}"/>
              </a:ext>
            </a:extLst>
          </p:cNvPr>
          <p:cNvSpPr>
            <a:spLocks noGrp="1"/>
          </p:cNvSpPr>
          <p:nvPr/>
        </p:nvSpPr>
        <p:spPr>
          <a:xfrm>
            <a:off x="390525" y="4848225"/>
            <a:ext cx="641985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Le 09/09 : écart absolu de 13,86 pour le modèle,</a:t>
            </a:r>
          </a:p>
          <a:p>
            <a:pPr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contre 1,72 pour Storm (EUR/MWh).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01B08AC-C501-4EB5-8C8F-528009F98BC2}"/>
              </a:ext>
            </a:extLst>
          </p:cNvPr>
          <p:cNvSpPr>
            <a:spLocks noGrp="1"/>
          </p:cNvSpPr>
          <p:nvPr/>
        </p:nvSpPr>
        <p:spPr>
          <a:xfrm>
            <a:off x="390525" y="5648325"/>
            <a:ext cx="11401425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75">
                <a:solidFill>
                  <a:srgbClr val="545A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545A64"/>
                </a:solidFill>
                <a:latin typeface="Helvetica Neue"/>
                <a:ea typeface="Helvetica Neue"/>
                <a:cs typeface="Helvetica Neue"/>
              </a:rPr>
              <a:t>Un prix moyen proche peut masquer des erreurs horaires qui se compensent ! </a:t>
            </a:r>
          </a:p>
        </p:txBody>
      </p:sp>
    </p:spTree>
    <p:extLst>
      <p:ext uri="{BB962C8B-B14F-4D97-AF65-F5344CB8AC3E}">
        <p14:creationId xmlns:p14="http://schemas.microsoft.com/office/powerpoint/2010/main" val="19196696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ADA08811-0CCF-4DB4-95B5-E1B4717EC723}"/>
              </a:ext>
            </a:extLst>
          </p:cNvPr>
          <p:cNvSpPr>
            <a:spLocks noGrp="1"/>
          </p:cNvSpPr>
          <p:nvPr/>
        </p:nvSpPr>
        <p:spPr>
          <a:xfrm>
            <a:off x="390525" y="342900"/>
            <a:ext cx="11401425" cy="6286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Performance par heure locale</a:t>
            </a:r>
            <a:endParaRPr/>
          </a:p>
        </p:txBody>
      </p:sp>
      <p:graphicFrame>
        <p:nvGraphicFramePr>
          <p:cNvPr id="34" name="Chart"/>
          <p:cNvGraphicFramePr/>
          <p:nvPr/>
        </p:nvGraphicFramePr>
        <p:xfrm>
          <a:off x="390525" y="1733550"/>
          <a:ext cx="5543550" cy="3333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5" name="Chart"/>
          <p:cNvGraphicFramePr/>
          <p:nvPr/>
        </p:nvGraphicFramePr>
        <p:xfrm>
          <a:off x="6257925" y="1733550"/>
          <a:ext cx="5534025" cy="3333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7" name="Rectangle 26">
            <a:extLst>
              <a:ext uri="{FF2B5EF4-FFF2-40B4-BE49-F238E27FC236}">
                <a16:creationId xmlns:a16="http://schemas.microsoft.com/office/drawing/2014/main" id="{0643AAF6-0527-4610-A969-4CEDCD08F759}"/>
              </a:ext>
            </a:extLst>
          </p:cNvPr>
          <p:cNvSpPr>
            <a:spLocks noGrp="1"/>
          </p:cNvSpPr>
          <p:nvPr/>
        </p:nvSpPr>
        <p:spPr>
          <a:xfrm>
            <a:off x="390525" y="5305425"/>
            <a:ext cx="55435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À 00 h, la MAE du modèle atteint 9,85,</a:t>
            </a:r>
          </a:p>
          <a:p>
            <a:pPr>
              <a:buNone/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contre 11,69 pour Storm.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575804D-E051-449F-B707-CE15B8FF3D0F}"/>
              </a:ext>
            </a:extLst>
          </p:cNvPr>
          <p:cNvSpPr>
            <a:spLocks noGrp="1"/>
          </p:cNvSpPr>
          <p:nvPr/>
        </p:nvSpPr>
        <p:spPr>
          <a:xfrm>
            <a:off x="6257925" y="5305425"/>
            <a:ext cx="5534025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À 12 h, elle atteint 12,04,</a:t>
            </a:r>
          </a:p>
          <a:p>
            <a:pPr>
              <a:buNone/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contre 10,71 pour Storm.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C4982E6-1F78-43F5-9BDA-E54781CB5EF2}"/>
              </a:ext>
            </a:extLst>
          </p:cNvPr>
          <p:cNvSpPr>
            <a:spLocks noGrp="1"/>
          </p:cNvSpPr>
          <p:nvPr/>
        </p:nvSpPr>
        <p:spPr>
          <a:xfrm>
            <a:off x="390525" y="6010275"/>
            <a:ext cx="1140142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00">
                <a:solidFill>
                  <a:srgbClr val="545A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545A64"/>
                </a:solidFill>
                <a:latin typeface="Helvetica Neue"/>
                <a:ea typeface="Helvetica Neue"/>
                <a:cs typeface="Helvetica Neue"/>
              </a:rPr>
              <a:t>La MAE mesure la taille de l’erreur. Le biais signé indique la tendance à surestimer ou sous-estimer.</a:t>
            </a:r>
          </a:p>
        </p:txBody>
      </p:sp>
    </p:spTree>
    <p:extLst>
      <p:ext uri="{BB962C8B-B14F-4D97-AF65-F5344CB8AC3E}">
        <p14:creationId xmlns:p14="http://schemas.microsoft.com/office/powerpoint/2010/main" val="19196696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ADA08811-0CCF-4DB4-95B5-E1B4717EC723}"/>
              </a:ext>
            </a:extLst>
          </p:cNvPr>
          <p:cNvSpPr>
            <a:spLocks noGrp="1"/>
          </p:cNvSpPr>
          <p:nvPr/>
        </p:nvSpPr>
        <p:spPr>
          <a:xfrm>
            <a:off x="390525" y="342900"/>
            <a:ext cx="11401425" cy="6286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Influence des variables dans la </a:t>
            </a:r>
            <a:r>
              <a:rPr sz="2925" b="1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prévision</a:t>
            </a:r>
            <a:endParaRPr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758A0DB-3D23-48ED-8EB4-D03A7F3E022E}"/>
              </a:ext>
            </a:extLst>
          </p:cNvPr>
          <p:cNvSpPr>
            <a:spLocks noGrp="1"/>
          </p:cNvSpPr>
          <p:nvPr/>
        </p:nvSpPr>
        <p:spPr>
          <a:xfrm>
            <a:off x="390525" y="1057275"/>
            <a:ext cx="11401425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00">
                <a:solidFill>
                  <a:srgbClr val="545A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dirty="0">
                <a:solidFill>
                  <a:srgbClr val="545A64"/>
                </a:solidFill>
                <a:latin typeface="Helvetica Neue"/>
                <a:ea typeface="Helvetica Neue"/>
                <a:cs typeface="Helvetica Neue"/>
              </a:rPr>
              <a:t>Shapley </a:t>
            </a:r>
            <a:r>
              <a:rPr sz="1500" dirty="0" err="1">
                <a:solidFill>
                  <a:srgbClr val="545A64"/>
                </a:solidFill>
                <a:latin typeface="Helvetica Neue"/>
                <a:ea typeface="Helvetica Neue"/>
                <a:cs typeface="Helvetica Neue"/>
              </a:rPr>
              <a:t>groupé</a:t>
            </a:r>
            <a:r>
              <a:rPr sz="1500" dirty="0">
                <a:solidFill>
                  <a:srgbClr val="545A64"/>
                </a:solidFill>
                <a:latin typeface="Helvetica Neue"/>
                <a:ea typeface="Helvetica Neue"/>
                <a:cs typeface="Helvetica Neue"/>
              </a:rPr>
              <a:t> sur Chronos-2 + </a:t>
            </a:r>
            <a:r>
              <a:rPr sz="1500" dirty="0" err="1">
                <a:solidFill>
                  <a:srgbClr val="545A64"/>
                </a:solidFill>
                <a:latin typeface="Helvetica Neue"/>
                <a:ea typeface="Helvetica Neue"/>
                <a:cs typeface="Helvetica Neue"/>
              </a:rPr>
              <a:t>nucléaire</a:t>
            </a:r>
            <a:r>
              <a:rPr sz="1500" dirty="0">
                <a:solidFill>
                  <a:srgbClr val="545A64"/>
                </a:solidFill>
                <a:latin typeface="Helvetica Neue"/>
                <a:ea typeface="Helvetica Neue"/>
                <a:cs typeface="Helvetica Neue"/>
              </a:rPr>
              <a:t> + </a:t>
            </a:r>
            <a:r>
              <a:rPr sz="1500" dirty="0" err="1">
                <a:solidFill>
                  <a:srgbClr val="545A64"/>
                </a:solidFill>
                <a:latin typeface="Helvetica Neue"/>
                <a:ea typeface="Helvetica Neue"/>
                <a:cs typeface="Helvetica Neue"/>
              </a:rPr>
              <a:t>correcteur</a:t>
            </a:r>
            <a:r>
              <a:rPr sz="1500" dirty="0">
                <a:solidFill>
                  <a:srgbClr val="545A64"/>
                </a:solidFill>
                <a:latin typeface="Helvetica Neue"/>
                <a:ea typeface="Helvetica Neue"/>
                <a:cs typeface="Helvetica Neue"/>
              </a:rPr>
              <a:t>, avant </a:t>
            </a:r>
            <a:r>
              <a:rPr sz="1500" dirty="0" err="1">
                <a:solidFill>
                  <a:srgbClr val="545A64"/>
                </a:solidFill>
                <a:latin typeface="Helvetica Neue"/>
                <a:ea typeface="Helvetica Neue"/>
                <a:cs typeface="Helvetica Neue"/>
              </a:rPr>
              <a:t>l’application</a:t>
            </a:r>
            <a:r>
              <a:rPr sz="1500" dirty="0">
                <a:solidFill>
                  <a:srgbClr val="545A64"/>
                </a:solidFill>
                <a:latin typeface="Helvetica Neue"/>
                <a:ea typeface="Helvetica Neue"/>
                <a:cs typeface="Helvetica Neue"/>
              </a:rPr>
              <a:t> de Kalman</a:t>
            </a:r>
          </a:p>
        </p:txBody>
      </p:sp>
      <p:graphicFrame>
        <p:nvGraphicFramePr>
          <p:cNvPr id="38" name="Chart"/>
          <p:cNvGraphicFramePr/>
          <p:nvPr/>
        </p:nvGraphicFramePr>
        <p:xfrm>
          <a:off x="390525" y="1685925"/>
          <a:ext cx="5276850" cy="33147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6" name="Rectangle 25">
            <a:extLst>
              <a:ext uri="{FF2B5EF4-FFF2-40B4-BE49-F238E27FC236}">
                <a16:creationId xmlns:a16="http://schemas.microsoft.com/office/drawing/2014/main" id="{A2CF852F-BB5F-43B6-9940-81D2A6689D21}"/>
              </a:ext>
            </a:extLst>
          </p:cNvPr>
          <p:cNvSpPr>
            <a:spLocks noGrp="1"/>
          </p:cNvSpPr>
          <p:nvPr/>
        </p:nvSpPr>
        <p:spPr>
          <a:xfrm>
            <a:off x="5962650" y="1714500"/>
            <a:ext cx="5829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Contributions par heure (EUR/MWh)</a:t>
            </a:r>
          </a:p>
        </p:txBody>
      </p:sp>
      <p:graphicFrame>
        <p:nvGraphicFramePr>
          <p:cNvPr id="40" name="Table 40"/>
          <p:cNvGraphicFramePr/>
          <p:nvPr/>
        </p:nvGraphicFramePr>
        <p:xfrm>
          <a:off x="5962650" y="2155507"/>
          <a:ext cx="5829300" cy="2861310"/>
        </p:xfrm>
        <a:graphic>
          <a:graphicData uri="http://schemas.openxmlformats.org/drawingml/2006/table">
            <a:tbl>
              <a:tblPr/>
              <a:tblGrid>
                <a:gridCol w="1485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Heure locale</a:t>
                      </a:r>
                    </a:p>
                  </a:txBody>
                  <a:tcPr marL="47625" marR="47625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25">
                          <a:solidFill>
                            <a:srgbClr val="545A6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25">
                          <a:solidFill>
                            <a:srgbClr val="545A6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25">
                          <a:solidFill>
                            <a:srgbClr val="545A6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25">
                          <a:solidFill>
                            <a:srgbClr val="545A6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25">
                          <a:solidFill>
                            <a:srgbClr val="545A6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12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25">
                          <a:solidFill>
                            <a:srgbClr val="545A6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15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25">
                          <a:solidFill>
                            <a:srgbClr val="545A6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18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25">
                          <a:solidFill>
                            <a:srgbClr val="545A6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21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25">
                          <a:solidFill>
                            <a:srgbClr val="545A6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23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Prix passés</a:t>
                      </a:r>
                    </a:p>
                  </a:txBody>
                  <a:tcPr marL="47625" marR="47625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19E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7B69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ACBB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8BD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4A88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EB907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AF17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910D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6700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7D07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80082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B118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D156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EC937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BD1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EF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E5EF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6B29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D864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E98C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D55D4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6B19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DD8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6B1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Charge résid. DE</a:t>
                      </a:r>
                    </a:p>
                  </a:txBody>
                  <a:tcPr marL="47625" marR="47625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6F6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EF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EF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7F6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8F1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9EB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CE0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6B19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EB907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E5826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EA8F7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5AB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DDDC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9ED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EF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Charge résid. FR</a:t>
                      </a:r>
                    </a:p>
                  </a:txBody>
                  <a:tcPr marL="47625" marR="47625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7F6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8F2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EF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8F3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8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8F3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9EF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9ECE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CE0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CD8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6B19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6B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8BB9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9C2A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DD9C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AE8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AEB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9EF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9EF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8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8F4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7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dirty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Charge </a:t>
                      </a:r>
                      <a:r>
                        <a:rPr sz="1050" dirty="0" err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résid</a:t>
                      </a:r>
                      <a:r>
                        <a:rPr sz="1050" dirty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. ES</a:t>
                      </a:r>
                    </a:p>
                  </a:txBody>
                  <a:tcPr marL="47625" marR="47625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EBF1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EBF1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EBF1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EBF1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E5EF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E7EF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EC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EBF1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EC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EB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EBF1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EC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ED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Charge résid. BE</a:t>
                      </a:r>
                    </a:p>
                  </a:txBody>
                  <a:tcPr marL="47625" marR="47625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EC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6F6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EBF1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EC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6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7F6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8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8F3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8F3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9EE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AEB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AE9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AEA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AE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AE9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Charge résid. NL</a:t>
                      </a:r>
                    </a:p>
                  </a:txBody>
                  <a:tcPr marL="47625" marR="47625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6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6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6F6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7F6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7F5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8F4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7F5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7F5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8F1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9F0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9EF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8F1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6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dirty="0"/>
                    </a:p>
                  </a:txBody>
                  <a:tcPr marL="47625" marR="47625" marT="47625" marB="47625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5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Nucléaire FR</a:t>
                      </a:r>
                    </a:p>
                  </a:txBody>
                  <a:tcPr marL="47625" marR="47625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6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6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6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6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7F6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6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6F6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dirty="0"/>
                    </a:p>
                  </a:txBody>
                  <a:tcPr marL="47625" marR="47625" marT="47625" marB="47625" anchor="ctr">
                    <a:solidFill>
                      <a:srgbClr val="F6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8" name="Rectangle 27">
            <a:extLst>
              <a:ext uri="{FF2B5EF4-FFF2-40B4-BE49-F238E27FC236}">
                <a16:creationId xmlns:a16="http://schemas.microsoft.com/office/drawing/2014/main" id="{9725574E-CFCA-4B84-A93A-F5FE70446BED}"/>
              </a:ext>
            </a:extLst>
          </p:cNvPr>
          <p:cNvSpPr>
            <a:spLocks noGrp="1"/>
          </p:cNvSpPr>
          <p:nvPr/>
        </p:nvSpPr>
        <p:spPr>
          <a:xfrm>
            <a:off x="7423150" y="5114925"/>
            <a:ext cx="21907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00">
                <a:solidFill>
                  <a:srgbClr val="2166A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dirty="0">
                <a:solidFill>
                  <a:srgbClr val="2166AC"/>
                </a:solidFill>
                <a:latin typeface="Helvetica Neue"/>
                <a:ea typeface="Helvetica Neue"/>
                <a:cs typeface="Helvetica Neue"/>
              </a:rPr>
              <a:t>Bleu : </a:t>
            </a:r>
            <a:r>
              <a:rPr sz="1200" dirty="0" err="1">
                <a:solidFill>
                  <a:srgbClr val="2166AC"/>
                </a:solidFill>
                <a:latin typeface="Helvetica Neue"/>
                <a:ea typeface="Helvetica Neue"/>
                <a:cs typeface="Helvetica Neue"/>
              </a:rPr>
              <a:t>baisse</a:t>
            </a:r>
            <a:r>
              <a:rPr sz="1200" dirty="0">
                <a:solidFill>
                  <a:srgbClr val="2166AC"/>
                </a:solidFill>
                <a:latin typeface="Helvetica Neue"/>
                <a:ea typeface="Helvetica Neue"/>
                <a:cs typeface="Helvetica Neue"/>
              </a:rPr>
              <a:t> de la P50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B61B72B-20E0-4B73-9EF9-0AD1F066CB6F}"/>
              </a:ext>
            </a:extLst>
          </p:cNvPr>
          <p:cNvSpPr>
            <a:spLocks noGrp="1"/>
          </p:cNvSpPr>
          <p:nvPr/>
        </p:nvSpPr>
        <p:spPr>
          <a:xfrm>
            <a:off x="9645650" y="5114924"/>
            <a:ext cx="21145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00">
                <a:solidFill>
                  <a:srgbClr val="B218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dirty="0">
                <a:solidFill>
                  <a:srgbClr val="B2182B"/>
                </a:solidFill>
                <a:latin typeface="Helvetica Neue"/>
                <a:ea typeface="Helvetica Neue"/>
                <a:cs typeface="Helvetica Neue"/>
              </a:rPr>
              <a:t>Rouge : </a:t>
            </a:r>
            <a:r>
              <a:rPr sz="1200" dirty="0" err="1">
                <a:solidFill>
                  <a:srgbClr val="B2182B"/>
                </a:solidFill>
                <a:latin typeface="Helvetica Neue"/>
                <a:ea typeface="Helvetica Neue"/>
                <a:cs typeface="Helvetica Neue"/>
              </a:rPr>
              <a:t>hausse</a:t>
            </a:r>
            <a:r>
              <a:rPr sz="1200" dirty="0">
                <a:solidFill>
                  <a:srgbClr val="B2182B"/>
                </a:solidFill>
                <a:latin typeface="Helvetica Neue"/>
                <a:ea typeface="Helvetica Neue"/>
                <a:cs typeface="Helvetica Neue"/>
              </a:rPr>
              <a:t> de la P50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8452658-B0D7-4313-977A-1B12D6F1B215}"/>
              </a:ext>
            </a:extLst>
          </p:cNvPr>
          <p:cNvSpPr>
            <a:spLocks noGrp="1"/>
          </p:cNvSpPr>
          <p:nvPr/>
        </p:nvSpPr>
        <p:spPr>
          <a:xfrm>
            <a:off x="390525" y="5286375"/>
            <a:ext cx="11401425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5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dirty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136,24 + 27,09 = 163,33 EUR/MWh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C52E502-F708-4B43-9D6F-5A5470A49C60}"/>
              </a:ext>
            </a:extLst>
          </p:cNvPr>
          <p:cNvSpPr>
            <a:spLocks noGrp="1"/>
          </p:cNvSpPr>
          <p:nvPr/>
        </p:nvSpPr>
        <p:spPr>
          <a:xfrm>
            <a:off x="390525" y="5838825"/>
            <a:ext cx="1140142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425">
                <a:solidFill>
                  <a:srgbClr val="545A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dirty="0">
                <a:solidFill>
                  <a:srgbClr val="545A64"/>
                </a:solidFill>
                <a:latin typeface="Helvetica Neue"/>
                <a:ea typeface="Helvetica Neue"/>
                <a:cs typeface="Helvetica Neue"/>
              </a:rPr>
              <a:t>Les % </a:t>
            </a:r>
            <a:r>
              <a:rPr sz="1425" dirty="0" err="1">
                <a:solidFill>
                  <a:srgbClr val="545A64"/>
                </a:solidFill>
                <a:latin typeface="Helvetica Neue"/>
                <a:ea typeface="Helvetica Neue"/>
                <a:cs typeface="Helvetica Neue"/>
              </a:rPr>
              <a:t>répartissent</a:t>
            </a:r>
            <a:r>
              <a:rPr sz="1425" dirty="0">
                <a:solidFill>
                  <a:srgbClr val="545A64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425" dirty="0" err="1">
                <a:solidFill>
                  <a:srgbClr val="545A64"/>
                </a:solidFill>
                <a:latin typeface="Helvetica Neue"/>
                <a:ea typeface="Helvetica Neue"/>
                <a:cs typeface="Helvetica Neue"/>
              </a:rPr>
              <a:t>l’influence</a:t>
            </a:r>
            <a:r>
              <a:rPr sz="1425" dirty="0">
                <a:solidFill>
                  <a:srgbClr val="545A64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425" dirty="0" err="1">
                <a:solidFill>
                  <a:srgbClr val="545A64"/>
                </a:solidFill>
                <a:latin typeface="Helvetica Neue"/>
                <a:ea typeface="Helvetica Neue"/>
                <a:cs typeface="Helvetica Neue"/>
              </a:rPr>
              <a:t>absolue</a:t>
            </a:r>
            <a:r>
              <a:rPr sz="1425" dirty="0">
                <a:solidFill>
                  <a:srgbClr val="545A64"/>
                </a:solidFill>
                <a:latin typeface="Helvetica Neue"/>
                <a:ea typeface="Helvetica Neue"/>
                <a:cs typeface="Helvetica Neue"/>
              </a:rPr>
              <a:t>. La carte montre le </a:t>
            </a:r>
            <a:r>
              <a:rPr sz="1425" dirty="0" err="1">
                <a:solidFill>
                  <a:srgbClr val="545A64"/>
                </a:solidFill>
                <a:latin typeface="Helvetica Neue"/>
                <a:ea typeface="Helvetica Neue"/>
                <a:cs typeface="Helvetica Neue"/>
              </a:rPr>
              <a:t>sens</a:t>
            </a:r>
            <a:r>
              <a:rPr sz="1425" dirty="0">
                <a:solidFill>
                  <a:srgbClr val="545A64"/>
                </a:solidFill>
                <a:latin typeface="Helvetica Neue"/>
                <a:ea typeface="Helvetica Neue"/>
                <a:cs typeface="Helvetica Neue"/>
              </a:rPr>
              <a:t> et </a:t>
            </a:r>
            <a:r>
              <a:rPr sz="1425" dirty="0" err="1">
                <a:solidFill>
                  <a:srgbClr val="545A64"/>
                </a:solidFill>
                <a:latin typeface="Helvetica Neue"/>
                <a:ea typeface="Helvetica Neue"/>
                <a:cs typeface="Helvetica Neue"/>
              </a:rPr>
              <a:t>l’intensité</a:t>
            </a:r>
            <a:r>
              <a:rPr sz="1425" dirty="0">
                <a:solidFill>
                  <a:srgbClr val="545A64"/>
                </a:solidFill>
                <a:latin typeface="Helvetica Neue"/>
                <a:ea typeface="Helvetica Neue"/>
                <a:cs typeface="Helvetica Neue"/>
              </a:rPr>
              <a:t> de </a:t>
            </a:r>
            <a:r>
              <a:rPr sz="1425" dirty="0" err="1">
                <a:solidFill>
                  <a:srgbClr val="545A64"/>
                </a:solidFill>
                <a:latin typeface="Helvetica Neue"/>
                <a:ea typeface="Helvetica Neue"/>
                <a:cs typeface="Helvetica Neue"/>
              </a:rPr>
              <a:t>chaque</a:t>
            </a:r>
            <a:r>
              <a:rPr sz="1425" dirty="0">
                <a:solidFill>
                  <a:srgbClr val="545A64"/>
                </a:solidFill>
                <a:latin typeface="Helvetica Neue"/>
                <a:ea typeface="Helvetica Neue"/>
                <a:cs typeface="Helvetica Neue"/>
              </a:rPr>
              <a:t> contribution.</a:t>
            </a:r>
          </a:p>
        </p:txBody>
      </p:sp>
    </p:spTree>
    <p:extLst>
      <p:ext uri="{BB962C8B-B14F-4D97-AF65-F5344CB8AC3E}">
        <p14:creationId xmlns:p14="http://schemas.microsoft.com/office/powerpoint/2010/main" val="191966966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0a9b9e15-83d2-4075-9282-a04e05c6580a}" enabled="1" method="Standard" siteId="{24139d14-c62c-4c47-8bdd-ce71ea1d50cf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584</Words>
  <Application>Microsoft Office PowerPoint</Application>
  <DocSecurity>0</DocSecurity>
  <PresentationFormat>Widescreen</PresentationFormat>
  <Paragraphs>143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Calibri</vt:lpstr>
      <vt:lpstr>Helvetica Neue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KESRAOUI Yoan (ENGIE Global Markets SAS)</cp:lastModifiedBy>
  <cp:revision>6</cp:revision>
  <dcterms:created xsi:type="dcterms:W3CDTF">2026-09-09T07:04:44Z</dcterms:created>
  <dcterms:modified xsi:type="dcterms:W3CDTF">2026-09-09T12:40:22Z</dcterms:modified>
</cp:coreProperties>
</file>