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ba7b599a3cd4ba7" /><Relationship Type="http://schemas.openxmlformats.org/officeDocument/2006/relationships/extended-properties" Target="/docProps/app.xml" Id="Rd9d42ee2eed84b3d" /><Relationship Type="http://schemas.openxmlformats.org/officeDocument/2006/relationships/officeDocument" Target="/ppt/presentation.xml" Id="R10f3c383db604461"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d1e4e0aa45884026"/>
  </p:sldMasterIdLst>
  <p:notesMasterIdLst>
    <p:notesMasterId xmlns:r="http://schemas.openxmlformats.org/officeDocument/2006/relationships" r:id="R0c0466c48a574fa3"/>
  </p:notesMasterIdLst>
  <p:sldIdLst>
    <p:sldId xmlns:r="http://schemas.openxmlformats.org/officeDocument/2006/relationships" id="256" r:id="R0b90d391a03547a9"/>
    <p:sldId xmlns:r="http://schemas.openxmlformats.org/officeDocument/2006/relationships" id="257" r:id="R7b0efbe3df2d4227"/>
    <p:sldId xmlns:r="http://schemas.openxmlformats.org/officeDocument/2006/relationships" id="258" r:id="R219ce5d426cf4abb"/>
    <p:sldId xmlns:r="http://schemas.openxmlformats.org/officeDocument/2006/relationships" id="259" r:id="R4df60c15f3e04397"/>
    <p:sldId xmlns:r="http://schemas.openxmlformats.org/officeDocument/2006/relationships" id="260" r:id="R5aef988f174c433a"/>
    <p:sldId xmlns:r="http://schemas.openxmlformats.org/officeDocument/2006/relationships" id="261" r:id="R45c842da41f94018"/>
    <p:sldId xmlns:r="http://schemas.openxmlformats.org/officeDocument/2006/relationships" id="262" r:id="R3179817df36d44f7"/>
    <p:sldId xmlns:r="http://schemas.openxmlformats.org/officeDocument/2006/relationships" id="263" r:id="Rf329d647ad504a49"/>
    <p:sldId xmlns:r="http://schemas.openxmlformats.org/officeDocument/2006/relationships" id="264" r:id="R6130d967218b4913"/>
    <p:sldId xmlns:r="http://schemas.openxmlformats.org/officeDocument/2006/relationships" id="265" r:id="R508df8d1f47748d5"/>
    <p:sldId xmlns:r="http://schemas.openxmlformats.org/officeDocument/2006/relationships" id="266" r:id="Rd5e5edf18a3b4dc3"/>
    <p:sldId xmlns:r="http://schemas.openxmlformats.org/officeDocument/2006/relationships" id="267" r:id="Radf08e81d8f74ad0"/>
  </p:sldIdLst>
  <p:sldSz cx="12192000" cy="6858000"/>
  <p:notesSz cx="6858000" cy="9144000"/>
  <p:embeddedFontLst>
    <p:embeddedFont>
      <p:font typeface="OpenAI Sans"/>
      <p:regular xmlns:r="http://schemas.openxmlformats.org/officeDocument/2006/relationships" r:id="R0dc348f2efba48a9"/>
      <p:bold xmlns:r="http://schemas.openxmlformats.org/officeDocument/2006/relationships" r:id="R0e35dc139399479e"/>
      <p:italic xmlns:r="http://schemas.openxmlformats.org/officeDocument/2006/relationships" r:id="R2898a2aa4e2245d3"/>
      <p:boldItalic xmlns:r="http://schemas.openxmlformats.org/officeDocument/2006/relationships" r:id="R6543223edcfe4c82"/>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b38148374c34078" /><Relationship Type="http://schemas.openxmlformats.org/officeDocument/2006/relationships/slideMaster" Target="/ppt/slideMasters/slideMaster1.xml" Id="Rd1e4e0aa45884026" /><Relationship Type="http://schemas.openxmlformats.org/officeDocument/2006/relationships/notesMaster" Target="/ppt/notesMasters/notesMaster1.xml" Id="R0c0466c48a574fa3" /><Relationship Type="http://schemas.openxmlformats.org/officeDocument/2006/relationships/presProps" Target="/ppt/presProps.xml" Id="R236c01f83dcb4334" /><Relationship Type="http://schemas.openxmlformats.org/officeDocument/2006/relationships/viewProps" Target="/ppt/viewProps.xml" Id="Rb2f6f0948d2c4c07" /><Relationship Type="http://schemas.openxmlformats.org/officeDocument/2006/relationships/tableStyles" Target="/ppt/tableStyles.xml" Id="R801825f8b6ca4356" /><Relationship Type="http://schemas.openxmlformats.org/officeDocument/2006/relationships/font" Target="/ppt/fonts/font.dat" Id="R0dc348f2efba48a9" /><Relationship Type="http://schemas.openxmlformats.org/officeDocument/2006/relationships/font" Target="/ppt/fonts/font2.dat" Id="R0e35dc139399479e" /><Relationship Type="http://schemas.openxmlformats.org/officeDocument/2006/relationships/font" Target="/ppt/fonts/font3.dat" Id="R2898a2aa4e2245d3" /><Relationship Type="http://schemas.openxmlformats.org/officeDocument/2006/relationships/font" Target="/ppt/fonts/font4.dat" Id="R6543223edcfe4c82" /><Relationship Type="http://schemas.openxmlformats.org/officeDocument/2006/relationships/slide" Target="/ppt/slides/slide1.xml" Id="R0b90d391a03547a9" /><Relationship Type="http://schemas.openxmlformats.org/officeDocument/2006/relationships/slide" Target="/ppt/slides/slide2.xml" Id="R7b0efbe3df2d4227" /><Relationship Type="http://schemas.openxmlformats.org/officeDocument/2006/relationships/slide" Target="/ppt/slides/slide3.xml" Id="R219ce5d426cf4abb" /><Relationship Type="http://schemas.openxmlformats.org/officeDocument/2006/relationships/slide" Target="/ppt/slides/slide4.xml" Id="R4df60c15f3e04397" /><Relationship Type="http://schemas.openxmlformats.org/officeDocument/2006/relationships/slide" Target="/ppt/slides/slide5.xml" Id="R5aef988f174c433a" /><Relationship Type="http://schemas.openxmlformats.org/officeDocument/2006/relationships/slide" Target="/ppt/slides/slide6.xml" Id="R45c842da41f94018" /><Relationship Type="http://schemas.openxmlformats.org/officeDocument/2006/relationships/slide" Target="/ppt/slides/slide7.xml" Id="R3179817df36d44f7" /><Relationship Type="http://schemas.openxmlformats.org/officeDocument/2006/relationships/slide" Target="/ppt/slides/slide8.xml" Id="Rf329d647ad504a49" /><Relationship Type="http://schemas.openxmlformats.org/officeDocument/2006/relationships/slide" Target="/ppt/slides/slide9.xml" Id="R6130d967218b4913" /><Relationship Type="http://schemas.openxmlformats.org/officeDocument/2006/relationships/slide" Target="/ppt/slides/slide10.xml" Id="R508df8d1f47748d5" /><Relationship Type="http://schemas.openxmlformats.org/officeDocument/2006/relationships/slide" Target="/ppt/slides/slide11.xml" Id="Rd5e5edf18a3b4dc3" /><Relationship Type="http://schemas.openxmlformats.org/officeDocument/2006/relationships/slide" Target="/ppt/slides/slide12.xml" Id="Radf08e81d8f74ad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5aef71fdfdc4db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90091dafbd64f6b" /><Relationship Type="http://schemas.openxmlformats.org/officeDocument/2006/relationships/notesMaster" Target="/ppt/notesMasters/notesMaster1.xml" Id="Ra9146705d3d54b8c" /></Relationships>
</file>

<file path=ppt/notesSlides/_rels/notesSlide2.xml.rels>&#65279;<?xml version="1.0" encoding="utf-8"?><Relationships xmlns="http://schemas.openxmlformats.org/package/2006/relationships"><Relationship Type="http://schemas.openxmlformats.org/officeDocument/2006/relationships/slide" Target="/ppt/slides/slide2.xml" Id="R5faec9365aea456b" /><Relationship Type="http://schemas.openxmlformats.org/officeDocument/2006/relationships/notesMaster" Target="/ppt/notesMasters/notesMaster1.xml" Id="R30154aabcaa541e1" /></Relationships>
</file>

<file path=ppt/notesSlides/_rels/notesSlide3.xml.rels>&#65279;<?xml version="1.0" encoding="utf-8"?><Relationships xmlns="http://schemas.openxmlformats.org/package/2006/relationships"><Relationship Type="http://schemas.openxmlformats.org/officeDocument/2006/relationships/slide" Target="/ppt/slides/slide3.xml" Id="Rf1ccae0f40104ab1" /><Relationship Type="http://schemas.openxmlformats.org/officeDocument/2006/relationships/notesMaster" Target="/ppt/notesMasters/notesMaster1.xml" Id="Rd7d7814df0424b8c" /></Relationships>
</file>

<file path=ppt/notesSlides/_rels/notesSlide4.xml.rels>&#65279;<?xml version="1.0" encoding="utf-8"?><Relationships xmlns="http://schemas.openxmlformats.org/package/2006/relationships"><Relationship Type="http://schemas.openxmlformats.org/officeDocument/2006/relationships/slide" Target="/ppt/slides/slide4.xml" Id="Rf3dc04b8c146481c" /><Relationship Type="http://schemas.openxmlformats.org/officeDocument/2006/relationships/notesMaster" Target="/ppt/notesMasters/notesMaster1.xml" Id="Rd660ca9307e14b3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98a2c5506b14a8d" /><Relationship Type="http://schemas.openxmlformats.org/officeDocument/2006/relationships/notesMaster" Target="/ppt/notesMasters/notesMaster1.xml" Id="R52788663d7d2494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63e4dcffd0c43bd" /><Relationship Type="http://schemas.openxmlformats.org/officeDocument/2006/relationships/notesMaster" Target="/ppt/notesMasters/notesMaster1.xml" Id="R36234170853345da" /></Relationships>
</file>

<file path=ppt/notesSlides/_rels/notesSlide7.xml.rels>&#65279;<?xml version="1.0" encoding="utf-8"?><Relationships xmlns="http://schemas.openxmlformats.org/package/2006/relationships"><Relationship Type="http://schemas.openxmlformats.org/officeDocument/2006/relationships/slide" Target="/ppt/slides/slide7.xml" Id="R856ab501ced94269" /><Relationship Type="http://schemas.openxmlformats.org/officeDocument/2006/relationships/notesMaster" Target="/ppt/notesMasters/notesMaster1.xml" Id="R3ef7f91a249e417f" /></Relationships>
</file>

<file path=ppt/notesSlides/_rels/notesSlide8.xml.rels>&#65279;<?xml version="1.0" encoding="utf-8"?><Relationships xmlns="http://schemas.openxmlformats.org/package/2006/relationships"><Relationship Type="http://schemas.openxmlformats.org/officeDocument/2006/relationships/slide" Target="/ppt/slides/slide8.xml" Id="R4c65fa7af89d401f" /><Relationship Type="http://schemas.openxmlformats.org/officeDocument/2006/relationships/notesMaster" Target="/ppt/notesMasters/notesMaster1.xml" Id="R38f72bbabb2b4942" /></Relationships>
</file>

<file path=ppt/notesSlides/_rels/notesSlide9.xml.rels>&#65279;<?xml version="1.0" encoding="utf-8"?><Relationships xmlns="http://schemas.openxmlformats.org/package/2006/relationships"><Relationship Type="http://schemas.openxmlformats.org/officeDocument/2006/relationships/slide" Target="/ppt/slides/slide9.xml" Id="R5e5db4d289a2417c" /><Relationship Type="http://schemas.openxmlformats.org/officeDocument/2006/relationships/notesMaster" Target="/ppt/notesMasters/notesMaster1.xml" Id="R0a2582600ee54cc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ca2f904e1d44e92" /><Relationship Type="http://schemas.openxmlformats.org/officeDocument/2006/relationships/notesMaster" Target="/ppt/notesMasters/notesMaster1.xml" Id="R11b9fcf5467f440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08e0476b9674526" /><Relationship Type="http://schemas.openxmlformats.org/officeDocument/2006/relationships/notesMaster" Target="/ppt/notesMasters/notesMaster1.xml" Id="R24c65a037c244d5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780247bfdb84fd7" /><Relationship Type="http://schemas.openxmlformats.org/officeDocument/2006/relationships/notesMaster" Target="/ppt/notesMasters/notesMaster1.xml" Id="R3bec7138ede64d1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conseillée : 0:35. Repère : 0:00-0:35.</a:t>
            </a:r>
            <a:endParaRPr/>
          </a:p>
          <a:p xmlns:a="http://schemas.openxmlformats.org/drawingml/2006/main">
            <a:r>
              <a:t/>
            </a:r>
            <a:endParaRPr/>
          </a:p>
          <a:p xmlns:a="http://schemas.openxmlformats.org/drawingml/2006/main">
            <a:r>
              <a:t>Bonjour. Mon mémoire porte sur les Transformers et les modèles de fondation pour la prévision des séries temporelles. Prévoir une consommation, des ventes ou une activité consiste à exploiter le passé, alors que les régularités peuvent changer. Ma question est donc double : comment ces modèles apprennent-ils à prévoir, et dans quelles conditions leurs connaissances sont-elles transférables à de nouvelles données ? Je vais relier leurs mécanismes aux conditions d’une évaluation fiable.</a:t>
            </a:r>
            <a:endParaRPr/>
          </a:p>
          <a:p xmlns:a="http://schemas.openxmlformats.org/drawingml/2006/main">
            <a:r>
              <a:t/>
            </a:r>
            <a:endParaRPr/>
          </a:p>
          <a:p xmlns:a="http://schemas.openxmlformats.org/drawingml/2006/main">
            <a:r>
              <a:t>Source : Mémoire, p. 1–5.</a:t>
            </a:r>
            <a:endParaRPr/>
          </a:p>
          <a:p xmlns:a="http://schemas.openxmlformats.org/drawingml/2006/main">
            <a:r>
              <a:t>Document : Memoire_Yoan_Kesraoui.pdf, fourni par Yoan Kesraoui.</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Durée conseillée : 0:55. Repère : 0:35-1:30.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Pour répondre à cette question, j’ai réalisé une revue de littérature, principalement à partir des articles d’origine et des travaux consultés jusqu’au 9 septembre 2026. Mon objectif n’était pas de recenser tous les modèles, mais de comprendre les choix qui les distinguent. J’ai suivi une même grille : comment les données sont préparées, ce que représente un token, quelles informations interagissent, puis comment la prévision est produite. Les résultats chiffrés du mémoire proviennent des publications. Je n’ai pas mené de nouvelle campagne expérimentale. Ma contribution est cette comparaison critique et la proposition de protocoles pour approfondir les limites identifiées. Commençons par le mécanisme commun.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 Mémoire, p. 2, 5 et 27.</a:t>
            </a:r>
            <a:endParaRPr/>
          </a:p>
          <a:p xmlns:a="http://schemas.openxmlformats.org/drawingml/2006/main">
            <a:pPr marL="0" lvl="0" indent="0" algn="l">
              <a:spcBef>
                <a:spcPts val="0"/>
              </a:spcBef>
              <a:spcAft>
                <a:spcPts val="0"/>
              </a:spcAft>
              <a:buNone/>
            </a:pPr>
            <a:r>
              <a:t>Document : Memoire_Yoan_Kesraoui.pdf, fourni par Yoan Kesraoui.</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Durée conseillée : 1:05. Repère : 1:30-2:35.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 mécanisme central du Transformer est l’attention. Chaque élément de la séquence devient d’abord un vecteur, appelé token. Le réseau en tire trois représentations : une requête, une clé et une valeur. La requête est comparée aux clés pour calculer des scores de compatibilité. Une fonction transforme ces scores en poids, puis le modèle combine les valeurs avec ces poids. Cela permet de construire une représentation qui tient compte des autres éléments accessibles. Plusieurs têtes peuvent effectuer des combinaisons différentes. Mais l’attention seule ne suffit pas : il faut aussi transmettre l’ordre temporel et empêcher l’accès à une cible future inconnue. Enfin, un poids d’attention élevé décrit un calcul du modèle ; il ne démontre pas une relation causale. Pour les séries temporelles, le choix suivant est décisif : que représente chaque token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 Mémoire, p. 6–10 et 15.</a:t>
            </a:r>
            <a:endParaRPr/>
          </a:p>
          <a:p xmlns:a="http://schemas.openxmlformats.org/drawingml/2006/main">
            <a:pPr marL="0" lvl="0" indent="0" algn="l">
              <a:spcBef>
                <a:spcPts val="0"/>
              </a:spcBef>
              <a:spcAft>
                <a:spcPts val="0"/>
              </a:spcAft>
              <a:buNone/>
            </a:pPr>
            <a:r>
              <a:t>Document : Memoire_Yoan_Kesraoui.pdf, fourni par Yoan Kesraoui.</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Durée conseillée : 1:10. Repère : 2:35-3:45.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Deux architectures illustrent bien ce choix. PatchTST découpe l’historique de chaque variable en segments, ou patches. Chaque segment devient un token. L’attention relie donc des morceaux d’une même série, ce qui réduit le nombre d’éléments à comparer. Les paramètres sont partagés entre les variables, mais leurs représentations n’échangent pas directement d’information. iTransformer fait un autre choix : l’historique complet d’une variable devient un token. L’attention compare alors les variables entre elles, à partir de leurs historiques représentés. Ce changement modifie à la fois les interactions possibles et le coût du calcul. On comprend ainsi pourquoi deux modèles utilisant l’attention ne traitent pas nécessairement le même problème de la même façon. Il faut examiner la représentation avant d’attribuer une amélioration au Transformer. Le préentraînement ajoute ensuite une nouvelle dimension.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 Mémoire, p. 12–14 et 16.</a:t>
            </a:r>
            <a:endParaRPr/>
          </a:p>
          <a:p xmlns:a="http://schemas.openxmlformats.org/drawingml/2006/main">
            <a:pPr marL="0" lvl="0" indent="0" algn="l">
              <a:spcBef>
                <a:spcPts val="0"/>
              </a:spcBef>
              <a:spcAft>
                <a:spcPts val="0"/>
              </a:spcAft>
              <a:buNone/>
            </a:pPr>
            <a:r>
              <a:t>Document : Memoire_Yoan_Kesraoui.pdf, fourni par Yoan Kesraoui.</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conseillée : 1:05. Repère : 3:45-4:50.</a:t>
            </a:r>
          </a:p>
          <a:p xmlns:a="http://schemas.openxmlformats.org/drawingml/2006/main">
            <a:r>
              <a:t/>
            </a:r>
          </a:p>
          <a:p xmlns:a="http://schemas.openxmlformats.org/drawingml/2006/main">
            <a:r>
              <a:t>Un modèle spécialisé apprend sur les données d’une tâche donnée. Un modèle de fondation cherche à réutiliser un apprentissage réalisé sur de nombreuses séries, issues de domaines et de fréquences variés. Pendant le préentraînement, une fenêtre d’historique sert d’entrée et les observations suivantes fournissent une cible. Le réseau apprend ainsi une fonction de prévision partageable. Lorsqu’on lui présente une nouvelle série, on peut conserver ses paramètres fixes : c’est le fonctionnement en zero-shot. Fournir un historique différent ou plus long change le contexte, sans constituer un ajustement des paramètres. À l’inverse, le fine-tuning modifie tout ou partie des paramètres sur les données cibles. Cette distinction est essentielle pour comparer les performances. Mais même avec un objectif commun de réutilisation, les familles de modèles représentent le futur différemment.</a:t>
            </a:r>
          </a:p>
          <a:p xmlns:a="http://schemas.openxmlformats.org/drawingml/2006/main">
            <a:r>
              <a:t/>
            </a:r>
          </a:p>
          <a:p xmlns:a="http://schemas.openxmlformats.org/drawingml/2006/main">
            <a:r>
              <a:t>Source : Mémoire, p. 16 et 18.</a:t>
            </a:r>
          </a:p>
          <a:p xmlns:a="http://schemas.openxmlformats.org/drawingml/2006/main">
            <a:r>
              <a:t>Document : Memoire_Yoan_Kesraoui.pdf, fourni par Yoan Kesraoui.</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Durée conseillée : 1:10. Repère : 4:50-6:00.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Prenons trois exemples. Le Chronos initial transforme les valeurs normalisées en classes d’un vocabulaire fini. Il apprend à prévoir les tokens suivants, puis peut échantillonner plusieurs trajectoires. Cette formulation rapproche la prévision d’une génération séquentielle, avec des limites liées à la quantification et aux générations successives. Le TimesFM initial conserve des valeurs continues, regroupées en patches. Il produit des blocs de valeurs futures et se concentre sur la prévision ponctuelle. Chronos-2 change la méthode de sa première génération : il utilise des patches continus et alterne des interactions temporelles et entre séries d’un groupe. Sa sortie fournit directement des quantiles. Ces exemples montrent que les entrées, les interactions et les objectifs d’apprentissage doivent être lus ensemble. Une valeur centrale, des quantiles et des trajectoires ne décrivent pas le même objet statistique.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 Mémoire, p. 18–20.</a:t>
            </a:r>
            <a:endParaRPr/>
          </a:p>
          <a:p xmlns:a="http://schemas.openxmlformats.org/drawingml/2006/main">
            <a:pPr marL="0" lvl="0" indent="0" algn="l">
              <a:spcBef>
                <a:spcPts val="0"/>
              </a:spcBef>
              <a:spcAft>
                <a:spcPts val="0"/>
              </a:spcAft>
              <a:buNone/>
            </a:pPr>
            <a:r>
              <a:t>Document : Memoire_Yoan_Kesraoui.pdf, fourni par Yoan Kesraoui.</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conseillée : 1:10. Repère : 6:00-7:10.</a:t>
            </a:r>
          </a:p>
          <a:p xmlns:a="http://schemas.openxmlformats.org/drawingml/2006/main">
            <a:r>
              <a:t/>
            </a:r>
          </a:p>
          <a:p xmlns:a="http://schemas.openxmlformats.org/drawingml/2006/main">
            <a:r>
              <a:t>Comment interpréter leurs scores ? Premièrement, le zero-shot signifie généralement qu’on ne met pas à jour les paramètres sur la tâche cible. Il ne garantit pas que les données étaient absentes du préentraînement. Il faut examiner les sources, les périodes et les relations entre séries. Deuxièmement, les modèles doivent recevoir des informations comparables. Une covariable future n’est admissible que si elle est connue au moment de prévoir, comme un calendrier. Sinon, l’avantage peut venir d’une information inaccessible en pratique. Troisièmement, il faut rapporter la qualité au coût : durée, mémoire et, si possible, énergie. Une référence simple reste utile pour interpréter les écarts. Enfin, une baisse sur des observations nouvelles peut résulter d’un changement du phénomène ; elle ne prouve pas une contamination passée.</a:t>
            </a:r>
          </a:p>
          <a:p xmlns:a="http://schemas.openxmlformats.org/drawingml/2006/main">
            <a:r>
              <a:t/>
            </a:r>
          </a:p>
          <a:p xmlns:a="http://schemas.openxmlformats.org/drawingml/2006/main">
            <a:r>
              <a:t>Source : Mémoire, p. 12, 24–25.</a:t>
            </a:r>
          </a:p>
          <a:p xmlns:a="http://schemas.openxmlformats.org/drawingml/2006/main">
            <a:r>
              <a:t>Document : Memoire_Yoan_Kesraoui.pdf, fourni par Yoan Kesraoui.</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Durée conseillée : 1:00. Repère : 7:10-8:10.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Une autre limite concerne la forme de la prévision. Une bande de quantiles décrit l’incertitude à chaque horizon, mais pas nécessairement la dépendance entre les horizons. Prenons deux événements qui ont chacun une probabilité de cinquante pour cent. S’ils sont indépendants, ils se produisent ensemble avec une probabilité de vingt-cinq pour cent. S’ils coïncident toujours, cette probabilité atteint cinquante pour cent. Les probabilités individuelles sont pourtant identiques. Cette distinction compte lorsqu’on veut prévoir une somme, un maximum ou un dépassement persistant. Une bonne évaluation à chaque date ne suffit donc pas pour juger tous les scénarios. La métrique doit correspondre à l’usage envisagé, et les trajectoires demandent aussi une évaluation de leur dépendance.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 Mémoire, p. 17 et 25–26.</a:t>
            </a:r>
            <a:endParaRPr/>
          </a:p>
          <a:p xmlns:a="http://schemas.openxmlformats.org/drawingml/2006/main">
            <a:pPr marL="0" lvl="0" indent="0" algn="l">
              <a:spcBef>
                <a:spcPts val="0"/>
              </a:spcBef>
              <a:spcAft>
                <a:spcPts val="0"/>
              </a:spcAft>
              <a:buNone/>
            </a:pPr>
            <a:r>
              <a:t>Document : Memoire_Yoan_Kesraoui.pdf, fourni par Yoan Kesraoui.</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conseillée : 1:05. Repère : 8:10-9:15.</a:t>
            </a:r>
          </a:p>
          <a:p xmlns:a="http://schemas.openxmlformats.org/drawingml/2006/main">
            <a:r>
              <a:t/>
            </a:r>
          </a:p>
          <a:p xmlns:a="http://schemas.openxmlformats.org/drawingml/2006/main">
            <a:r>
              <a:t>À partir de ces limites, je propose quatre pistes expérimentales, qui restent à réaliser. H1 testerait le transfert sur des observations collectées après le gel du modèle, avec des prévisions enregistrées avant l’arrivée des cibles. H2 comparerait la cible seule à des covariables correctes, retardées ou perturbées, pour mesurer leur utilité et la sensibilité à leur qualité. H3 comparerait plusieurs adaptations en mesurant la précision, le coût et l’oubli sur des tâches anciennes. Enfin, H4 comparerait différentes dépendances entre horizons en imposant les mêmes distributions marginales, puis évaluerait des événements comme un dépassement persistant. Pour chaque expérience, les critères et budgets seraient fixés avant le test. Des intervalles de confiance permettraient de distinguer une conclusion étayée d’un résultat encore incertain.</a:t>
            </a:r>
          </a:p>
          <a:p xmlns:a="http://schemas.openxmlformats.org/drawingml/2006/main">
            <a:r>
              <a:t/>
            </a:r>
          </a:p>
          <a:p xmlns:a="http://schemas.openxmlformats.org/drawingml/2006/main">
            <a:r>
              <a:t>Source : Mémoire, p. 27–29.</a:t>
            </a:r>
          </a:p>
          <a:p xmlns:a="http://schemas.openxmlformats.org/drawingml/2006/main">
            <a:r>
              <a:t>Document : Memoire_Yoan_Kesraoui.pdf, fourni par Yoan Kesraoui.</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conseillée : 0:45. Repère : 9:15-10:00.</a:t>
            </a:r>
            <a:endParaRPr/>
          </a:p>
          <a:p xmlns:a="http://schemas.openxmlformats.org/drawingml/2006/main">
            <a:r>
              <a:t/>
            </a:r>
            <a:endParaRPr/>
          </a:p>
          <a:p xmlns:a="http://schemas.openxmlformats.org/drawingml/2006/main">
            <a:r>
              <a:t>Pour conclure, les Transformers offrent plusieurs façons de mettre en relation les observations, et le préentraînement permet d’envisager une réutilisation sur de nouvelles séries. Mais le transfert dépend autant de la préparation des données, des informations disponibles et de la sortie attendue que de l’architecture. Mon mémoire propose une grille de lecture pour comprendre ces choix et examiner la portée des évaluations. L’étape suivante serait de mettre en œuvre les quatre protocoles proposés, afin d’identifier quand le préentraînement apporte un gain utile. Je vous remercie.</a:t>
            </a:r>
            <a:endParaRPr/>
          </a:p>
          <a:p xmlns:a="http://schemas.openxmlformats.org/drawingml/2006/main">
            <a:r>
              <a:t/>
            </a:r>
            <a:endParaRPr/>
          </a:p>
          <a:p xmlns:a="http://schemas.openxmlformats.org/drawingml/2006/main">
            <a:r>
              <a:t>Source : Mémoire, p. 30.</a:t>
            </a:r>
            <a:endParaRPr/>
          </a:p>
          <a:p xmlns:a="http://schemas.openxmlformats.org/drawingml/2006/main">
            <a:r>
              <a:t>Document : Memoire_Yoan_Kesraoui.pdf, fourni par Yoan Kesraoui.</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Annexe facultative pour la discussion.</a:t>
            </a:r>
          </a:p>
          <a:p xmlns:a="http://schemas.openxmlformats.org/drawingml/2006/main">
            <a:r>
              <a:t/>
            </a:r>
          </a:p>
          <a:p xmlns:a="http://schemas.openxmlformats.org/drawingml/2006/main">
            <a:r>
              <a:t>Quelle est votre contribution personnelle sans expérimentation ?</a:t>
            </a:r>
          </a:p>
          <a:p xmlns:a="http://schemas.openxmlformats.org/drawingml/2006/main">
            <a:r>
              <a:t>J’ai organisé la littérature selon une même grille : représentation, interactions, apprentissage et sortie. Cette comparaison permet de préciser les limites des scores publiés, puis de proposer quatre expériences contrôlées pour les examiner.</a:t>
            </a:r>
          </a:p>
          <a:p xmlns:a="http://schemas.openxmlformats.org/drawingml/2006/main">
            <a:r>
              <a:t/>
            </a:r>
          </a:p>
          <a:p xmlns:a="http://schemas.openxmlformats.org/drawingml/2006/main">
            <a:r>
              <a:t>Quel modèle recommanderiez-vous ?</a:t>
            </a:r>
          </a:p>
          <a:p xmlns:a="http://schemas.openxmlformats.org/drawingml/2006/main">
            <a:r>
              <a:t>Il n’y a pas de meilleur modèle universel dans cette revue. Je préciserais d’abord l’horizon, les covariables réellement disponibles, la sortie attendue et le budget, puis je comparerais les candidats à une référence simple dans les mêmes conditions.</a:t>
            </a:r>
          </a:p>
          <a:p xmlns:a="http://schemas.openxmlformats.org/drawingml/2006/main">
            <a:r>
              <a:t/>
            </a:r>
          </a:p>
          <a:p xmlns:a="http://schemas.openxmlformats.org/drawingml/2006/main">
            <a:r>
              <a:t>Comment vérifier une capacité zero-shot réelle ?</a:t>
            </a:r>
          </a:p>
          <a:p xmlns:a="http://schemas.openxmlformats.org/drawingml/2006/main">
            <a:r>
              <a:t>Je figerais le modèle et la référence, puis j’enregistrerais les prévisions avant l’arrivée des observations futures. Plusieurs domaines et des périodes communes aideraient à distinguer transfert et difficulté propre aux données, sans attribuer toute baisse à une fuite.</a:t>
            </a:r>
          </a:p>
          <a:p xmlns:a="http://schemas.openxmlformats.org/drawingml/2006/main">
            <a:r>
              <a:t/>
            </a:r>
          </a:p>
          <a:p xmlns:a="http://schemas.openxmlformats.org/drawingml/2006/main">
            <a:r>
              <a:t>Pourquoi les quantiles ne suffisent-ils pas pour des scénarios ?</a:t>
            </a:r>
          </a:p>
          <a:p xmlns:a="http://schemas.openxmlformats.org/drawingml/2006/main">
            <a:r>
              <a:t>Ils décrivent l’incertitude à chaque horizon séparément. Ils ne précisent pas comment les dates évoluent ensemble. Or la probabilité d’un dépassement persistant ou d’une somme élevée dépend de cette dépendance ; H4 propose de la comparer en conservant les mêmes marges.</a:t>
            </a:r>
          </a:p>
          <a:p xmlns:a="http://schemas.openxmlformats.org/drawingml/2006/main">
            <a:r>
              <a:t/>
            </a:r>
          </a:p>
          <a:p xmlns:a="http://schemas.openxmlformats.org/drawingml/2006/main">
            <a:r>
              <a:t>Source : Mémoire, p. 5, 12–20 et 24–30.</a:t>
            </a:r>
          </a:p>
          <a:p xmlns:a="http://schemas.openxmlformats.org/drawingml/2006/main">
            <a:r>
              <a:t>Document : Memoire_Yoan_Kesraoui.pdf, fourni par Yoan Kesraoui.</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Annexe facultative pour la discussion.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STATUT ET RÈGLES COMMUNES</a:t>
            </a:r>
            <a:endParaRPr/>
          </a:p>
          <a:p xmlns:a="http://schemas.openxmlformats.org/drawingml/2006/main">
            <a:pPr marL="0" lvl="0" indent="0" algn="l">
              <a:spcBef>
                <a:spcPts val="0"/>
              </a:spcBef>
              <a:spcAft>
                <a:spcPts val="0"/>
              </a:spcAft>
              <a:buNone/>
            </a:pPr>
            <a:r>
              <a:t>Ces hypothèses n’ont pas été testées dans le mémoire. Les versions des modèles, les critères principaux, les budgets et la durée des expériences seraient fixés avant l’ouverture du test. Les intervalles de confiance seraient calculés par rééchantillonnage de groupes de séries et de blocs temporels, en conservant les comparaisons appariées et les dépendances. Le mémoire ne fixe pas de niveau de confiance numérique. Les marges ci-dessous sont des choix proposés, à justifier selon les tâches.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H1 — TRANSFERT TEMPOREL</a:t>
            </a:r>
            <a:endParaRPr/>
          </a:p>
          <a:p xmlns:a="http://schemas.openxmlformats.org/drawingml/2006/main">
            <a:pPr marL="0" lvl="0" indent="0" algn="l">
              <a:spcBef>
                <a:spcPts val="0"/>
              </a:spcBef>
              <a:spcAft>
                <a:spcPts val="0"/>
              </a:spcAft>
              <a:buNone/>
            </a:pPr>
            <a:r>
              <a:t>On comparerait un modèle préentraîné et une référence statistique figés, sur des observations collectées après le gel des poids. Les tâches couvriraient au moins trois domaines et plusieurs fréquences. La référence serait choisie en développement, puis figée. Les prévisions seraient horodatées et enregistrées avant réception des cibles, avec l’empreinte du modèle ; séries, dates et horizons seraient communs.</a:t>
            </a:r>
            <a:endParaRPr/>
          </a:p>
          <a:p xmlns:a="http://schemas.openxmlformats.org/drawingml/2006/main">
            <a:pPr marL="0" lvl="0" indent="0" algn="l">
              <a:spcBef>
                <a:spcPts val="0"/>
              </a:spcBef>
              <a:spcAft>
                <a:spcPts val="0"/>
              </a:spcAft>
              <a:buNone/>
            </a:pPr>
            <a:r>
              <a:t>Pour une perte de référence strictement positive, le gain par tâche serait g = 1 − Lmodèle/Lréférence. Le critère principal serait la moyenne non pondérée des gains par tâche. Les références parfaites seraient traitées séparément. H1 serait réfutée dans ce périmètre si la borne supérieure de l’intervalle de confiance du gain prospectif était inférieure ou égale à zéro. Un intervalle traversant zéro serait non concluant. La collecte se poursuivrait pendant toute la durée prévue, sans arrêt au premier résultat favorable. Des archives comparables aideraient à étudier la stabilité, sans attribuer automatiquement un écart à une contamination.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H2 — COVARIABLES</a:t>
            </a:r>
            <a:endParaRPr/>
          </a:p>
          <a:p xmlns:a="http://schemas.openxmlformats.org/drawingml/2006/main">
            <a:pPr marL="0" lvl="0" indent="0" algn="l">
              <a:spcBef>
                <a:spcPts val="0"/>
              </a:spcBef>
              <a:spcAft>
                <a:spcPts val="0"/>
              </a:spcAft>
              <a:buNone/>
            </a:pPr>
            <a:r>
              <a:t>On comparerait d’abord un même modèle avec quatre entrées : cible seule, covariables correctes, covariables retardées et covariables permutées par blocs. Une variable aléatoire servirait de contrôle négatif. Une correction résiduelle entraînée avant le test compléterait le conditionnement natif. Toute covariable future devrait être effectivement connue à l’origine de la prévision.</a:t>
            </a:r>
            <a:endParaRPr/>
          </a:p>
          <a:p xmlns:a="http://schemas.openxmlformats.org/drawingml/2006/main">
            <a:pPr marL="0" lvl="0" indent="0" algn="l">
              <a:spcBef>
                <a:spcPts val="0"/>
              </a:spcBef>
              <a:spcAft>
                <a:spcPts val="0"/>
              </a:spcAft>
              <a:buNone/>
            </a:pPr>
            <a:r>
              <a:t>Par rapport à la perte positive obtenue avec la cible seule, on proposerait un gain minimal de 2 % avec les bonnes variables et une dégradation maximale de 5 % sous perturbation. H2 serait réfutée si la borne supérieure de l’intervalle du gain restait inférieure à 2 %, ou si la borne inférieure de l’intervalle de dégradation dépassait 5 %. Un intervalle recouvrant une marge serait non concluant. Un gain similaire avec des variables permutées conduirait à examiner la redondance, la régularisation ou une fuite.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H3 — ADAPTATION</a:t>
            </a:r>
            <a:endParaRPr/>
          </a:p>
          <a:p xmlns:a="http://schemas.openxmlformats.org/drawingml/2006/main">
            <a:pPr marL="0" lvl="0" indent="0" algn="l">
              <a:spcBef>
                <a:spcPts val="0"/>
              </a:spcBef>
              <a:spcAft>
                <a:spcPts val="0"/>
              </a:spcAft>
              <a:buNone/>
            </a:pPr>
            <a:r>
              <a:t>On comparerait modèle gelé, LoRA, correction résiduelle et ajustement complet, à modèle initial et données identiques. Une architecture compacte spécialisée compléterait les références. Des régimes seraient présentés successivement, avec des retours à certains régimes anciens. Après chaque adaptation, on évaluerait la nouvelle tâche et un ensemble fixe de tâches antérieures. On mesurerait le temps total, la mémoire maximale et, si possible, l’énergie ; les comparaisons à données identiques et à budget de calcul identique seraient séparées.</a:t>
            </a:r>
            <a:endParaRPr/>
          </a:p>
          <a:p xmlns:a="http://schemas.openxmlformats.org/drawingml/2006/main">
            <a:pPr marL="0" lvl="0" indent="0" algn="l">
              <a:spcBef>
                <a:spcPts val="0"/>
              </a:spcBef>
              <a:spcAft>
                <a:spcPts val="0"/>
              </a:spcAft>
              <a:buNone/>
            </a:pPr>
            <a:r>
              <a:t>La marge de non-infériorité serait une hausse de perte de 2 % par rapport à l’ajustement complet. L’oubli toléré serait une hausse de 5 % par rapport à la perte avant adaptation ; les dénominateurs nuls seraient analysés séparément. H3 serait réfutée si la borne inférieure de l’intervalle d’une dégradation dépassait sa marge, ou si l’avantage de coût était clairement absent, essais d’hyperparamètres inclus. Un intervalle recouvrant une marge serait non concluant. Le nombre de paramètres entraînables ne remplacerait pas la mesure du coût.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H4 — DÉPENDANCE ENTRE HORIZONS</a:t>
            </a:r>
            <a:endParaRPr/>
          </a:p>
          <a:p xmlns:a="http://schemas.openxmlformats.org/drawingml/2006/main">
            <a:pPr marL="0" lvl="0" indent="0" algn="l">
              <a:spcBef>
                <a:spcPts val="0"/>
              </a:spcBef>
              <a:spcAft>
                <a:spcPts val="0"/>
              </a:spcAft>
              <a:buNone/>
            </a:pPr>
            <a:r>
              <a:t>On comparerait un couplage indépendant, une copule estimée sur les résidus historiques et la dépendance d’un générateur natif. Pour conserver les mêmes marges empiriques, les scénarios seraient convertis en rangs puis réordonnés à partir d’une grille commune de quantiles par horizon. Les sorties natives non recalées seraient évaluées séparément. Des données synthétiques à marges fixes précéderaient l’application aux séries publiques.</a:t>
            </a:r>
            <a:endParaRPr/>
          </a:p>
          <a:p xmlns:a="http://schemas.openxmlformats.org/drawingml/2006/main">
            <a:pPr marL="0" lvl="0" indent="0" algn="l">
              <a:spcBef>
                <a:spcPts val="0"/>
              </a:spcBef>
              <a:spcAft>
                <a:spcPts val="0"/>
              </a:spcAft>
              <a:buNone/>
            </a:pPr>
            <a:r>
              <a:t>Trois événements seraient définis avant le test : dépassement au moins une fois, dépassement persistant et somme supérieure à un seuil. Le score de Brier serait la moyenne de (p − o)², avec p la probabilité prédite et o la réalisation de l’événement. Le critère principal serait la diminution moyenne du Brier face à l’indépendance, avec un poids identique pour les trois événements. Un score multivarié et des diagnostics de dépendance compléteraient les scores marginaux. Le nombre de scénarios serait identique pour toutes les méthodes ; temps et stockage seraient mesurés.</a:t>
            </a:r>
            <a:endParaRPr/>
          </a:p>
          <a:p xmlns:a="http://schemas.openxmlformats.org/drawingml/2006/main">
            <a:pPr marL="0" lvl="0" indent="0" algn="l">
              <a:spcBef>
                <a:spcPts val="0"/>
              </a:spcBef>
              <a:spcAft>
                <a:spcPts val="0"/>
              </a:spcAft>
              <a:buNone/>
            </a:pPr>
            <a:r>
              <a:t>H4 serait réfutée si la borne supérieure de l’intervalle de ce gain était inférieure ou égale à zéro, ou si une dégradation après changement de régime était établie par l’intervalle correspondant. Un intervalle traversant zéro serait non concluant.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 Mémoire, p. 27–29.</a:t>
            </a:r>
            <a:endParaRPr/>
          </a:p>
          <a:p xmlns:a="http://schemas.openxmlformats.org/drawingml/2006/main">
            <a:pPr marL="0" lvl="0" indent="0" algn="l">
              <a:spcBef>
                <a:spcPts val="0"/>
              </a:spcBef>
              <a:spcAft>
                <a:spcPts val="0"/>
              </a:spcAft>
              <a:buNone/>
            </a:pPr>
            <a:r>
              <a:t>Document : Memoire_Yoan_Kesraoui.pdf, fourni par Yoan Kesraoui.</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abdb3e4d5394dd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af5f90e27524f3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db4de4fed534c3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f2017097eb6459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ab96c55b71446d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25ac3dd102c461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c92af34de7846e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7422be216174b93"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91f7022858940ec" /><Relationship Type="http://schemas.openxmlformats.org/officeDocument/2006/relationships/slideLayout" Target="/ppt/slideLayouts/slideLayout1.xml" Id="Rad0f476099634117" /><Relationship Type="http://schemas.openxmlformats.org/officeDocument/2006/relationships/slideLayout" Target="/ppt/slideLayouts/slideLayout2.xml" Id="Rcdb58fad129d4c08" /><Relationship Type="http://schemas.openxmlformats.org/officeDocument/2006/relationships/slideLayout" Target="/ppt/slideLayouts/slideLayout3.xml" Id="R8a74bb624aeb4029" /><Relationship Type="http://schemas.openxmlformats.org/officeDocument/2006/relationships/slideLayout" Target="/ppt/slideLayouts/slideLayout4.xml" Id="R2658f79f2e3c4f83" /><Relationship Type="http://schemas.openxmlformats.org/officeDocument/2006/relationships/slideLayout" Target="/ppt/slideLayouts/slideLayout5.xml" Id="R093115b7df584d24" /><Relationship Type="http://schemas.openxmlformats.org/officeDocument/2006/relationships/slideLayout" Target="/ppt/slideLayouts/slideLayout6.xml" Id="R4513aec5520f497d" /><Relationship Type="http://schemas.openxmlformats.org/officeDocument/2006/relationships/slideLayout" Target="/ppt/slideLayouts/slideLayout7.xml" Id="Rd8e7442baa284287" /><Relationship Type="http://schemas.openxmlformats.org/officeDocument/2006/relationships/slideLayout" Target="/ppt/slideLayouts/slideLayout8.xml" Id="R901b03f2a7554b75"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d0f476099634117"/>
    <p:sldLayoutId xmlns:r="http://schemas.openxmlformats.org/officeDocument/2006/relationships" id="2147483650" r:id="Rcdb58fad129d4c08"/>
    <p:sldLayoutId xmlns:r="http://schemas.openxmlformats.org/officeDocument/2006/relationships" id="2147483651" r:id="R8a74bb624aeb4029"/>
    <p:sldLayoutId xmlns:r="http://schemas.openxmlformats.org/officeDocument/2006/relationships" id="2147483652" r:id="R2658f79f2e3c4f83"/>
    <p:sldLayoutId xmlns:r="http://schemas.openxmlformats.org/officeDocument/2006/relationships" id="2147483653" r:id="R093115b7df584d24"/>
    <p:sldLayoutId xmlns:r="http://schemas.openxmlformats.org/officeDocument/2006/relationships" id="2147483654" r:id="R4513aec5520f497d"/>
    <p:sldLayoutId xmlns:r="http://schemas.openxmlformats.org/officeDocument/2006/relationships" id="2147483655" r:id="Rd8e7442baa284287"/>
    <p:sldLayoutId xmlns:r="http://schemas.openxmlformats.org/officeDocument/2006/relationships" id="2147483656" r:id="R901b03f2a7554b75"/>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b59f0cd704e4a25" /><Relationship Type="http://schemas.openxmlformats.org/officeDocument/2006/relationships/notesSlide" Target="/ppt/notesSlides/notesSlide1.xml" Id="R8f4beb97a8a54a5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1a051ee9810470a" /><Relationship Type="http://schemas.openxmlformats.org/officeDocument/2006/relationships/notesSlide" Target="/ppt/notesSlides/notesSlide2.xml" Id="R7d07f3896e994d3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40f6af5caa84e09" /><Relationship Type="http://schemas.openxmlformats.org/officeDocument/2006/relationships/image" Target="/ppt/media/image.png" Id="R634442036e4d498c" /><Relationship Type="http://schemas.openxmlformats.org/officeDocument/2006/relationships/notesSlide" Target="/ppt/notesSlides/notesSlide3.xml" Id="Ra66f5d08bf7647d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e12a10246894dd8" /><Relationship Type="http://schemas.openxmlformats.org/officeDocument/2006/relationships/image" Target="/ppt/media/image2.png" Id="R6ef1527996a44021" /><Relationship Type="http://schemas.openxmlformats.org/officeDocument/2006/relationships/notesSlide" Target="/ppt/notesSlides/notesSlide4.xml" Id="Rcd9083f79ee441d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3dc12224b824621" /><Relationship Type="http://schemas.openxmlformats.org/officeDocument/2006/relationships/notesSlide" Target="/ppt/notesSlides/notesSlide5.xml" Id="Rd25f25f131cc4fb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27cefcffe6d435f" /><Relationship Type="http://schemas.openxmlformats.org/officeDocument/2006/relationships/notesSlide" Target="/ppt/notesSlides/notesSlide6.xml" Id="R775bc67878d8431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8a432c0d0614075" /><Relationship Type="http://schemas.openxmlformats.org/officeDocument/2006/relationships/notesSlide" Target="/ppt/notesSlides/notesSlide7.xml" Id="Ra31c1fcf8884486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1bd1e98626447bc" /><Relationship Type="http://schemas.openxmlformats.org/officeDocument/2006/relationships/notesSlide" Target="/ppt/notesSlides/notesSlide8.xml" Id="Rc6174d09b0f04f1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45e22eaef5147c6" /><Relationship Type="http://schemas.openxmlformats.org/officeDocument/2006/relationships/notesSlide" Target="/ppt/notesSlides/notesSlide9.xml" Id="Rafa23ff5abc346a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cce5fd8fd3f42ab" /><Relationship Type="http://schemas.openxmlformats.org/officeDocument/2006/relationships/notesSlide" Target="/ppt/notesSlides/notesSlide10.xml" Id="R359f07015d7343a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016a80c4c894977" /><Relationship Type="http://schemas.openxmlformats.org/officeDocument/2006/relationships/notesSlide" Target="/ppt/notesSlides/notesSlide11.xml" Id="R926d200bdb744cd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8cb62b3fdd34d18" /><Relationship Type="http://schemas.openxmlformats.org/officeDocument/2006/relationships/notesSlide" Target="/ppt/notesSlides/notesSlide12.xml" Id="R7fb54c52adf64ea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393700" y="1738755"/>
            <a:ext cx="9448800" cy="2491490"/>
          </a:xfrm>
        </p:spPr>
        <p:txBody>
          <a:bodyPr xmlns:a="http://schemas.openxmlformats.org/drawingml/2006/main" wrap="square" lIns="0" tIns="0" rIns="0" bIns="0" anchor="b">
            <a:noAutofit/>
          </a:bodyPr>
          <a:lstStyle xmlns:a="http://schemas.openxmlformats.org/drawingml/2006/main"/>
          <a:p xmlns:a="http://schemas.openxmlformats.org/drawingml/2006/main">
            <a:pPr marL="0" indent="0" algn="l">
              <a:lnSpc>
                <a:spcPct val="95000"/>
              </a:lnSpc>
              <a:spcBef>
                <a:spcPts val="0"/>
              </a:spcBef>
              <a:spcAft>
                <a:spcPts val="0"/>
              </a:spcAft>
              <a:buNone/>
              <a:defRPr sz="5400">
                <a:solidFill>
                  <a:srgbClr val="000000"/>
                </a:solidFill>
                <a:latin typeface="Helvetica Neue"/>
                <a:ea typeface="Helvetica Neue"/>
                <a:cs typeface="Helvetica Neue"/>
              </a:defRPr>
            </a:pPr>
            <a:r>
              <a:rPr sz="5400">
                <a:solidFill>
                  <a:srgbClr val="000000"/>
                </a:solidFill>
                <a:latin typeface="Helvetica Neue"/>
                <a:ea typeface="Helvetica Neue"/>
                <a:cs typeface="Helvetica Neue"/>
              </a:rPr>
              <a:t>Transformers et modèles</a:t>
            </a:r>
          </a:p>
          <a:p xmlns:a="http://schemas.openxmlformats.org/drawingml/2006/main">
            <a:pPr marL="0" indent="0" algn="l">
              <a:lnSpc>
                <a:spcPct val="95000"/>
              </a:lnSpc>
              <a:spcBef>
                <a:spcPts val="0"/>
              </a:spcBef>
              <a:spcAft>
                <a:spcPts val="0"/>
              </a:spcAft>
              <a:buNone/>
              <a:defRPr sz="5400">
                <a:solidFill>
                  <a:srgbClr val="000000"/>
                </a:solidFill>
                <a:latin typeface="Helvetica Neue"/>
                <a:ea typeface="Helvetica Neue"/>
                <a:cs typeface="Helvetica Neue"/>
              </a:defRPr>
            </a:pPr>
            <a:r>
              <a:rPr sz="5400">
                <a:solidFill>
                  <a:srgbClr val="000000"/>
                </a:solidFill>
                <a:latin typeface="Helvetica Neue"/>
                <a:ea typeface="Helvetica Neue"/>
                <a:cs typeface="Helvetica Neue"/>
              </a:rPr>
              <a:t>de fondation pour les</a:t>
            </a:r>
          </a:p>
          <a:p xmlns:a="http://schemas.openxmlformats.org/drawingml/2006/main">
            <a:pPr marL="0" indent="0" algn="l">
              <a:lnSpc>
                <a:spcPct val="95000"/>
              </a:lnSpc>
              <a:spcBef>
                <a:spcPts val="0"/>
              </a:spcBef>
              <a:spcAft>
                <a:spcPts val="0"/>
              </a:spcAft>
              <a:buNone/>
              <a:defRPr sz="5400">
                <a:solidFill>
                  <a:srgbClr val="000000"/>
                </a:solidFill>
                <a:latin typeface="Helvetica Neue"/>
                <a:ea typeface="Helvetica Neue"/>
                <a:cs typeface="Helvetica Neue"/>
              </a:defRPr>
            </a:pPr>
            <a:r>
              <a:rPr sz="5400">
                <a:solidFill>
                  <a:srgbClr val="000000"/>
                </a:solidFill>
                <a:latin typeface="Helvetica Neue"/>
                <a:ea typeface="Helvetica Neue"/>
                <a:cs typeface="Helvetica Neue"/>
              </a:rPr>
              <a:t>séries temporelles</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393700" y="4742208"/>
            <a:ext cx="5702301" cy="1080246"/>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Yoan Kesraoui</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Sorbonne Data Analytics</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Mémoire de fin d’études 2025-2026</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393700" y="392241"/>
            <a:ext cx="5702300" cy="649159"/>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Soutenance de mémoire</a:t>
            </a:r>
          </a:p>
        </p:txBody>
      </p:sp>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wrap="square" lIns="0" tIns="0" rIns="0" bIns="0" anchor="b">
            <a:noAutofit/>
          </a:bodyPr>
          <a:lstStyle xmlns:a="http://schemas.openxmlformats.org/drawingml/2006/main"/>
          <a:p xmlns:a="http://schemas.openxmlformats.org/drawingml/2006/main">
            <a:pPr marL="0" indent="0" algn="l">
              <a:spcBef>
                <a:spcPts val="0"/>
              </a:spcBef>
              <a:spcAft>
                <a:spcPts val="0"/>
              </a:spcAft>
              <a:buNone/>
              <a:defRPr sz="1000">
                <a:solidFill>
                  <a:srgbClr val="000000"/>
                </a:solidFill>
                <a:latin typeface="Helvetica Neue"/>
                <a:ea typeface="Helvetica Neue"/>
                <a:cs typeface="Helvetica Neue"/>
              </a:defRPr>
            </a:pPr>
            <a:r>
              <a:rPr sz="1000">
                <a:solidFill>
                  <a:srgbClr val="000000"/>
                </a:solidFill>
                <a:latin typeface="Helvetica Neue"/>
                <a:ea typeface="Helvetica Neue"/>
                <a:cs typeface="Helvetica Neue"/>
              </a:rPr>
              <a:t>Revue de littérature</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marL="0" indent="0" algn="r">
              <a:spcBef>
                <a:spcPts val="0"/>
              </a:spcBef>
              <a:spcAft>
                <a:spcPts val="0"/>
              </a:spcAft>
              <a:buNone/>
              <a:defRPr sz="1000">
                <a:solidFill>
                  <a:srgbClr val="000000"/>
                </a:solidFill>
                <a:latin typeface="Helvetica Neue"/>
                <a:ea typeface="Helvetica Neue"/>
                <a:cs typeface="Helvetica Neue"/>
              </a:defRPr>
            </a:pPr>
            <a:r>
              <a:rPr sz="1000">
                <a:solidFill>
                  <a:srgbClr val="000000"/>
                </a:solidFill>
                <a:latin typeface="Helvetica Neue"/>
                <a:ea typeface="Helvetica Neue"/>
                <a:cs typeface="Helvetica Neue"/>
              </a:rPr>
              <a:t>2</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Problématique et démarche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spcBef>
                <a:spcPts val="0"/>
              </a:spcBef>
              <a:spcAft>
                <a:spcPts val="0"/>
              </a:spcAft>
              <a:buNone/>
              <a:defRPr sz="2925">
                <a:solidFill>
                  <a:srgbClr val="000000"/>
                </a:solidFill>
                <a:latin typeface="Helvetica Neue"/>
                <a:ea typeface="Helvetica Neue"/>
                <a:cs typeface="Helvetica Neue"/>
              </a:defRPr>
            </a:pPr>
            <a:r>
              <a:rPr sz="2925">
                <a:solidFill>
                  <a:srgbClr val="000000"/>
                </a:solidFill>
                <a:latin typeface="Helvetica Neue"/>
                <a:ea typeface="Helvetica Neue"/>
                <a:cs typeface="Helvetica Neue"/>
              </a:rPr>
              <a:t>Comment les Transformers</a:t>
            </a:r>
          </a:p>
          <a:p xmlns:a="http://schemas.openxmlformats.org/drawingml/2006/main">
            <a:pPr marL="0" indent="0" algn="l">
              <a:spcBef>
                <a:spcPts val="0"/>
              </a:spcBef>
              <a:spcAft>
                <a:spcPts val="0"/>
              </a:spcAft>
              <a:buNone/>
              <a:defRPr sz="2925">
                <a:solidFill>
                  <a:srgbClr val="000000"/>
                </a:solidFill>
                <a:latin typeface="Helvetica Neue"/>
                <a:ea typeface="Helvetica Neue"/>
                <a:cs typeface="Helvetica Neue"/>
              </a:defRPr>
            </a:pPr>
            <a:r>
              <a:rPr sz="2925">
                <a:solidFill>
                  <a:srgbClr val="000000"/>
                </a:solidFill>
                <a:latin typeface="Helvetica Neue"/>
                <a:ea typeface="Helvetica Neue"/>
                <a:cs typeface="Helvetica Neue"/>
              </a:rPr>
              <a:t>apprennent-ils à prévoir,</a:t>
            </a:r>
          </a:p>
          <a:p xmlns:a="http://schemas.openxmlformats.org/drawingml/2006/main">
            <a:pPr marL="0" indent="0" algn="l">
              <a:spcBef>
                <a:spcPts val="0"/>
              </a:spcBef>
              <a:spcAft>
                <a:spcPts val="0"/>
              </a:spcAft>
              <a:buNone/>
              <a:defRPr sz="2925">
                <a:solidFill>
                  <a:srgbClr val="000000"/>
                </a:solidFill>
                <a:latin typeface="Helvetica Neue"/>
                <a:ea typeface="Helvetica Neue"/>
                <a:cs typeface="Helvetica Neue"/>
              </a:defRPr>
            </a:pPr>
            <a:r>
              <a:rPr sz="2925">
                <a:solidFill>
                  <a:srgbClr val="000000"/>
                </a:solidFill>
                <a:latin typeface="Helvetica Neue"/>
                <a:ea typeface="Helvetica Neue"/>
                <a:cs typeface="Helvetica Neue"/>
              </a:rPr>
              <a:t>et à quelles conditions</a:t>
            </a:r>
          </a:p>
          <a:p xmlns:a="http://schemas.openxmlformats.org/drawingml/2006/main">
            <a:pPr marL="0" indent="0" algn="l">
              <a:spcBef>
                <a:spcPts val="0"/>
              </a:spcBef>
              <a:spcAft>
                <a:spcPts val="0"/>
              </a:spcAft>
              <a:buNone/>
              <a:defRPr sz="2925">
                <a:solidFill>
                  <a:srgbClr val="000000"/>
                </a:solidFill>
                <a:latin typeface="Helvetica Neue"/>
                <a:ea typeface="Helvetica Neue"/>
                <a:cs typeface="Helvetica Neue"/>
              </a:defRPr>
            </a:pPr>
            <a:r>
              <a:rPr sz="2925">
                <a:solidFill>
                  <a:srgbClr val="000000"/>
                </a:solidFill>
                <a:latin typeface="Helvetica Neue"/>
                <a:ea typeface="Helvetica Neue"/>
                <a:cs typeface="Helvetica Neue"/>
              </a:rPr>
              <a:t>transfèrent-ils leurs acquis</a:t>
            </a:r>
          </a:p>
          <a:p xmlns:a="http://schemas.openxmlformats.org/drawingml/2006/main">
            <a:pPr marL="0" indent="0" algn="l">
              <a:spcBef>
                <a:spcPts val="0"/>
              </a:spcBef>
              <a:spcAft>
                <a:spcPts val="0"/>
              </a:spcAft>
              <a:buNone/>
              <a:defRPr sz="2925">
                <a:solidFill>
                  <a:srgbClr val="000000"/>
                </a:solidFill>
                <a:latin typeface="Helvetica Neue"/>
                <a:ea typeface="Helvetica Neue"/>
                <a:cs typeface="Helvetica Neue"/>
              </a:defRPr>
            </a:pPr>
            <a:r>
              <a:rPr sz="2925">
                <a:solidFill>
                  <a:srgbClr val="000000"/>
                </a:solidFill>
                <a:latin typeface="Helvetica Neue"/>
                <a:ea typeface="Helvetica Neue"/>
                <a:cs typeface="Helvetica Neue"/>
              </a:rPr>
              <a:t>à de nouvelles séries ?</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2400">
                <a:solidFill>
                  <a:srgbClr val="000000"/>
                </a:solidFill>
                <a:latin typeface="Helvetica Neue"/>
                <a:ea typeface="Helvetica Neue"/>
                <a:cs typeface="Helvetica Neue"/>
              </a:rPr>
              <a:t>Une revue critique</a:t>
            </a:r>
          </a:p>
          <a:p xmlns:a="http://schemas.openxmlformats.org/drawingml/2006/main">
            <a:pPr marL="0" indent="0">
              <a:spcBef>
                <a:spcPts val="0"/>
              </a:spcBef>
              <a:spcAft>
                <a:spcPts val="0"/>
              </a:spcAft>
              <a:buNone/>
            </a:pPr>
            <a:r>
              <a:rPr sz="1800">
                <a:latin typeface="Helvetica Neue"/>
                <a:ea typeface="Helvetica Neue"/>
                <a:cs typeface="Helvetica Neue"/>
              </a:rPr>
              <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Articles d’origine et travaux consultés</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jusqu’au 9 septembre 2026</a:t>
            </a:r>
          </a:p>
          <a:p xmlns:a="http://schemas.openxmlformats.org/drawingml/2006/main">
            <a:pPr marL="0" indent="0">
              <a:spcBef>
                <a:spcPts val="0"/>
              </a:spcBef>
              <a:spcAft>
                <a:spcPts val="0"/>
              </a:spcAft>
              <a:buNone/>
            </a:pPr>
            <a:r>
              <a:rPr sz="1800">
                <a:latin typeface="Helvetica Neue"/>
                <a:ea typeface="Helvetica Neue"/>
                <a:cs typeface="Helvetica Neue"/>
              </a:rPr>
              <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Grille de lecture commune :</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entrées, interactions, apprentissage, sorties</a:t>
            </a:r>
          </a:p>
          <a:p xmlns:a="http://schemas.openxmlformats.org/drawingml/2006/main">
            <a:pPr marL="0" indent="0">
              <a:spcBef>
                <a:spcPts val="0"/>
              </a:spcBef>
              <a:spcAft>
                <a:spcPts val="0"/>
              </a:spcAft>
              <a:buNone/>
            </a:pPr>
            <a:r>
              <a:rPr sz="1800">
                <a:latin typeface="Helvetica Neue"/>
                <a:ea typeface="Helvetica Neue"/>
                <a:cs typeface="Helvetica Neue"/>
              </a:rPr>
              <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Aucune nouvelle campagne expérimentale</a:t>
            </a:r>
          </a:p>
        </p:txBody>
      </p:sp>
    </p:spTree>
    <p:extLst>
      <p:ext uri="{BB962C8B-B14F-4D97-AF65-F5344CB8AC3E}">
        <p14:creationId xmlns:p14="http://schemas.microsoft.com/office/powerpoint/2010/main" val="366718214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wrap="square" lIns="0" tIns="0" rIns="0" bIns="0" anchor="b">
            <a:noAutofit/>
          </a:bodyPr>
          <a:lstStyle xmlns:a="http://schemas.openxmlformats.org/drawingml/2006/main"/>
          <a:p xmlns:a="http://schemas.openxmlformats.org/drawingml/2006/main">
            <a:pPr marL="0" indent="0" algn="l">
              <a:spcBef>
                <a:spcPts val="0"/>
              </a:spcBef>
              <a:spcAft>
                <a:spcPts val="0"/>
              </a:spcAft>
              <a:buNone/>
              <a:defRPr sz="1000">
                <a:solidFill>
                  <a:srgbClr val="000000"/>
                </a:solidFill>
                <a:latin typeface="Helvetica Neue"/>
                <a:ea typeface="Helvetica Neue"/>
                <a:cs typeface="Helvetica Neue"/>
              </a:defRPr>
            </a:pPr>
            <a:r>
              <a:rPr sz="1000">
                <a:solidFill>
                  <a:srgbClr val="000000"/>
                </a:solidFill>
                <a:latin typeface="Helvetica Neue"/>
                <a:ea typeface="Helvetica Neue"/>
                <a:cs typeface="Helvetica Neue"/>
              </a:rPr>
              <a:t>Mémoire, figure 1, p. 7</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marL="0" indent="0" algn="r">
              <a:spcBef>
                <a:spcPts val="0"/>
              </a:spcBef>
              <a:spcAft>
                <a:spcPts val="0"/>
              </a:spcAft>
              <a:buNone/>
              <a:defRPr sz="1000">
                <a:solidFill>
                  <a:srgbClr val="000000"/>
                </a:solidFill>
                <a:latin typeface="Helvetica Neue"/>
                <a:ea typeface="Helvetica Neue"/>
                <a:cs typeface="Helvetica Neue"/>
              </a:defRPr>
            </a:pPr>
            <a:r>
              <a:rPr sz="1000">
                <a:solidFill>
                  <a:srgbClr val="000000"/>
                </a:solidFill>
                <a:latin typeface="Helvetica Neue"/>
                <a:ea typeface="Helvetica Neue"/>
                <a:cs typeface="Helvetica Neue"/>
              </a:rPr>
              <a:t>3</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L’attention combine l’information accessible</a:t>
            </a:r>
          </a:p>
        </p:txBody>
      </p:sp>
      <p:pic>
        <p:nvPicPr>
          <p:cNvPr id="539" name=""/>
          <p:cNvPicPr>
            <a:picLocks xmlns:a="http://schemas.openxmlformats.org/drawingml/2006/main" noChangeAspect="1"/>
          </p:cNvPicPr>
          <p:nvPr/>
        </p:nvPicPr>
        <p:blipFill>
          <a:blip xmlns:r="http://schemas.openxmlformats.org/officeDocument/2006/relationships" xmlns:a="http://schemas.openxmlformats.org/drawingml/2006/main" r:embed="R634442036e4d498c"/>
          <a:stretch xmlns:a="http://schemas.openxmlformats.org/drawingml/2006/main"/>
        </p:blipFill>
        <p:spPr>
          <a:xfrm xmlns:a="http://schemas.openxmlformats.org/drawingml/2006/main">
            <a:off x="1181100" y="1666875"/>
            <a:ext cx="9829800" cy="4095750"/>
          </a:xfrm>
          <a:prstGeom xmlns:a="http://schemas.openxmlformats.org/drawingml/2006/main" prst="rect">
            <a:avLst/>
          </a:prstGeom>
        </p:spPr>
      </p:pic>
      <p:sp>
        <p:nvSpPr>
          <p:cNvPr id="535" name="Positions : ordre temporel. Masquage : accès aux i">
            <a:extLst xmlns:a="http://schemas.openxmlformats.org/drawingml/2006/main">
              <a:ext uri="{FF2B5EF4-FFF2-40B4-BE49-F238E27FC236}">
                <a16:creationId xmlns:a16="http://schemas.microsoft.com/office/drawing/2014/main" id="{840E9ABB-FAAC-4D6F-A100-B81448D900D3}"/>
              </a:ext>
            </a:extLst>
          </p:cNvPr>
          <p:cNvSpPr>
            <a:spLocks xmlns:a="http://schemas.openxmlformats.org/drawingml/2006/main" noGrp="1"/>
          </p:cNvSpPr>
          <p:nvPr/>
        </p:nvSpPr>
        <p:spPr>
          <a:xfrm xmlns:a="http://schemas.openxmlformats.org/drawingml/2006/main">
            <a:off x="393668" y="5762625"/>
            <a:ext cx="11404568"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875">
                <a:solidFill>
                  <a:srgbClr val="000000"/>
                </a:solidFill>
                <a:latin typeface="Helvetica Neue"/>
                <a:ea typeface="Helvetica Neue"/>
                <a:cs typeface="Helvetica Neue"/>
              </a:defRPr>
            </a:pPr>
            <a:r>
              <a:rPr sz="1875">
                <a:solidFill>
                  <a:srgbClr val="000000"/>
                </a:solidFill>
                <a:latin typeface="Helvetica Neue"/>
                <a:ea typeface="Helvetica Neue"/>
                <a:cs typeface="Helvetica Neue"/>
              </a:rPr>
              <a:t>Positions : ordre temporel. Masquage : accès aux informations admissibles.</a:t>
            </a:r>
          </a:p>
        </p:txBody>
      </p:sp>
    </p:spTree>
    <p:extLst>
      <p:ext uri="{BB962C8B-B14F-4D97-AF65-F5344CB8AC3E}">
        <p14:creationId xmlns:p14="http://schemas.microsoft.com/office/powerpoint/2010/main" val="366718214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wrap="square" lIns="0" tIns="0" rIns="0" bIns="0" anchor="b">
            <a:noAutofit/>
          </a:bodyPr>
          <a:lstStyle xmlns:a="http://schemas.openxmlformats.org/drawingml/2006/main"/>
          <a:p xmlns:a="http://schemas.openxmlformats.org/drawingml/2006/main">
            <a:pPr marL="0" indent="0" algn="l">
              <a:spcBef>
                <a:spcPts val="0"/>
              </a:spcBef>
              <a:spcAft>
                <a:spcPts val="0"/>
              </a:spcAft>
              <a:buNone/>
              <a:defRPr sz="1000">
                <a:solidFill>
                  <a:srgbClr val="000000"/>
                </a:solidFill>
                <a:latin typeface="Helvetica Neue"/>
                <a:ea typeface="Helvetica Neue"/>
                <a:cs typeface="Helvetica Neue"/>
              </a:defRPr>
            </a:pPr>
            <a:r>
              <a:rPr sz="1000">
                <a:solidFill>
                  <a:srgbClr val="000000"/>
                </a:solidFill>
                <a:latin typeface="Helvetica Neue"/>
                <a:ea typeface="Helvetica Neue"/>
                <a:cs typeface="Helvetica Neue"/>
              </a:rPr>
              <a:t>Mémoire, figure 3, p. 14</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marL="0" indent="0" algn="r">
              <a:spcBef>
                <a:spcPts val="0"/>
              </a:spcBef>
              <a:spcAft>
                <a:spcPts val="0"/>
              </a:spcAft>
              <a:buNone/>
              <a:defRPr sz="1000">
                <a:solidFill>
                  <a:srgbClr val="000000"/>
                </a:solidFill>
                <a:latin typeface="Helvetica Neue"/>
                <a:ea typeface="Helvetica Neue"/>
                <a:cs typeface="Helvetica Neue"/>
              </a:defRPr>
            </a:pPr>
            <a:r>
              <a:rPr sz="1000">
                <a:solidFill>
                  <a:srgbClr val="000000"/>
                </a:solidFill>
                <a:latin typeface="Helvetica Neue"/>
                <a:ea typeface="Helvetica Neue"/>
                <a:cs typeface="Helvetica Neue"/>
              </a:rPr>
              <a:t>4</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Le token détermine ce que l’attention compare</a:t>
            </a:r>
          </a:p>
        </p:txBody>
      </p:sp>
      <p:pic>
        <p:nvPicPr>
          <p:cNvPr id="538" name=""/>
          <p:cNvPicPr>
            <a:picLocks xmlns:a="http://schemas.openxmlformats.org/drawingml/2006/main" noChangeAspect="1"/>
          </p:cNvPicPr>
          <p:nvPr/>
        </p:nvPicPr>
        <p:blipFill>
          <a:blip xmlns:r="http://schemas.openxmlformats.org/officeDocument/2006/relationships" xmlns:a="http://schemas.openxmlformats.org/drawingml/2006/main" r:embed="R6ef1527996a44021"/>
          <a:stretch xmlns:a="http://schemas.openxmlformats.org/drawingml/2006/main"/>
        </p:blipFill>
        <p:spPr>
          <a:xfrm xmlns:a="http://schemas.openxmlformats.org/drawingml/2006/main">
            <a:off x="1020919" y="1428750"/>
            <a:ext cx="10150162" cy="4619625"/>
          </a:xfrm>
          <a:prstGeom xmlns:a="http://schemas.openxmlformats.org/drawingml/2006/main" prst="rect">
            <a:avLst/>
          </a:prstGeom>
        </p:spPr>
      </p:pic>
    </p:spTree>
    <p:extLst>
      <p:ext uri="{BB962C8B-B14F-4D97-AF65-F5344CB8AC3E}">
        <p14:creationId xmlns:p14="http://schemas.microsoft.com/office/powerpoint/2010/main" val="366718214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7" name="Footer Placeholder 6">
            <a:extLst xmlns:a="http://schemas.openxmlformats.org/drawingml/2006/main">
              <a:ext uri="{FF2B5EF4-FFF2-40B4-BE49-F238E27FC236}">
                <a16:creationId xmlns:a16="http://schemas.microsoft.com/office/drawing/2014/main" id="{3AC3A10F-8642-8154-9AEA-7110D289C62E}"/>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wrap="square" lIns="0" tIns="0" rIns="0" bIns="0" anchor="b">
            <a:noAutofit/>
          </a:bodyPr>
          <a:lstStyle xmlns:a="http://schemas.openxmlformats.org/drawingml/2006/main"/>
          <a:p xmlns:a="http://schemas.openxmlformats.org/drawingml/2006/main">
            <a:pPr marL="0" indent="0" algn="l">
              <a:spcBef>
                <a:spcPts val="0"/>
              </a:spcBef>
              <a:spcAft>
                <a:spcPts val="0"/>
              </a:spcAft>
              <a:buNone/>
              <a:defRPr sz="1000">
                <a:solidFill>
                  <a:srgbClr val="000000"/>
                </a:solidFill>
                <a:latin typeface="Helvetica Neue"/>
                <a:ea typeface="Helvetica Neue"/>
                <a:cs typeface="Helvetica Neue"/>
              </a:defRPr>
            </a:pPr>
            <a:r>
              <a:rPr sz="1000">
                <a:solidFill>
                  <a:srgbClr val="000000"/>
                </a:solidFill>
                <a:latin typeface="Helvetica Neue"/>
                <a:ea typeface="Helvetica Neue"/>
                <a:cs typeface="Helvetica Neue"/>
              </a:rPr>
              <a:t>Zero-shot et adaptation sont deux régimes distincts</a:t>
            </a:r>
          </a:p>
        </p:txBody>
      </p:sp>
      <p:sp>
        <p:nvSpPr>
          <p:cNvPr id="4" name="Slide Number Placeholder 3">
            <a:extLst xmlns:a="http://schemas.openxmlformats.org/drawingml/2006/main">
              <a:ext uri="{FF2B5EF4-FFF2-40B4-BE49-F238E27FC236}">
                <a16:creationId xmlns:a16="http://schemas.microsoft.com/office/drawing/2014/main" id="{6BBF0163-E4B1-61D1-776D-45470B16F0F4}"/>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wrap="square" lIns="0" tIns="0" rIns="0" bIns="0" anchor="b">
            <a:noAutofit/>
          </a:bodyPr>
          <a:lstStyle xmlns:a="http://schemas.openxmlformats.org/drawingml/2006/main"/>
          <a:p xmlns:a="http://schemas.openxmlformats.org/drawingml/2006/main">
            <a:pPr marL="0" indent="0" algn="r">
              <a:spcBef>
                <a:spcPts val="0"/>
              </a:spcBef>
              <a:spcAft>
                <a:spcPts val="0"/>
              </a:spcAft>
              <a:buNone/>
              <a:defRPr sz="1000">
                <a:solidFill>
                  <a:srgbClr val="000000"/>
                </a:solidFill>
                <a:latin typeface="Helvetica Neue"/>
                <a:ea typeface="Helvetica Neue"/>
                <a:cs typeface="Helvetica Neue"/>
              </a:defRPr>
            </a:pPr>
            <a:r>
              <a:rPr sz="1000">
                <a:solidFill>
                  <a:srgbClr val="000000"/>
                </a:solidFill>
                <a:latin typeface="Helvetica Neue"/>
                <a:ea typeface="Helvetica Neue"/>
                <a:cs typeface="Helvetica Neue"/>
              </a:rPr>
              <a:t>5</a:t>
            </a:r>
          </a:p>
        </p:txBody>
      </p:sp>
      <p:sp>
        <p:nvSpPr>
          <p:cNvPr id="11" name="Title 10">
            <a:extLst xmlns:a="http://schemas.openxmlformats.org/drawingml/2006/main">
              <a:ext uri="{FF2B5EF4-FFF2-40B4-BE49-F238E27FC236}">
                <a16:creationId xmlns:a16="http://schemas.microsoft.com/office/drawing/2014/main" id="{9759E2FE-9F02-E1B4-EBBC-AA8624ACC339}"/>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Le préentraînement permet de réutiliser le modèle</a:t>
            </a:r>
          </a:p>
        </p:txBody>
      </p:sp>
      <p:cxnSp>
        <p:nvCxnSpPr>
          <p:cNvPr id="25" name="Google Shape;2259;p159"/>
          <p:cNvCxnSpPr>
            <a:stCxn xmlns:a="http://schemas.openxmlformats.org/drawingml/2006/main" id="3" idx="2"/>
          </p:cNvCxnSpPr>
          <p:nvPr/>
        </p:nvCxnSpPr>
        <p:spPr>
          <a:xfrm xmlns:a="http://schemas.openxmlformats.org/drawingml/2006/main">
            <a:off x="393668" y="3373755"/>
            <a:ext cx="11404568" cy="286"/>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39A86B1D-EA5D-3FA6-7D83-8F21D70E330E}"/>
              </a:ext>
            </a:extLst>
          </p:cNvPr>
          <p:cNvSpPr>
            <a:spLocks xmlns:a="http://schemas.openxmlformats.org/drawingml/2006/main" noGrp="1"/>
          </p:cNvSpPr>
          <p:nvPr/>
        </p:nvSpPr>
        <p:spPr>
          <a:xfrm xmlns:a="http://schemas.openxmlformats.org/drawingml/2006/main">
            <a:off x="337718" y="3320203"/>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xmlns:a="http://schemas.openxmlformats.org/drawingml/2006/main">
              <a:ext uri="{FF2B5EF4-FFF2-40B4-BE49-F238E27FC236}">
                <a16:creationId xmlns:a16="http://schemas.microsoft.com/office/drawing/2014/main" id="{A1013DAF-A2C3-BC42-73D5-9D8AB55DCA94}"/>
              </a:ext>
            </a:extLst>
          </p:cNvPr>
          <p:cNvSpPr>
            <a:spLocks xmlns:a="http://schemas.openxmlformats.org/drawingml/2006/main" noGrp="1"/>
          </p:cNvSpPr>
          <p:nvPr/>
        </p:nvSpPr>
        <p:spPr>
          <a:xfrm xmlns:a="http://schemas.openxmlformats.org/drawingml/2006/main">
            <a:off x="4251750" y="3320203"/>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xmlns:a="http://schemas.openxmlformats.org/drawingml/2006/main">
              <a:ext uri="{FF2B5EF4-FFF2-40B4-BE49-F238E27FC236}">
                <a16:creationId xmlns:a16="http://schemas.microsoft.com/office/drawing/2014/main" id="{4654A74A-2C40-A8C6-E9F9-43C58A3ADE20}"/>
              </a:ext>
            </a:extLst>
          </p:cNvPr>
          <p:cNvSpPr>
            <a:spLocks xmlns:a="http://schemas.openxmlformats.org/drawingml/2006/main" noGrp="1"/>
          </p:cNvSpPr>
          <p:nvPr/>
        </p:nvSpPr>
        <p:spPr>
          <a:xfrm xmlns:a="http://schemas.openxmlformats.org/drawingml/2006/main">
            <a:off x="8176050" y="3320203"/>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9" name="Content Placeholder 15">
            <a:extLst xmlns:a="http://schemas.openxmlformats.org/drawingml/2006/main">
              <a:ext uri="{FF2B5EF4-FFF2-40B4-BE49-F238E27FC236}">
                <a16:creationId xmlns:a16="http://schemas.microsoft.com/office/drawing/2014/main" id="{76C75857-E8EA-1B37-0464-3C7048D7FBEB}"/>
              </a:ext>
            </a:extLst>
          </p:cNvPr>
          <p:cNvSpPr>
            <a:spLocks xmlns:a="http://schemas.openxmlformats.org/drawingml/2006/main" noGrp="1"/>
          </p:cNvSpPr>
          <p:nvPr/>
        </p:nvSpPr>
        <p:spPr>
          <a:xfrm xmlns:a="http://schemas.openxmlformats.org/drawingml/2006/main">
            <a:off x="393668" y="2843308"/>
            <a:ext cx="3333750" cy="34290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spcBef>
                <a:spcPts val="0"/>
              </a:spcBef>
              <a:spcAft>
                <a:spcPts val="0"/>
              </a:spcAft>
              <a:buNone/>
              <a:defRPr sz="1950">
                <a:solidFill>
                  <a:srgbClr val="000000"/>
                </a:solidFill>
                <a:latin typeface="Helvetica Neue"/>
                <a:ea typeface="Helvetica Neue"/>
                <a:cs typeface="Helvetica Neue"/>
              </a:defRPr>
            </a:pPr>
            <a:r>
              <a:rPr sz="1950">
                <a:solidFill>
                  <a:srgbClr val="000000"/>
                </a:solidFill>
                <a:latin typeface="Helvetica Neue"/>
                <a:ea typeface="Helvetica Neue"/>
                <a:cs typeface="Helvetica Neue"/>
              </a:rPr>
              <a:t>Préentraînement</a:t>
            </a:r>
          </a:p>
        </p:txBody>
      </p:sp>
      <p:sp>
        <p:nvSpPr>
          <p:cNvPr id="13" name="Content Placeholder 15">
            <a:extLst xmlns:a="http://schemas.openxmlformats.org/drawingml/2006/main">
              <a:ext uri="{FF2B5EF4-FFF2-40B4-BE49-F238E27FC236}">
                <a16:creationId xmlns:a16="http://schemas.microsoft.com/office/drawing/2014/main" id="{76AEECBA-C292-6302-8A8E-7EB14A54E420}"/>
              </a:ext>
            </a:extLst>
          </p:cNvPr>
          <p:cNvSpPr>
            <a:spLocks xmlns:a="http://schemas.openxmlformats.org/drawingml/2006/main" noGrp="1"/>
          </p:cNvSpPr>
          <p:nvPr/>
        </p:nvSpPr>
        <p:spPr>
          <a:xfrm xmlns:a="http://schemas.openxmlformats.org/drawingml/2006/main">
            <a:off x="4294156" y="2843308"/>
            <a:ext cx="3333750" cy="34290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spcBef>
                <a:spcPts val="0"/>
              </a:spcBef>
              <a:spcAft>
                <a:spcPts val="0"/>
              </a:spcAft>
              <a:buNone/>
              <a:defRPr sz="1950">
                <a:solidFill>
                  <a:srgbClr val="000000"/>
                </a:solidFill>
                <a:latin typeface="Helvetica Neue"/>
                <a:ea typeface="Helvetica Neue"/>
                <a:cs typeface="Helvetica Neue"/>
              </a:defRPr>
            </a:pPr>
            <a:r>
              <a:rPr sz="1950">
                <a:solidFill>
                  <a:srgbClr val="000000"/>
                </a:solidFill>
                <a:latin typeface="Helvetica Neue"/>
                <a:ea typeface="Helvetica Neue"/>
                <a:cs typeface="Helvetica Neue"/>
              </a:rPr>
              <a:t>Nouvelle série</a:t>
            </a:r>
          </a:p>
        </p:txBody>
      </p:sp>
      <p:sp>
        <p:nvSpPr>
          <p:cNvPr id="14" name="Content Placeholder 15">
            <a:extLst xmlns:a="http://schemas.openxmlformats.org/drawingml/2006/main">
              <a:ext uri="{FF2B5EF4-FFF2-40B4-BE49-F238E27FC236}">
                <a16:creationId xmlns:a16="http://schemas.microsoft.com/office/drawing/2014/main" id="{95982BB0-2387-9BAA-9F14-F45500C04700}"/>
              </a:ext>
            </a:extLst>
          </p:cNvPr>
          <p:cNvSpPr>
            <a:spLocks xmlns:a="http://schemas.openxmlformats.org/drawingml/2006/main" noGrp="1"/>
          </p:cNvSpPr>
          <p:nvPr/>
        </p:nvSpPr>
        <p:spPr>
          <a:xfrm xmlns:a="http://schemas.openxmlformats.org/drawingml/2006/main">
            <a:off x="8223218" y="2843308"/>
            <a:ext cx="3333750" cy="34290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spcBef>
                <a:spcPts val="0"/>
              </a:spcBef>
              <a:spcAft>
                <a:spcPts val="0"/>
              </a:spcAft>
              <a:buNone/>
              <a:defRPr sz="1950">
                <a:solidFill>
                  <a:srgbClr val="000000"/>
                </a:solidFill>
                <a:latin typeface="Helvetica Neue"/>
                <a:ea typeface="Helvetica Neue"/>
                <a:cs typeface="Helvetica Neue"/>
              </a:defRPr>
            </a:pPr>
            <a:r>
              <a:rPr sz="1950">
                <a:solidFill>
                  <a:srgbClr val="000000"/>
                </a:solidFill>
                <a:latin typeface="Helvetica Neue"/>
                <a:ea typeface="Helvetica Neue"/>
                <a:cs typeface="Helvetica Neue"/>
              </a:rPr>
              <a:t>Prévision</a:t>
            </a:r>
          </a:p>
        </p:txBody>
      </p:sp>
      <p:sp>
        <p:nvSpPr>
          <p:cNvPr id="8" name="Text Placeholder 16">
            <a:extLst xmlns:a="http://schemas.openxmlformats.org/drawingml/2006/main">
              <a:ext uri="{FF2B5EF4-FFF2-40B4-BE49-F238E27FC236}">
                <a16:creationId xmlns:a16="http://schemas.microsoft.com/office/drawing/2014/main" id="{D0EE3B6B-F07C-271E-2F97-41D7686F1C33}"/>
              </a:ext>
            </a:extLst>
          </p:cNvPr>
          <p:cNvSpPr>
            <a:spLocks xmlns:a="http://schemas.openxmlformats.org/drawingml/2006/main" noGrp="1"/>
          </p:cNvSpPr>
          <p:nvPr/>
        </p:nvSpPr>
        <p:spPr>
          <a:xfrm xmlns:a="http://schemas.openxmlformats.org/drawingml/2006/main">
            <a:off x="4317118" y="3822700"/>
            <a:ext cx="3156125" cy="1586256"/>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2400">
                <a:solidFill>
                  <a:srgbClr val="000000"/>
                </a:solidFill>
                <a:latin typeface="Helvetica Neue"/>
                <a:ea typeface="Helvetica Neue"/>
                <a:cs typeface="Helvetica Neue"/>
              </a:rPr>
              <a:t>Un nouvel historique</a:t>
            </a:r>
          </a:p>
          <a:p xmlns:a="http://schemas.openxmlformats.org/drawingml/2006/main">
            <a:pPr marL="0" indent="0">
              <a:spcBef>
                <a:spcPts val="0"/>
              </a:spcBef>
              <a:spcAft>
                <a:spcPts val="0"/>
              </a:spcAft>
              <a:buNone/>
            </a:pPr>
            <a:r>
              <a:rPr sz="1800">
                <a:latin typeface="Helvetica Neue"/>
                <a:ea typeface="Helvetica Neue"/>
                <a:cs typeface="Helvetica Neue"/>
              </a:rPr>
              <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Le contexte change</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Les paramètres restent fixes</a:t>
            </a:r>
          </a:p>
        </p:txBody>
      </p:sp>
      <p:sp>
        <p:nvSpPr>
          <p:cNvPr id="15" name="Text Placeholder 16">
            <a:extLst xmlns:a="http://schemas.openxmlformats.org/drawingml/2006/main">
              <a:ext uri="{FF2B5EF4-FFF2-40B4-BE49-F238E27FC236}">
                <a16:creationId xmlns:a16="http://schemas.microsoft.com/office/drawing/2014/main" id="{B3EA0E10-C778-6971-AFB5-9B9B52B082D5}"/>
              </a:ext>
            </a:extLst>
          </p:cNvPr>
          <p:cNvSpPr>
            <a:spLocks xmlns:a="http://schemas.openxmlformats.org/drawingml/2006/main" noGrp="1"/>
          </p:cNvSpPr>
          <p:nvPr/>
        </p:nvSpPr>
        <p:spPr>
          <a:xfrm xmlns:a="http://schemas.openxmlformats.org/drawingml/2006/main">
            <a:off x="399873" y="3822700"/>
            <a:ext cx="3156125" cy="1586256"/>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2400">
                <a:solidFill>
                  <a:srgbClr val="000000"/>
                </a:solidFill>
                <a:latin typeface="Helvetica Neue"/>
                <a:ea typeface="Helvetica Neue"/>
                <a:cs typeface="Helvetica Neue"/>
              </a:rPr>
              <a:t>Des séries variées</a:t>
            </a:r>
          </a:p>
          <a:p xmlns:a="http://schemas.openxmlformats.org/drawingml/2006/main">
            <a:pPr marL="0" indent="0">
              <a:spcBef>
                <a:spcPts val="0"/>
              </a:spcBef>
              <a:spcAft>
                <a:spcPts val="0"/>
              </a:spcAft>
              <a:buNone/>
            </a:pPr>
            <a:r>
              <a:rPr sz="1800">
                <a:latin typeface="Helvetica Neue"/>
                <a:ea typeface="Helvetica Neue"/>
                <a:cs typeface="Helvetica Neue"/>
              </a:rPr>
              <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Domaines et fréquences variés</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Apprentissage des paramètres</a:t>
            </a:r>
          </a:p>
        </p:txBody>
      </p:sp>
      <p:sp>
        <p:nvSpPr>
          <p:cNvPr id="19" name="Text Placeholder 16">
            <a:extLst xmlns:a="http://schemas.openxmlformats.org/drawingml/2006/main">
              <a:ext uri="{FF2B5EF4-FFF2-40B4-BE49-F238E27FC236}">
                <a16:creationId xmlns:a16="http://schemas.microsoft.com/office/drawing/2014/main" id="{5A9F39A9-7A23-0F85-F761-1AB9FA6B8FDE}"/>
              </a:ext>
            </a:extLst>
          </p:cNvPr>
          <p:cNvSpPr>
            <a:spLocks xmlns:a="http://schemas.openxmlformats.org/drawingml/2006/main" noGrp="1"/>
          </p:cNvSpPr>
          <p:nvPr/>
        </p:nvSpPr>
        <p:spPr>
          <a:xfrm xmlns:a="http://schemas.openxmlformats.org/drawingml/2006/main">
            <a:off x="8177917" y="3822700"/>
            <a:ext cx="3156125" cy="1586256"/>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2400">
                <a:solidFill>
                  <a:srgbClr val="000000"/>
                </a:solidFill>
                <a:latin typeface="Helvetica Neue"/>
                <a:ea typeface="Helvetica Neue"/>
                <a:cs typeface="Helvetica Neue"/>
              </a:rPr>
              <a:t>Un futur à estimer</a:t>
            </a:r>
          </a:p>
          <a:p xmlns:a="http://schemas.openxmlformats.org/drawingml/2006/main">
            <a:pPr marL="0" indent="0">
              <a:spcBef>
                <a:spcPts val="0"/>
              </a:spcBef>
              <a:spcAft>
                <a:spcPts val="0"/>
              </a:spcAft>
              <a:buNone/>
            </a:pPr>
            <a:r>
              <a:rPr sz="1800">
                <a:latin typeface="Helvetica Neue"/>
                <a:ea typeface="Helvetica Neue"/>
                <a:cs typeface="Helvetica Neue"/>
              </a:rPr>
              <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Réutilisation du modèle</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Sans mise à jour par gradient</a:t>
            </a:r>
          </a:p>
        </p:txBody>
      </p:sp>
      <p:sp>
        <p:nvSpPr>
          <p:cNvPr id="20" name="Zero-shot : paramètres fixes sur la tâche cible">
            <a:extLst xmlns:a="http://schemas.openxmlformats.org/drawingml/2006/main">
              <a:ext uri="{FF2B5EF4-FFF2-40B4-BE49-F238E27FC236}">
                <a16:creationId xmlns:a16="http://schemas.microsoft.com/office/drawing/2014/main" id="{FB440E7A-A0DC-4C5A-B110-9FE8ABB604F7}"/>
              </a:ext>
            </a:extLst>
          </p:cNvPr>
          <p:cNvSpPr>
            <a:spLocks xmlns:a="http://schemas.openxmlformats.org/drawingml/2006/main" noGrp="1"/>
          </p:cNvSpPr>
          <p:nvPr/>
        </p:nvSpPr>
        <p:spPr>
          <a:xfrm xmlns:a="http://schemas.openxmlformats.org/drawingml/2006/main">
            <a:off x="393668" y="1685925"/>
            <a:ext cx="11404568"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700">
                <a:solidFill>
                  <a:srgbClr val="000000"/>
                </a:solidFill>
                <a:latin typeface="Helvetica Neue"/>
                <a:ea typeface="Helvetica Neue"/>
                <a:cs typeface="Helvetica Neue"/>
              </a:defRPr>
            </a:pPr>
            <a:r>
              <a:rPr sz="2700">
                <a:solidFill>
                  <a:srgbClr val="000000"/>
                </a:solidFill>
                <a:latin typeface="Helvetica Neue"/>
                <a:ea typeface="Helvetica Neue"/>
                <a:cs typeface="Helvetica Neue"/>
              </a:rPr>
              <a:t>Zero-shot : paramètres fixes sur la tâche cible</a:t>
            </a:r>
          </a:p>
        </p:txBody>
      </p:sp>
      <p:sp>
        <p:nvSpPr>
          <p:cNvPr id="21" name="Le fine-tuning modifie tout ou partie des paramètr">
            <a:extLst xmlns:a="http://schemas.openxmlformats.org/drawingml/2006/main">
              <a:ext uri="{FF2B5EF4-FFF2-40B4-BE49-F238E27FC236}">
                <a16:creationId xmlns:a16="http://schemas.microsoft.com/office/drawing/2014/main" id="{AFBE0A6C-EDA4-4B3E-90D9-E660D239B7E7}"/>
              </a:ext>
            </a:extLst>
          </p:cNvPr>
          <p:cNvSpPr>
            <a:spLocks xmlns:a="http://schemas.openxmlformats.org/drawingml/2006/main" noGrp="1"/>
          </p:cNvSpPr>
          <p:nvPr/>
        </p:nvSpPr>
        <p:spPr>
          <a:xfrm xmlns:a="http://schemas.openxmlformats.org/drawingml/2006/main">
            <a:off x="393668" y="5715000"/>
            <a:ext cx="11404568"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Le fine-tuning modifie tout ou partie des paramètres.</a:t>
            </a:r>
          </a:p>
        </p:txBody>
      </p:sp>
    </p:spTree>
    <p:extLst>
      <p:ext uri="{BB962C8B-B14F-4D97-AF65-F5344CB8AC3E}">
        <p14:creationId xmlns:p14="http://schemas.microsoft.com/office/powerpoint/2010/main" val="344633891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B8357537-167D-0462-A21D-DD8E87444BE4}"/>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wrap="square" lIns="0" tIns="0" rIns="0" bIns="0" anchor="b">
            <a:noAutofit/>
          </a:bodyPr>
          <a:lstStyle xmlns:a="http://schemas.openxmlformats.org/drawingml/2006/main"/>
          <a:p xmlns:a="http://schemas.openxmlformats.org/drawingml/2006/main">
            <a:pPr marL="0" indent="0" algn="l">
              <a:spcBef>
                <a:spcPts val="0"/>
              </a:spcBef>
              <a:spcAft>
                <a:spcPts val="0"/>
              </a:spcAft>
              <a:buNone/>
              <a:defRPr sz="1000">
                <a:solidFill>
                  <a:srgbClr val="000000"/>
                </a:solidFill>
                <a:latin typeface="Helvetica Neue"/>
                <a:ea typeface="Helvetica Neue"/>
                <a:cs typeface="Helvetica Neue"/>
              </a:defRPr>
            </a:pPr>
            <a:r>
              <a:rPr sz="1000">
                <a:solidFill>
                  <a:srgbClr val="000000"/>
                </a:solidFill>
                <a:latin typeface="Helvetica Neue"/>
                <a:ea typeface="Helvetica Neue"/>
                <a:cs typeface="Helvetica Neue"/>
              </a:rPr>
              <a:t>Versions décrites dans le mémoire, p. 18-20</a:t>
            </a:r>
          </a:p>
        </p:txBody>
      </p:sp>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marL="0" indent="0" algn="r">
              <a:spcBef>
                <a:spcPts val="0"/>
              </a:spcBef>
              <a:spcAft>
                <a:spcPts val="0"/>
              </a:spcAft>
              <a:buNone/>
              <a:defRPr sz="1000">
                <a:solidFill>
                  <a:srgbClr val="000000"/>
                </a:solidFill>
                <a:latin typeface="Helvetica Neue"/>
                <a:ea typeface="Helvetica Neue"/>
                <a:cs typeface="Helvetica Neue"/>
              </a:defRPr>
            </a:pPr>
            <a:r>
              <a:rPr sz="1000">
                <a:solidFill>
                  <a:srgbClr val="000000"/>
                </a:solidFill>
                <a:latin typeface="Helvetica Neue"/>
                <a:ea typeface="Helvetica Neue"/>
                <a:cs typeface="Helvetica Neue"/>
              </a:rPr>
              <a:t>6</a:t>
            </a: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Trois méthodes, des sorties différentes</a:t>
            </a:r>
          </a:p>
        </p:txBody>
      </p:sp>
      <p:sp>
        <p:nvSpPr>
          <p:cNvPr id="534" name="La représentation et la sortie font partie du choi">
            <a:extLst xmlns:a="http://schemas.openxmlformats.org/drawingml/2006/main">
              <a:ext uri="{FF2B5EF4-FFF2-40B4-BE49-F238E27FC236}">
                <a16:creationId xmlns:a16="http://schemas.microsoft.com/office/drawing/2014/main" id="{224C3D61-7474-40DB-8B1F-C86B2BBAA845}"/>
              </a:ext>
            </a:extLst>
          </p:cNvPr>
          <p:cNvSpPr>
            <a:spLocks xmlns:a="http://schemas.openxmlformats.org/drawingml/2006/main" noGrp="1"/>
          </p:cNvSpPr>
          <p:nvPr/>
        </p:nvSpPr>
        <p:spPr>
          <a:xfrm xmlns:a="http://schemas.openxmlformats.org/drawingml/2006/main">
            <a:off x="393668" y="1428750"/>
            <a:ext cx="11404568"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La représentation et la sortie font partie du choix du modèle.</a:t>
            </a:r>
          </a:p>
        </p:txBody>
      </p:sp>
      <p:graphicFrame>
        <p:nvGraphicFramePr>
          <p:cNvPr id="540" name=""/>
          <p:cNvGraphicFramePr/>
          <p:nvPr/>
        </p:nvGraphicFramePr>
        <p:xfrm>
          <a:off xmlns:a="http://schemas.openxmlformats.org/drawingml/2006/main" x="393668" y="2190750"/>
          <a:ext xmlns:a="http://schemas.openxmlformats.org/drawingml/2006/main" cx="11404568" cy="3524250"/>
        </p:xfrm>
        <a:graphic xmlns:a="http://schemas.openxmlformats.org/drawingml/2006/main">
          <a:graphicData uri="http://schemas.openxmlformats.org/drawingml/2006/table">
            <a:tbl>
              <a:tblPr firstRow="0" bandRow="0"/>
              <a:tblGrid>
                <a:gridCol w="2428875"/>
                <a:gridCol w="5305425"/>
                <a:gridCol w="3667125"/>
              </a:tblGrid>
              <a:tr h="552450">
                <a:tc>
                  <a:txBody>
                    <a:bodyPr wrap="square" lIns="133350" tIns="114300" rIns="133350" bIns="114300">
                      <a:noAutofit/>
                    </a:bodyPr>
                    <a:lstStyle/>
                    <a:p>
                      <a:r>
                        <a:rPr sz="1800" b="1">
                          <a:solidFill>
                            <a:srgbClr val="000000"/>
                          </a:solidFill>
                          <a:latin typeface="Helvetica Neue"/>
                          <a:ea typeface="Helvetica Neue"/>
                          <a:cs typeface="Helvetica Neue"/>
                        </a:rPr>
                        <a:t>Modèle étudié</a:t>
                      </a:r>
                    </a:p>
                  </a:txBody>
                  <a:tcPr marL="91440" marR="91440" marT="45720" marB="45720" anchor="ctr">
                    <a:solidFill>
                      <a:srgbClr val="EAEAEA"/>
                    </a:solidFill>
                  </a:tcPr>
                </a:tc>
                <a:tc>
                  <a:txBody>
                    <a:bodyPr wrap="square" lIns="133350" tIns="114300" rIns="133350" bIns="114300">
                      <a:noAutofit/>
                    </a:bodyPr>
                    <a:lstStyle/>
                    <a:p>
                      <a:r>
                        <a:rPr sz="1800" b="1">
                          <a:solidFill>
                            <a:srgbClr val="000000"/>
                          </a:solidFill>
                          <a:latin typeface="Helvetica Neue"/>
                          <a:ea typeface="Helvetica Neue"/>
                          <a:cs typeface="Helvetica Neue"/>
                        </a:rPr>
                        <a:t>Représentation et interactions</a:t>
                      </a:r>
                    </a:p>
                  </a:txBody>
                  <a:tcPr marL="91440" marR="91440" marT="45720" marB="45720" anchor="ctr">
                    <a:solidFill>
                      <a:srgbClr val="EAEAEA"/>
                    </a:solidFill>
                  </a:tcPr>
                </a:tc>
                <a:tc>
                  <a:txBody>
                    <a:bodyPr wrap="square" lIns="133350" tIns="114300" rIns="133350" bIns="114300">
                      <a:noAutofit/>
                    </a:bodyPr>
                    <a:lstStyle/>
                    <a:p>
                      <a:r>
                        <a:rPr sz="1800" b="1">
                          <a:solidFill>
                            <a:srgbClr val="000000"/>
                          </a:solidFill>
                          <a:latin typeface="Helvetica Neue"/>
                          <a:ea typeface="Helvetica Neue"/>
                          <a:cs typeface="Helvetica Neue"/>
                        </a:rPr>
                        <a:t>Sortie</a:t>
                      </a:r>
                    </a:p>
                  </a:txBody>
                  <a:tcPr marL="91440" marR="91440" marT="45720" marB="45720" anchor="ctr">
                    <a:solidFill>
                      <a:srgbClr val="EAEAEA"/>
                    </a:solidFill>
                  </a:tcPr>
                </a:tc>
              </a:tr>
              <a:tr h="990600">
                <a:tc>
                  <a:txBody>
                    <a:bodyPr wrap="square" lIns="133350" tIns="114300" rIns="133350" bIns="114300">
                      <a:noAutofit/>
                    </a:bodyPr>
                    <a:lstStyle/>
                    <a:p>
                      <a:r>
                        <a:rPr sz="1800" b="0">
                          <a:solidFill>
                            <a:srgbClr val="000000"/>
                          </a:solidFill>
                          <a:latin typeface="Helvetica Neue"/>
                          <a:ea typeface="Helvetica Neue"/>
                          <a:cs typeface="Helvetica Neue"/>
                        </a:rPr>
                        <a:t>Chronos initial</a:t>
                      </a:r>
                    </a:p>
                    <a:p>
                      <a:r>
                        <a:rPr sz="1800" b="0">
                          <a:solidFill>
                            <a:srgbClr val="000000"/>
                          </a:solidFill>
                          <a:latin typeface="Helvetica Neue"/>
                          <a:ea typeface="Helvetica Neue"/>
                          <a:cs typeface="Helvetica Neue"/>
                        </a:rPr>
                        <a:t>(2024)</a:t>
                      </a:r>
                    </a:p>
                  </a:txBody>
                  <a:tcPr marL="91440" marR="91440" marT="45720" marB="45720" anchor="ctr">
                    <a:solidFill>
                      <a:srgbClr val="F6F6F6"/>
                    </a:solidFill>
                  </a:tcPr>
                </a:tc>
                <a:tc>
                  <a:txBody>
                    <a:bodyPr wrap="square" lIns="133350" tIns="114300" rIns="133350" bIns="114300">
                      <a:noAutofit/>
                    </a:bodyPr>
                    <a:lstStyle/>
                    <a:p>
                      <a:r>
                        <a:rPr sz="1800" b="0">
                          <a:solidFill>
                            <a:srgbClr val="000000"/>
                          </a:solidFill>
                          <a:latin typeface="Helvetica Neue"/>
                          <a:ea typeface="Helvetica Neue"/>
                          <a:cs typeface="Helvetica Neue"/>
                        </a:rPr>
                        <a:t>Valeurs quantifiées</a:t>
                      </a:r>
                    </a:p>
                    <a:p>
                      <a:r>
                        <a:rPr sz="1800" b="0">
                          <a:solidFill>
                            <a:srgbClr val="000000"/>
                          </a:solidFill>
                          <a:latin typeface="Helvetica Neue"/>
                          <a:ea typeface="Helvetica Neue"/>
                          <a:cs typeface="Helvetica Neue"/>
                        </a:rPr>
                        <a:t>Génération séquentielle</a:t>
                      </a:r>
                    </a:p>
                  </a:txBody>
                  <a:tcPr marL="91440" marR="91440" marT="45720" marB="45720" anchor="ctr">
                    <a:solidFill>
                      <a:srgbClr val="F6F6F6"/>
                    </a:solidFill>
                  </a:tcPr>
                </a:tc>
                <a:tc>
                  <a:txBody>
                    <a:bodyPr wrap="square" lIns="133350" tIns="114300" rIns="133350" bIns="114300">
                      <a:noAutofit/>
                    </a:bodyPr>
                    <a:lstStyle/>
                    <a:p>
                      <a:r>
                        <a:rPr sz="1800" b="0">
                          <a:solidFill>
                            <a:srgbClr val="000000"/>
                          </a:solidFill>
                          <a:latin typeface="Helvetica Neue"/>
                          <a:ea typeface="Helvetica Neue"/>
                          <a:cs typeface="Helvetica Neue"/>
                        </a:rPr>
                        <a:t>Trajectoires échantillonnées</a:t>
                      </a:r>
                    </a:p>
                  </a:txBody>
                  <a:tcPr marL="91440" marR="91440" marT="45720" marB="45720" anchor="ctr">
                    <a:solidFill>
                      <a:srgbClr val="F6F6F6"/>
                    </a:solidFill>
                  </a:tcPr>
                </a:tc>
              </a:tr>
              <a:tr h="990600">
                <a:tc>
                  <a:txBody>
                    <a:bodyPr wrap="square" lIns="133350" tIns="114300" rIns="133350" bIns="114300">
                      <a:noAutofit/>
                    </a:bodyPr>
                    <a:lstStyle/>
                    <a:p>
                      <a:r>
                        <a:rPr sz="1800" b="0">
                          <a:solidFill>
                            <a:srgbClr val="000000"/>
                          </a:solidFill>
                          <a:latin typeface="Helvetica Neue"/>
                          <a:ea typeface="Helvetica Neue"/>
                          <a:cs typeface="Helvetica Neue"/>
                        </a:rPr>
                        <a:t>TimesFM initial</a:t>
                      </a:r>
                    </a:p>
                    <a:p>
                      <a:r>
                        <a:rPr sz="1800" b="0">
                          <a:solidFill>
                            <a:srgbClr val="000000"/>
                          </a:solidFill>
                          <a:latin typeface="Helvetica Neue"/>
                          <a:ea typeface="Helvetica Neue"/>
                          <a:cs typeface="Helvetica Neue"/>
                        </a:rPr>
                        <a:t>(2024)</a:t>
                      </a:r>
                    </a:p>
                  </a:txBody>
                  <a:tcPr marL="91440" marR="91440" marT="45720" marB="45720" anchor="ctr">
                    <a:solidFill>
                      <a:srgbClr val="FFFFFF"/>
                    </a:solidFill>
                  </a:tcPr>
                </a:tc>
                <a:tc>
                  <a:txBody>
                    <a:bodyPr wrap="square" lIns="133350" tIns="114300" rIns="133350" bIns="114300">
                      <a:noAutofit/>
                    </a:bodyPr>
                    <a:lstStyle/>
                    <a:p>
                      <a:r>
                        <a:rPr sz="1800" b="0">
                          <a:solidFill>
                            <a:srgbClr val="000000"/>
                          </a:solidFill>
                          <a:latin typeface="Helvetica Neue"/>
                          <a:ea typeface="Helvetica Neue"/>
                          <a:cs typeface="Helvetica Neue"/>
                        </a:rPr>
                        <a:t>Patches continus</a:t>
                      </a:r>
                    </a:p>
                    <a:p>
                      <a:r>
                        <a:rPr sz="1800" b="0">
                          <a:solidFill>
                            <a:srgbClr val="000000"/>
                          </a:solidFill>
                          <a:latin typeface="Helvetica Neue"/>
                          <a:ea typeface="Helvetica Neue"/>
                          <a:cs typeface="Helvetica Neue"/>
                        </a:rPr>
                        <a:t>Attention temporelle causale</a:t>
                      </a:r>
                    </a:p>
                  </a:txBody>
                  <a:tcPr marL="91440" marR="91440" marT="45720" marB="45720" anchor="ctr">
                    <a:solidFill>
                      <a:srgbClr val="FFFFFF"/>
                    </a:solidFill>
                  </a:tcPr>
                </a:tc>
                <a:tc>
                  <a:txBody>
                    <a:bodyPr wrap="square" lIns="133350" tIns="114300" rIns="133350" bIns="114300">
                      <a:noAutofit/>
                    </a:bodyPr>
                    <a:lstStyle/>
                    <a:p>
                      <a:r>
                        <a:rPr sz="1800" b="0">
                          <a:solidFill>
                            <a:srgbClr val="000000"/>
                          </a:solidFill>
                          <a:latin typeface="Helvetica Neue"/>
                          <a:ea typeface="Helvetica Neue"/>
                          <a:cs typeface="Helvetica Neue"/>
                        </a:rPr>
                        <a:t>Blocs de valeurs ponctuelles</a:t>
                      </a:r>
                    </a:p>
                  </a:txBody>
                  <a:tcPr marL="91440" marR="91440" marT="45720" marB="45720" anchor="ctr">
                    <a:solidFill>
                      <a:srgbClr val="FFFFFF"/>
                    </a:solidFill>
                  </a:tcPr>
                </a:tc>
              </a:tr>
              <a:tr h="990600">
                <a:tc>
                  <a:txBody>
                    <a:bodyPr wrap="square" lIns="133350" tIns="114300" rIns="133350" bIns="114300">
                      <a:noAutofit/>
                    </a:bodyPr>
                    <a:lstStyle/>
                    <a:p>
                      <a:r>
                        <a:rPr sz="1800" b="0">
                          <a:solidFill>
                            <a:srgbClr val="000000"/>
                          </a:solidFill>
                          <a:latin typeface="Helvetica Neue"/>
                          <a:ea typeface="Helvetica Neue"/>
                          <a:cs typeface="Helvetica Neue"/>
                        </a:rPr>
                        <a:t>Chronos-2</a:t>
                      </a:r>
                    </a:p>
                    <a:p>
                      <a:r>
                        <a:rPr sz="1800" b="0">
                          <a:solidFill>
                            <a:srgbClr val="000000"/>
                          </a:solidFill>
                          <a:latin typeface="Helvetica Neue"/>
                          <a:ea typeface="Helvetica Neue"/>
                          <a:cs typeface="Helvetica Neue"/>
                        </a:rPr>
                        <a:t>(2025)</a:t>
                      </a:r>
                    </a:p>
                  </a:txBody>
                  <a:tcPr marL="91440" marR="91440" marT="45720" marB="45720" anchor="ctr">
                    <a:solidFill>
                      <a:srgbClr val="F6F6F6"/>
                    </a:solidFill>
                  </a:tcPr>
                </a:tc>
                <a:tc>
                  <a:txBody>
                    <a:bodyPr wrap="square" lIns="133350" tIns="114300" rIns="133350" bIns="114300">
                      <a:noAutofit/>
                    </a:bodyPr>
                    <a:lstStyle/>
                    <a:p>
                      <a:r>
                        <a:rPr sz="1800" b="0">
                          <a:solidFill>
                            <a:srgbClr val="000000"/>
                          </a:solidFill>
                          <a:latin typeface="Helvetica Neue"/>
                          <a:ea typeface="Helvetica Neue"/>
                          <a:cs typeface="Helvetica Neue"/>
                        </a:rPr>
                        <a:t>Patches continus</a:t>
                      </a:r>
                    </a:p>
                    <a:p>
                      <a:r>
                        <a:rPr sz="1800" b="0">
                          <a:solidFill>
                            <a:srgbClr val="000000"/>
                          </a:solidFill>
                          <a:latin typeface="Helvetica Neue"/>
                          <a:ea typeface="Helvetica Neue"/>
                          <a:cs typeface="Helvetica Neue"/>
                        </a:rPr>
                        <a:t>Attention temporelle et entre séries</a:t>
                      </a:r>
                    </a:p>
                  </a:txBody>
                  <a:tcPr marL="91440" marR="91440" marT="45720" marB="45720" anchor="ctr">
                    <a:solidFill>
                      <a:srgbClr val="F6F6F6"/>
                    </a:solidFill>
                  </a:tcPr>
                </a:tc>
                <a:tc>
                  <a:txBody>
                    <a:bodyPr wrap="square" lIns="133350" tIns="114300" rIns="133350" bIns="114300">
                      <a:noAutofit/>
                    </a:bodyPr>
                    <a:lstStyle/>
                    <a:p>
                      <a:r>
                        <a:rPr sz="1800" b="0">
                          <a:solidFill>
                            <a:srgbClr val="000000"/>
                          </a:solidFill>
                          <a:latin typeface="Helvetica Neue"/>
                          <a:ea typeface="Helvetica Neue"/>
                          <a:cs typeface="Helvetica Neue"/>
                        </a:rPr>
                        <a:t>Quantiles directs</a:t>
                      </a:r>
                    </a:p>
                  </a:txBody>
                  <a:tcPr marL="91440" marR="91440" marT="45720" marB="45720" anchor="ctr">
                    <a:solidFill>
                      <a:srgbClr val="F6F6F6"/>
                    </a:solidFill>
                  </a:tcPr>
                </a:tc>
              </a:tr>
            </a:tbl>
          </a:graphicData>
        </a:graphic>
      </p:graphicFrame>
    </p:spTree>
    <p:extLst>
      <p:ext uri="{BB962C8B-B14F-4D97-AF65-F5344CB8AC3E}">
        <p14:creationId xmlns:p14="http://schemas.microsoft.com/office/powerpoint/2010/main" val="32985487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wrap="square" lIns="0" tIns="0" rIns="0" bIns="0" anchor="b">
            <a:noAutofit/>
          </a:bodyPr>
          <a:lstStyle xmlns:a="http://schemas.openxmlformats.org/drawingml/2006/main"/>
          <a:p xmlns:a="http://schemas.openxmlformats.org/drawingml/2006/main">
            <a:pPr marL="0" indent="0" algn="l">
              <a:spcBef>
                <a:spcPts val="0"/>
              </a:spcBef>
              <a:spcAft>
                <a:spcPts val="0"/>
              </a:spcAft>
              <a:buNone/>
              <a:defRPr sz="1000">
                <a:solidFill>
                  <a:srgbClr val="000000"/>
                </a:solidFill>
                <a:latin typeface="Helvetica Neue"/>
                <a:ea typeface="Helvetica Neue"/>
                <a:cs typeface="Helvetica Neue"/>
              </a:defRPr>
            </a:pPr>
            <a:r>
              <a:rPr sz="1000">
                <a:solidFill>
                  <a:srgbClr val="000000"/>
                </a:solidFill>
                <a:latin typeface="Helvetica Neue"/>
                <a:ea typeface="Helvetica Neue"/>
                <a:cs typeface="Helvetica Neue"/>
              </a:rPr>
              <a:t>Mémoire, p. 24-25</a:t>
            </a: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wrap="square" lIns="0" tIns="0" rIns="0" bIns="0" anchor="b">
            <a:noAutofit/>
          </a:bodyPr>
          <a:lstStyle xmlns:a="http://schemas.openxmlformats.org/drawingml/2006/main"/>
          <a:p xmlns:a="http://schemas.openxmlformats.org/drawingml/2006/main">
            <a:pPr marL="0" indent="0" algn="r">
              <a:spcBef>
                <a:spcPts val="0"/>
              </a:spcBef>
              <a:spcAft>
                <a:spcPts val="0"/>
              </a:spcAft>
              <a:buNone/>
              <a:defRPr sz="1000">
                <a:solidFill>
                  <a:srgbClr val="000000"/>
                </a:solidFill>
                <a:latin typeface="Helvetica Neue"/>
                <a:ea typeface="Helvetica Neue"/>
                <a:cs typeface="Helvetica Neue"/>
              </a:defRPr>
            </a:pPr>
            <a:r>
              <a:rPr sz="1000">
                <a:solidFill>
                  <a:srgbClr val="000000"/>
                </a:solidFill>
                <a:latin typeface="Helvetica Neue"/>
                <a:ea typeface="Helvetica Neue"/>
                <a:cs typeface="Helvetica Neue"/>
              </a:rPr>
              <a:t>7</a:t>
            </a: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Un bon score ne suffit pas à établir le transfert</a:t>
            </a: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2400">
                <a:solidFill>
                  <a:srgbClr val="000000"/>
                </a:solidFill>
                <a:latin typeface="Helvetica Neue"/>
                <a:ea typeface="Helvetica Neue"/>
                <a:cs typeface="Helvetica Neue"/>
              </a:rPr>
              <a:t>Nouveauté des données</a:t>
            </a:r>
          </a:p>
          <a:p xmlns:a="http://schemas.openxmlformats.org/drawingml/2006/main">
            <a:pPr marL="0" indent="0">
              <a:spcBef>
                <a:spcPts val="0"/>
              </a:spcBef>
              <a:spcAft>
                <a:spcPts val="0"/>
              </a:spcAft>
              <a:buNone/>
            </a:pPr>
            <a:r>
              <a:rPr sz="1800">
                <a:latin typeface="Helvetica Neue"/>
                <a:ea typeface="Helvetica Neue"/>
                <a:cs typeface="Helvetica Neue"/>
              </a:rPr>
              <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Le zero-shot ne garantit pas</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l’absence d’exposition au préentraînement.</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2400">
                <a:solidFill>
                  <a:srgbClr val="000000"/>
                </a:solidFill>
                <a:latin typeface="Helvetica Neue"/>
                <a:ea typeface="Helvetica Neue"/>
                <a:cs typeface="Helvetica Neue"/>
              </a:rPr>
              <a:t>Informations comparables</a:t>
            </a:r>
          </a:p>
          <a:p xmlns:a="http://schemas.openxmlformats.org/drawingml/2006/main">
            <a:pPr marL="0" indent="0">
              <a:spcBef>
                <a:spcPts val="0"/>
              </a:spcBef>
              <a:spcAft>
                <a:spcPts val="0"/>
              </a:spcAft>
              <a:buNone/>
            </a:pPr>
            <a:r>
              <a:rPr sz="1800">
                <a:latin typeface="Helvetica Neue"/>
                <a:ea typeface="Helvetica Neue"/>
                <a:cs typeface="Helvetica Neue"/>
              </a:rPr>
              <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Mêmes séries, dates et horizons.</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Covariables connues au moment de prévoir.</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2400">
                <a:solidFill>
                  <a:srgbClr val="000000"/>
                </a:solidFill>
                <a:latin typeface="Helvetica Neue"/>
                <a:ea typeface="Helvetica Neue"/>
                <a:cs typeface="Helvetica Neue"/>
              </a:rPr>
              <a:t>Qualité et coût</a:t>
            </a:r>
          </a:p>
          <a:p xmlns:a="http://schemas.openxmlformats.org/drawingml/2006/main">
            <a:pPr marL="0" indent="0">
              <a:spcBef>
                <a:spcPts val="0"/>
              </a:spcBef>
              <a:spcAft>
                <a:spcPts val="0"/>
              </a:spcAft>
              <a:buNone/>
            </a:pPr>
            <a:r>
              <a:rPr sz="1800">
                <a:latin typeface="Helvetica Neue"/>
                <a:ea typeface="Helvetica Neue"/>
                <a:cs typeface="Helvetica Neue"/>
              </a:rPr>
              <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Précision, durée et mémoire.</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Une référence simple sur les mêmes tâches.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2400">
                <a:solidFill>
                  <a:srgbClr val="000000"/>
                </a:solidFill>
                <a:latin typeface="Helvetica Neue"/>
                <a:ea typeface="Helvetica Neue"/>
                <a:cs typeface="Helvetica Neue"/>
              </a:rPr>
              <a:t>Changement de régime</a:t>
            </a:r>
          </a:p>
          <a:p xmlns:a="http://schemas.openxmlformats.org/drawingml/2006/main">
            <a:pPr marL="0" indent="0">
              <a:spcBef>
                <a:spcPts val="0"/>
              </a:spcBef>
              <a:spcAft>
                <a:spcPts val="0"/>
              </a:spcAft>
              <a:buNone/>
            </a:pPr>
            <a:r>
              <a:rPr sz="1800">
                <a:latin typeface="Helvetica Neue"/>
                <a:ea typeface="Helvetica Neue"/>
                <a:cs typeface="Helvetica Neue"/>
              </a:rPr>
              <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Une baisse sur de nouvelles données</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ne prouve pas une contamination passée.</a:t>
            </a:r>
          </a:p>
        </p:txBody>
      </p:sp>
    </p:spTree>
    <p:extLst>
      <p:ext uri="{BB962C8B-B14F-4D97-AF65-F5344CB8AC3E}">
        <p14:creationId xmlns:p14="http://schemas.microsoft.com/office/powerpoint/2010/main" val="36014548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02BAAA24-F157-F288-22D7-97AEA157EFE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wrap="square" lIns="0" tIns="0" rIns="0" bIns="0" anchor="b">
            <a:noAutofit/>
          </a:bodyPr>
          <a:lstStyle xmlns:a="http://schemas.openxmlformats.org/drawingml/2006/main"/>
          <a:p xmlns:a="http://schemas.openxmlformats.org/drawingml/2006/main">
            <a:pPr marL="0" indent="0" algn="l">
              <a:spcBef>
                <a:spcPts val="0"/>
              </a:spcBef>
              <a:spcAft>
                <a:spcPts val="0"/>
              </a:spcAft>
              <a:buNone/>
              <a:defRPr sz="1000">
                <a:solidFill>
                  <a:srgbClr val="000000"/>
                </a:solidFill>
                <a:latin typeface="Helvetica Neue"/>
                <a:ea typeface="Helvetica Neue"/>
                <a:cs typeface="Helvetica Neue"/>
              </a:defRPr>
            </a:pPr>
            <a:r>
              <a:rPr sz="1000">
                <a:solidFill>
                  <a:srgbClr val="000000"/>
                </a:solidFill>
                <a:latin typeface="Helvetica Neue"/>
                <a:ea typeface="Helvetica Neue"/>
                <a:cs typeface="Helvetica Neue"/>
              </a:rPr>
              <a:t>Exemple théorique du mémoire, p. 25-26</a:t>
            </a:r>
          </a:p>
        </p:txBody>
      </p:sp>
      <p:sp>
        <p:nvSpPr>
          <p:cNvPr id="532" name="Google Shape;532;p58">
            <a:extLst xmlns:a="http://schemas.openxmlformats.org/drawingml/2006/main">
              <a:ext uri="{FF2B5EF4-FFF2-40B4-BE49-F238E27FC236}">
                <a16:creationId xmlns:a16="http://schemas.microsoft.com/office/drawing/2014/main" id="{52A30403-4B2D-2E15-7A2F-51A6DF6BE5D5}"/>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marL="0" indent="0" algn="r">
              <a:spcBef>
                <a:spcPts val="0"/>
              </a:spcBef>
              <a:spcAft>
                <a:spcPts val="0"/>
              </a:spcAft>
              <a:buNone/>
              <a:defRPr sz="1000">
                <a:solidFill>
                  <a:srgbClr val="000000"/>
                </a:solidFill>
                <a:latin typeface="Helvetica Neue"/>
                <a:ea typeface="Helvetica Neue"/>
                <a:cs typeface="Helvetica Neue"/>
              </a:defRPr>
            </a:pPr>
            <a:r>
              <a:rPr sz="1000">
                <a:solidFill>
                  <a:srgbClr val="000000"/>
                </a:solidFill>
                <a:latin typeface="Helvetica Neue"/>
                <a:ea typeface="Helvetica Neue"/>
                <a:cs typeface="Helvetica Neue"/>
              </a:rPr>
              <a:t>8</a:t>
            </a:r>
          </a:p>
        </p:txBody>
      </p:sp>
      <p:sp>
        <p:nvSpPr>
          <p:cNvPr id="533" name="Google Shape;533;p58">
            <a:extLst xmlns:a="http://schemas.openxmlformats.org/drawingml/2006/main">
              <a:ext uri="{FF2B5EF4-FFF2-40B4-BE49-F238E27FC236}">
                <a16:creationId xmlns:a16="http://schemas.microsoft.com/office/drawing/2014/main" id="{0A2BB6CD-1085-4638-68F3-7000FD29EA07}"/>
              </a:ext>
            </a:extLst>
          </p:cNvPr>
          <p:cNvSpPr>
            <a:spLocks xmlns:a="http://schemas.openxmlformats.org/drawingml/2006/main" noGrp="1"/>
          </p:cNvSpPr>
          <p:nvPr>
            <p:ph type="title" idx="0"/>
          </p:nvPr>
        </p:nvSpPr>
        <p:spPr>
          <a:xfrm xmlns:a="http://schemas.openxmlformats.org/drawingml/2006/main">
            <a:off x="393700" y="344488"/>
            <a:ext cx="11404600" cy="644297"/>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Les quantiles ne décrivent pas toute la dépendance</a:t>
            </a:r>
          </a:p>
        </p:txBody>
      </p:sp>
      <p:sp>
        <p:nvSpPr>
          <p:cNvPr id="2" name="Rounded Rectangle 1">
            <a:extLst xmlns:a="http://schemas.openxmlformats.org/drawingml/2006/main">
              <a:ext uri="{FF2B5EF4-FFF2-40B4-BE49-F238E27FC236}">
                <a16:creationId xmlns:a16="http://schemas.microsoft.com/office/drawing/2014/main" id="{390FBCE0-CCE2-0D7F-19D7-0DA59E2FBD28}"/>
              </a:ext>
            </a:extLst>
          </p:cNvPr>
          <p:cNvSpPr>
            <a:spLocks xmlns:a="http://schemas.openxmlformats.org/drawingml/2006/main" noGrp="1"/>
          </p:cNvSpPr>
          <p:nvPr/>
        </p:nvSpPr>
        <p:spPr>
          <a:xfrm xmlns:a="http://schemas.openxmlformats.org/drawingml/2006/main">
            <a:off x="397013" y="3339053"/>
            <a:ext cx="5533887" cy="1320801"/>
          </a:xfrm>
          <a:prstGeom xmlns:a="http://schemas.openxmlformats.org/drawingml/2006/main" prst="roundRect">
            <a:avLst>
              <a:gd name="adj" fmla="val 0"/>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Content Placeholder 10">
            <a:extLst xmlns:a="http://schemas.openxmlformats.org/drawingml/2006/main">
              <a:ext uri="{FF2B5EF4-FFF2-40B4-BE49-F238E27FC236}">
                <a16:creationId xmlns:a16="http://schemas.microsoft.com/office/drawing/2014/main" id="{31291836-42DE-4BA2-7C66-683137F113DF}"/>
              </a:ext>
            </a:extLst>
          </p:cNvPr>
          <p:cNvSpPr>
            <a:spLocks xmlns:a="http://schemas.openxmlformats.org/drawingml/2006/main" noGrp="1"/>
          </p:cNvSpPr>
          <p:nvPr/>
        </p:nvSpPr>
        <p:spPr>
          <a:xfrm xmlns:a="http://schemas.openxmlformats.org/drawingml/2006/main">
            <a:off x="694248" y="3587937"/>
            <a:ext cx="4986886" cy="877788"/>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spcBef>
                <a:spcPts val="0"/>
              </a:spcBef>
              <a:spcAft>
                <a:spcPts val="0"/>
              </a:spcAft>
              <a:buNone/>
              <a:defRPr sz="5400">
                <a:solidFill>
                  <a:srgbClr val="000000"/>
                </a:solidFill>
                <a:latin typeface="Helvetica Neue"/>
                <a:ea typeface="Helvetica Neue"/>
                <a:cs typeface="Helvetica Neue"/>
              </a:defRPr>
            </a:pPr>
            <a:r>
              <a:rPr sz="5400">
                <a:solidFill>
                  <a:srgbClr val="000000"/>
                </a:solidFill>
                <a:latin typeface="Helvetica Neue"/>
                <a:ea typeface="Helvetica Neue"/>
                <a:cs typeface="Helvetica Neue"/>
              </a:rPr>
              <a:t>25 %</a:t>
            </a:r>
          </a:p>
        </p:txBody>
      </p:sp>
      <p:sp>
        <p:nvSpPr>
          <p:cNvPr id="4" name="Content Placeholder 15">
            <a:extLst xmlns:a="http://schemas.openxmlformats.org/drawingml/2006/main">
              <a:ext uri="{FF2B5EF4-FFF2-40B4-BE49-F238E27FC236}">
                <a16:creationId xmlns:a16="http://schemas.microsoft.com/office/drawing/2014/main" id="{3D399E38-72C8-159B-DE08-FC689A75B5E9}"/>
              </a:ext>
            </a:extLst>
          </p:cNvPr>
          <p:cNvSpPr>
            <a:spLocks xmlns:a="http://schemas.openxmlformats.org/drawingml/2006/main" noGrp="1"/>
          </p:cNvSpPr>
          <p:nvPr/>
        </p:nvSpPr>
        <p:spPr>
          <a:xfrm xmlns:a="http://schemas.openxmlformats.org/drawingml/2006/main">
            <a:off x="694248" y="4828582"/>
            <a:ext cx="5236652" cy="97790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spcBef>
                <a:spcPts val="0"/>
              </a:spcBef>
              <a:spcAft>
                <a:spcPts val="0"/>
              </a:spcAft>
              <a:buNone/>
              <a:defRPr sz="2100">
                <a:solidFill>
                  <a:srgbClr val="000000"/>
                </a:solidFill>
                <a:latin typeface="Helvetica Neue"/>
                <a:ea typeface="Helvetica Neue"/>
                <a:cs typeface="Helvetica Neue"/>
              </a:defRPr>
            </a:pPr>
            <a:r>
              <a:rPr sz="2100">
                <a:solidFill>
                  <a:srgbClr val="000000"/>
                </a:solidFill>
                <a:latin typeface="Helvetica Neue"/>
                <a:ea typeface="Helvetica Neue"/>
                <a:cs typeface="Helvetica Neue"/>
              </a:rPr>
              <a:t>Événements indépendants</a:t>
            </a:r>
          </a:p>
          <a:p xmlns:a="http://schemas.openxmlformats.org/drawingml/2006/main">
            <a:pPr marL="0" indent="0" algn="l">
              <a:spcBef>
                <a:spcPts val="0"/>
              </a:spcBef>
              <a:spcAft>
                <a:spcPts val="0"/>
              </a:spcAft>
              <a:buNone/>
              <a:defRPr sz="2100">
                <a:solidFill>
                  <a:srgbClr val="000000"/>
                </a:solidFill>
                <a:latin typeface="Helvetica Neue"/>
                <a:ea typeface="Helvetica Neue"/>
                <a:cs typeface="Helvetica Neue"/>
              </a:defRPr>
            </a:pPr>
            <a:r>
              <a:rPr sz="2100">
                <a:solidFill>
                  <a:srgbClr val="000000"/>
                </a:solidFill>
                <a:latin typeface="Helvetica Neue"/>
                <a:ea typeface="Helvetica Neue"/>
                <a:cs typeface="Helvetica Neue"/>
              </a:rPr>
              <a:t>0,5 × 0,5 = 0,25</a:t>
            </a:r>
          </a:p>
        </p:txBody>
      </p:sp>
      <p:sp>
        <p:nvSpPr>
          <p:cNvPr id="8" name="Rounded Rectangle 7">
            <a:extLst xmlns:a="http://schemas.openxmlformats.org/drawingml/2006/main">
              <a:ext uri="{FF2B5EF4-FFF2-40B4-BE49-F238E27FC236}">
                <a16:creationId xmlns:a16="http://schemas.microsoft.com/office/drawing/2014/main" id="{5E1586E9-BDFD-E84E-20C0-875E339DC80D}"/>
              </a:ext>
            </a:extLst>
          </p:cNvPr>
          <p:cNvSpPr>
            <a:spLocks xmlns:a="http://schemas.openxmlformats.org/drawingml/2006/main" noGrp="1"/>
          </p:cNvSpPr>
          <p:nvPr/>
        </p:nvSpPr>
        <p:spPr>
          <a:xfrm xmlns:a="http://schemas.openxmlformats.org/drawingml/2006/main">
            <a:off x="6260785" y="3339053"/>
            <a:ext cx="5533887" cy="1320801"/>
          </a:xfrm>
          <a:prstGeom xmlns:a="http://schemas.openxmlformats.org/drawingml/2006/main" prst="roundRect">
            <a:avLst>
              <a:gd name="adj" fmla="val 0"/>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Content Placeholder 10">
            <a:extLst xmlns:a="http://schemas.openxmlformats.org/drawingml/2006/main">
              <a:ext uri="{FF2B5EF4-FFF2-40B4-BE49-F238E27FC236}">
                <a16:creationId xmlns:a16="http://schemas.microsoft.com/office/drawing/2014/main" id="{BDE93465-12EE-49A8-048B-A3C97C2DFE3D}"/>
              </a:ext>
            </a:extLst>
          </p:cNvPr>
          <p:cNvSpPr>
            <a:spLocks xmlns:a="http://schemas.openxmlformats.org/drawingml/2006/main" noGrp="1"/>
          </p:cNvSpPr>
          <p:nvPr/>
        </p:nvSpPr>
        <p:spPr>
          <a:xfrm xmlns:a="http://schemas.openxmlformats.org/drawingml/2006/main">
            <a:off x="6558020" y="3587937"/>
            <a:ext cx="4986886" cy="877788"/>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spcBef>
                <a:spcPts val="0"/>
              </a:spcBef>
              <a:spcAft>
                <a:spcPts val="0"/>
              </a:spcAft>
              <a:buNone/>
              <a:defRPr sz="5400">
                <a:solidFill>
                  <a:srgbClr val="000000"/>
                </a:solidFill>
                <a:latin typeface="Helvetica Neue"/>
                <a:ea typeface="Helvetica Neue"/>
                <a:cs typeface="Helvetica Neue"/>
              </a:defRPr>
            </a:pPr>
            <a:r>
              <a:rPr sz="5400">
                <a:solidFill>
                  <a:srgbClr val="000000"/>
                </a:solidFill>
                <a:latin typeface="Helvetica Neue"/>
                <a:ea typeface="Helvetica Neue"/>
                <a:cs typeface="Helvetica Neue"/>
              </a:rPr>
              <a:t>50 %</a:t>
            </a:r>
          </a:p>
        </p:txBody>
      </p:sp>
      <p:sp>
        <p:nvSpPr>
          <p:cNvPr id="13" name="Content Placeholder 15">
            <a:extLst xmlns:a="http://schemas.openxmlformats.org/drawingml/2006/main">
              <a:ext uri="{FF2B5EF4-FFF2-40B4-BE49-F238E27FC236}">
                <a16:creationId xmlns:a16="http://schemas.microsoft.com/office/drawing/2014/main" id="{0F1EA821-AA26-C1FC-F948-D100ABDE2920}"/>
              </a:ext>
            </a:extLst>
          </p:cNvPr>
          <p:cNvSpPr>
            <a:spLocks xmlns:a="http://schemas.openxmlformats.org/drawingml/2006/main" noGrp="1"/>
          </p:cNvSpPr>
          <p:nvPr/>
        </p:nvSpPr>
        <p:spPr>
          <a:xfrm xmlns:a="http://schemas.openxmlformats.org/drawingml/2006/main">
            <a:off x="6558020" y="4828582"/>
            <a:ext cx="5236652" cy="97790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spcBef>
                <a:spcPts val="0"/>
              </a:spcBef>
              <a:spcAft>
                <a:spcPts val="0"/>
              </a:spcAft>
              <a:buNone/>
              <a:defRPr sz="2100">
                <a:solidFill>
                  <a:srgbClr val="000000"/>
                </a:solidFill>
                <a:latin typeface="Helvetica Neue"/>
                <a:ea typeface="Helvetica Neue"/>
                <a:cs typeface="Helvetica Neue"/>
              </a:defRPr>
            </a:pPr>
            <a:r>
              <a:rPr sz="2100">
                <a:solidFill>
                  <a:srgbClr val="000000"/>
                </a:solidFill>
                <a:latin typeface="Helvetica Neue"/>
                <a:ea typeface="Helvetica Neue"/>
                <a:cs typeface="Helvetica Neue"/>
              </a:rPr>
              <a:t>Événements toujours simultanés</a:t>
            </a:r>
          </a:p>
          <a:p xmlns:a="http://schemas.openxmlformats.org/drawingml/2006/main">
            <a:pPr marL="0" indent="0" algn="l">
              <a:spcBef>
                <a:spcPts val="0"/>
              </a:spcBef>
              <a:spcAft>
                <a:spcPts val="0"/>
              </a:spcAft>
              <a:buNone/>
              <a:defRPr sz="2100">
                <a:solidFill>
                  <a:srgbClr val="000000"/>
                </a:solidFill>
                <a:latin typeface="Helvetica Neue"/>
                <a:ea typeface="Helvetica Neue"/>
                <a:cs typeface="Helvetica Neue"/>
              </a:defRPr>
            </a:pPr>
            <a:r>
              <a:rPr sz="2100">
                <a:solidFill>
                  <a:srgbClr val="000000"/>
                </a:solidFill>
                <a:latin typeface="Helvetica Neue"/>
                <a:ea typeface="Helvetica Neue"/>
                <a:cs typeface="Helvetica Neue"/>
              </a:rPr>
              <a:t>Probabilité de réalisation commune : 0,5</a:t>
            </a:r>
          </a:p>
        </p:txBody>
      </p:sp>
      <p:sp>
        <p:nvSpPr>
          <p:cNvPr id="14" name="Content Placeholder 15">
            <a:extLst xmlns:a="http://schemas.openxmlformats.org/drawingml/2006/main">
              <a:ext uri="{FF2B5EF4-FFF2-40B4-BE49-F238E27FC236}">
                <a16:creationId xmlns:a16="http://schemas.microsoft.com/office/drawing/2014/main" id="{53566714-9098-3B48-6D62-954DC695F743}"/>
              </a:ext>
            </a:extLst>
          </p:cNvPr>
          <p:cNvSpPr>
            <a:spLocks xmlns:a="http://schemas.openxmlformats.org/drawingml/2006/main" noGrp="1"/>
          </p:cNvSpPr>
          <p:nvPr/>
        </p:nvSpPr>
        <p:spPr>
          <a:xfrm xmlns:a="http://schemas.openxmlformats.org/drawingml/2006/main">
            <a:off x="400939" y="1157513"/>
            <a:ext cx="11404599" cy="1629229"/>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spcBef>
                <a:spcPts val="0"/>
              </a:spcBef>
              <a:spcAft>
                <a:spcPts val="0"/>
              </a:spcAft>
              <a:buNone/>
              <a:defRPr sz="2400">
                <a:solidFill>
                  <a:srgbClr val="000000"/>
                </a:solidFill>
                <a:latin typeface="Helvetica Neue"/>
                <a:ea typeface="Helvetica Neue"/>
                <a:cs typeface="Helvetica Neue"/>
              </a:defRPr>
            </a:pPr>
            <a:r>
              <a:rPr sz="2400">
                <a:solidFill>
                  <a:srgbClr val="000000"/>
                </a:solidFill>
                <a:latin typeface="Helvetica Neue"/>
                <a:ea typeface="Helvetica Neue"/>
                <a:cs typeface="Helvetica Neue"/>
              </a:rPr>
              <a:t>Deux événements ont chacun 50 % de probabilité.</a:t>
            </a:r>
          </a:p>
          <a:p xmlns:a="http://schemas.openxmlformats.org/drawingml/2006/main">
            <a:pPr marL="0" indent="0" algn="l">
              <a:spcBef>
                <a:spcPts val="0"/>
              </a:spcBef>
              <a:spcAft>
                <a:spcPts val="0"/>
              </a:spcAft>
              <a:buNone/>
              <a:defRPr sz="2400">
                <a:solidFill>
                  <a:srgbClr val="000000"/>
                </a:solidFill>
                <a:latin typeface="Helvetica Neue"/>
                <a:ea typeface="Helvetica Neue"/>
                <a:cs typeface="Helvetica Neue"/>
              </a:defRPr>
            </a:pPr>
            <a:r>
              <a:rPr sz="2400">
                <a:solidFill>
                  <a:srgbClr val="000000"/>
                </a:solidFill>
                <a:latin typeface="Helvetica Neue"/>
                <a:ea typeface="Helvetica Neue"/>
                <a:cs typeface="Helvetica Neue"/>
              </a:rPr>
              <a:t>Quelle est la probabilité qu’ils surviennent ensemble ?</a:t>
            </a:r>
          </a:p>
        </p:txBody>
      </p:sp>
      <p:sp>
        <p:nvSpPr>
          <p:cNvPr id="534" name="Même probabilité à chaque horizon, scénarios diffé">
            <a:extLst xmlns:a="http://schemas.openxmlformats.org/drawingml/2006/main">
              <a:ext uri="{FF2B5EF4-FFF2-40B4-BE49-F238E27FC236}">
                <a16:creationId xmlns:a16="http://schemas.microsoft.com/office/drawing/2014/main" id="{21027424-32A1-4846-B31B-553D324DE4F9}"/>
              </a:ext>
            </a:extLst>
          </p:cNvPr>
          <p:cNvSpPr>
            <a:spLocks xmlns:a="http://schemas.openxmlformats.org/drawingml/2006/main" noGrp="1"/>
          </p:cNvSpPr>
          <p:nvPr/>
        </p:nvSpPr>
        <p:spPr>
          <a:xfrm xmlns:a="http://schemas.openxmlformats.org/drawingml/2006/main">
            <a:off x="393668" y="5829300"/>
            <a:ext cx="11404568"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950">
                <a:solidFill>
                  <a:srgbClr val="000000"/>
                </a:solidFill>
                <a:latin typeface="Helvetica Neue"/>
                <a:ea typeface="Helvetica Neue"/>
                <a:cs typeface="Helvetica Neue"/>
              </a:defRPr>
            </a:pPr>
            <a:r>
              <a:rPr sz="1950">
                <a:solidFill>
                  <a:srgbClr val="000000"/>
                </a:solidFill>
                <a:latin typeface="Helvetica Neue"/>
                <a:ea typeface="Helvetica Neue"/>
                <a:cs typeface="Helvetica Neue"/>
              </a:rPr>
              <a:t>Même probabilité à chaque horizon, scénarios différents.</a:t>
            </a:r>
          </a:p>
        </p:txBody>
      </p:sp>
    </p:spTree>
    <p:extLst>
      <p:ext uri="{BB962C8B-B14F-4D97-AF65-F5344CB8AC3E}">
        <p14:creationId xmlns:p14="http://schemas.microsoft.com/office/powerpoint/2010/main" val="346245865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wrap="square" lIns="0" tIns="0" rIns="0" bIns="0" anchor="b">
            <a:noAutofit/>
          </a:bodyPr>
          <a:lstStyle xmlns:a="http://schemas.openxmlformats.org/drawingml/2006/main"/>
          <a:p xmlns:a="http://schemas.openxmlformats.org/drawingml/2006/main">
            <a:pPr marL="0" indent="0" algn="l">
              <a:spcBef>
                <a:spcPts val="0"/>
              </a:spcBef>
              <a:spcAft>
                <a:spcPts val="0"/>
              </a:spcAft>
              <a:buNone/>
              <a:defRPr sz="1000">
                <a:solidFill>
                  <a:srgbClr val="000000"/>
                </a:solidFill>
                <a:latin typeface="Helvetica Neue"/>
                <a:ea typeface="Helvetica Neue"/>
                <a:cs typeface="Helvetica Neue"/>
              </a:defRPr>
            </a:pPr>
            <a:r>
              <a:rPr sz="1000">
                <a:solidFill>
                  <a:srgbClr val="000000"/>
                </a:solidFill>
                <a:latin typeface="Helvetica Neue"/>
                <a:ea typeface="Helvetica Neue"/>
                <a:cs typeface="Helvetica Neue"/>
              </a:rPr>
              <a:t>Critères et budgets à fixer avant le test</a:t>
            </a: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wrap="square" lIns="0" tIns="0" rIns="0" bIns="0" anchor="b">
            <a:noAutofit/>
          </a:bodyPr>
          <a:lstStyle xmlns:a="http://schemas.openxmlformats.org/drawingml/2006/main"/>
          <a:p xmlns:a="http://schemas.openxmlformats.org/drawingml/2006/main">
            <a:pPr marL="0" indent="0" algn="r">
              <a:spcBef>
                <a:spcPts val="0"/>
              </a:spcBef>
              <a:spcAft>
                <a:spcPts val="0"/>
              </a:spcAft>
              <a:buNone/>
              <a:defRPr sz="1000">
                <a:solidFill>
                  <a:srgbClr val="000000"/>
                </a:solidFill>
                <a:latin typeface="Helvetica Neue"/>
                <a:ea typeface="Helvetica Neue"/>
                <a:cs typeface="Helvetica Neue"/>
              </a:defRPr>
            </a:pPr>
            <a:r>
              <a:rPr sz="1000">
                <a:solidFill>
                  <a:srgbClr val="000000"/>
                </a:solidFill>
                <a:latin typeface="Helvetica Neue"/>
                <a:ea typeface="Helvetica Neue"/>
                <a:cs typeface="Helvetica Neue"/>
              </a:rPr>
              <a:t>9</a:t>
            </a: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Quatre protocoles pour tester le transfert</a:t>
            </a: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2400">
                <a:solidFill>
                  <a:srgbClr val="000000"/>
                </a:solidFill>
                <a:latin typeface="Helvetica Neue"/>
                <a:ea typeface="Helvetica Neue"/>
                <a:cs typeface="Helvetica Neue"/>
              </a:rPr>
              <a:t>H1  Transfert temporel</a:t>
            </a:r>
          </a:p>
          <a:p xmlns:a="http://schemas.openxmlformats.org/drawingml/2006/main">
            <a:pPr marL="0" indent="0">
              <a:spcBef>
                <a:spcPts val="0"/>
              </a:spcBef>
              <a:spcAft>
                <a:spcPts val="0"/>
              </a:spcAft>
              <a:buNone/>
            </a:pPr>
            <a:r>
              <a:rPr sz="1800">
                <a:latin typeface="Helvetica Neue"/>
                <a:ea typeface="Helvetica Neue"/>
                <a:cs typeface="Helvetica Neue"/>
              </a:rPr>
              <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Geler le modèle, enregistrer les prévisions,</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puis évaluer les observations futures.</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2400">
                <a:solidFill>
                  <a:srgbClr val="000000"/>
                </a:solidFill>
                <a:latin typeface="Helvetica Neue"/>
                <a:ea typeface="Helvetica Neue"/>
                <a:cs typeface="Helvetica Neue"/>
              </a:rPr>
              <a:t>H2  Covariables</a:t>
            </a:r>
          </a:p>
          <a:p xmlns:a="http://schemas.openxmlformats.org/drawingml/2006/main">
            <a:pPr marL="0" indent="0">
              <a:spcBef>
                <a:spcPts val="0"/>
              </a:spcBef>
              <a:spcAft>
                <a:spcPts val="0"/>
              </a:spcAft>
              <a:buNone/>
            </a:pPr>
            <a:r>
              <a:rPr sz="1800">
                <a:latin typeface="Helvetica Neue"/>
                <a:ea typeface="Helvetica Neue"/>
                <a:cs typeface="Helvetica Neue"/>
              </a:rPr>
              <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Comparer la cible seule aux variables</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correctes, retardées ou perturbées.</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2400">
                <a:solidFill>
                  <a:srgbClr val="000000"/>
                </a:solidFill>
                <a:latin typeface="Helvetica Neue"/>
                <a:ea typeface="Helvetica Neue"/>
                <a:cs typeface="Helvetica Neue"/>
              </a:rPr>
              <a:t>H3  Adaptation</a:t>
            </a:r>
          </a:p>
          <a:p xmlns:a="http://schemas.openxmlformats.org/drawingml/2006/main">
            <a:pPr marL="0" indent="0">
              <a:spcBef>
                <a:spcPts val="0"/>
              </a:spcBef>
              <a:spcAft>
                <a:spcPts val="0"/>
              </a:spcAft>
              <a:buNone/>
            </a:pPr>
            <a:r>
              <a:rPr sz="1800">
                <a:latin typeface="Helvetica Neue"/>
                <a:ea typeface="Helvetica Neue"/>
                <a:cs typeface="Helvetica Neue"/>
              </a:rPr>
              <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Comparer modèle gelé, LoRA, correction</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résiduelle et ajustement complet.</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Mesurer le coût et l’oubli.</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2400">
                <a:solidFill>
                  <a:srgbClr val="000000"/>
                </a:solidFill>
                <a:latin typeface="Helvetica Neue"/>
                <a:ea typeface="Helvetica Neue"/>
                <a:cs typeface="Helvetica Neue"/>
              </a:rPr>
              <a:t>H4  Trajectoires</a:t>
            </a:r>
          </a:p>
          <a:p xmlns:a="http://schemas.openxmlformats.org/drawingml/2006/main">
            <a:pPr marL="0" indent="0">
              <a:spcBef>
                <a:spcPts val="0"/>
              </a:spcBef>
              <a:spcAft>
                <a:spcPts val="0"/>
              </a:spcAft>
              <a:buNone/>
            </a:pPr>
            <a:r>
              <a:rPr sz="1800">
                <a:latin typeface="Helvetica Neue"/>
                <a:ea typeface="Helvetica Neue"/>
                <a:cs typeface="Helvetica Neue"/>
              </a:rPr>
              <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Comparer les dépendances à marges identiques.</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Évaluer les événements sur plusieurs horizons.</a:t>
            </a:r>
          </a:p>
        </p:txBody>
      </p:sp>
      <p:sp>
        <p:nvSpPr>
          <p:cNvPr id="12" name="Expériences proposées, à réaliser">
            <a:extLst xmlns:a="http://schemas.openxmlformats.org/drawingml/2006/main">
              <a:ext uri="{FF2B5EF4-FFF2-40B4-BE49-F238E27FC236}">
                <a16:creationId xmlns:a16="http://schemas.microsoft.com/office/drawing/2014/main" id="{53989A32-565A-4F3F-A890-128A06BE8D8F}"/>
              </a:ext>
            </a:extLst>
          </p:cNvPr>
          <p:cNvSpPr>
            <a:spLocks xmlns:a="http://schemas.openxmlformats.org/drawingml/2006/main" noGrp="1"/>
          </p:cNvSpPr>
          <p:nvPr/>
        </p:nvSpPr>
        <p:spPr>
          <a:xfrm xmlns:a="http://schemas.openxmlformats.org/drawingml/2006/main">
            <a:off x="393668" y="1400175"/>
            <a:ext cx="11404568"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100">
                <a:solidFill>
                  <a:srgbClr val="000000"/>
                </a:solidFill>
                <a:latin typeface="Helvetica Neue"/>
                <a:ea typeface="Helvetica Neue"/>
                <a:cs typeface="Helvetica Neue"/>
              </a:defRPr>
            </a:pPr>
            <a:r>
              <a:rPr sz="2100">
                <a:solidFill>
                  <a:srgbClr val="000000"/>
                </a:solidFill>
                <a:latin typeface="Helvetica Neue"/>
                <a:ea typeface="Helvetica Neue"/>
                <a:cs typeface="Helvetica Neue"/>
              </a:rPr>
              <a:t>Expériences proposées, à réaliser</a:t>
            </a:r>
          </a:p>
        </p:txBody>
      </p:sp>
    </p:spTree>
    <p:extLst>
      <p:ext uri="{BB962C8B-B14F-4D97-AF65-F5344CB8AC3E}">
        <p14:creationId xmlns:p14="http://schemas.microsoft.com/office/powerpoint/2010/main" val="3601454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979AC8B6-148F-970D-D8DE-AD2E0AB19BC8}"/>
              </a:ext>
            </a:extLst>
          </p:cNvPr>
          <p:cNvSpPr>
            <a:spLocks xmlns:a="http://schemas.openxmlformats.org/drawingml/2006/main" noGrp="1"/>
          </p:cNvSpPr>
          <p:nvPr>
            <p:ph type="ctrTitle" idx="0"/>
          </p:nvPr>
        </p:nvSpPr>
        <p:spPr>
          <a:xfrm xmlns:a="http://schemas.openxmlformats.org/drawingml/2006/main">
            <a:off x="393700" y="1738755"/>
            <a:ext cx="9448800" cy="2491490"/>
          </a:xfrm>
        </p:spPr>
        <p:txBody>
          <a:bodyPr xmlns:a="http://schemas.openxmlformats.org/drawingml/2006/main" wrap="square" lIns="0" tIns="0" rIns="0" bIns="0" anchor="b">
            <a:noAutofit/>
          </a:bodyPr>
          <a:lstStyle xmlns:a="http://schemas.openxmlformats.org/drawingml/2006/main"/>
          <a:p xmlns:a="http://schemas.openxmlformats.org/drawingml/2006/main">
            <a:pPr marL="0" indent="0" algn="l">
              <a:spcBef>
                <a:spcPts val="0"/>
              </a:spcBef>
              <a:spcAft>
                <a:spcPts val="0"/>
              </a:spcAft>
              <a:buNone/>
              <a:defRPr sz="6000">
                <a:solidFill>
                  <a:srgbClr val="000000"/>
                </a:solidFill>
                <a:latin typeface="Helvetica Neue"/>
                <a:ea typeface="Helvetica Neue"/>
                <a:cs typeface="Helvetica Neue"/>
              </a:defRPr>
            </a:pPr>
            <a:r>
              <a:rPr sz="6000">
                <a:solidFill>
                  <a:srgbClr val="000000"/>
                </a:solidFill>
                <a:latin typeface="Helvetica Neue"/>
                <a:ea typeface="Helvetica Neue"/>
                <a:cs typeface="Helvetica Neue"/>
              </a:rPr>
              <a:t>Le transfert dépend</a:t>
            </a:r>
          </a:p>
          <a:p xmlns:a="http://schemas.openxmlformats.org/drawingml/2006/main">
            <a:pPr marL="0" indent="0" algn="l">
              <a:spcBef>
                <a:spcPts val="0"/>
              </a:spcBef>
              <a:spcAft>
                <a:spcPts val="0"/>
              </a:spcAft>
              <a:buNone/>
              <a:defRPr sz="6000">
                <a:solidFill>
                  <a:srgbClr val="000000"/>
                </a:solidFill>
                <a:latin typeface="Helvetica Neue"/>
                <a:ea typeface="Helvetica Neue"/>
                <a:cs typeface="Helvetica Neue"/>
              </a:defRPr>
            </a:pPr>
            <a:r>
              <a:rPr sz="6000">
                <a:solidFill>
                  <a:srgbClr val="000000"/>
                </a:solidFill>
                <a:latin typeface="Helvetica Neue"/>
                <a:ea typeface="Helvetica Neue"/>
                <a:cs typeface="Helvetica Neue"/>
              </a:rPr>
              <a:t>des conditions d’usage</a:t>
            </a:r>
          </a:p>
        </p:txBody>
      </p:sp>
      <p:sp>
        <p:nvSpPr>
          <p:cNvPr id="5" name="Subtitle 4">
            <a:extLst xmlns:a="http://schemas.openxmlformats.org/drawingml/2006/main">
              <a:ext uri="{FF2B5EF4-FFF2-40B4-BE49-F238E27FC236}">
                <a16:creationId xmlns:a16="http://schemas.microsoft.com/office/drawing/2014/main" id="{A8E1F2E1-786A-48AE-5E52-007228284270}"/>
              </a:ext>
            </a:extLst>
          </p:cNvPr>
          <p:cNvSpPr>
            <a:spLocks xmlns:a="http://schemas.openxmlformats.org/drawingml/2006/main" noGrp="1"/>
          </p:cNvSpPr>
          <p:nvPr>
            <p:ph type="subTitle" idx="1"/>
          </p:nvPr>
        </p:nvSpPr>
        <p:spPr>
          <a:xfrm xmlns:a="http://schemas.openxmlformats.org/drawingml/2006/main">
            <a:off x="393668" y="4973288"/>
            <a:ext cx="11049000" cy="1085850"/>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950">
                <a:solidFill>
                  <a:srgbClr val="000000"/>
                </a:solidFill>
                <a:latin typeface="Helvetica Neue"/>
                <a:ea typeface="Helvetica Neue"/>
                <a:cs typeface="Helvetica Neue"/>
              </a:defRPr>
            </a:pPr>
            <a:r>
              <a:rPr sz="1950">
                <a:solidFill>
                  <a:srgbClr val="000000"/>
                </a:solidFill>
                <a:latin typeface="Helvetica Neue"/>
                <a:ea typeface="Helvetica Neue"/>
                <a:cs typeface="Helvetica Neue"/>
              </a:rPr>
              <a:t>Données de préentraînement, informations disponibles, sortie attendue.</a:t>
            </a:r>
          </a:p>
          <a:p xmlns:a="http://schemas.openxmlformats.org/drawingml/2006/main">
            <a:pPr marL="0" indent="0" algn="l">
              <a:spcBef>
                <a:spcPts val="0"/>
              </a:spcBef>
              <a:spcAft>
                <a:spcPts val="0"/>
              </a:spcAft>
              <a:buNone/>
              <a:defRPr sz="1950">
                <a:solidFill>
                  <a:srgbClr val="000000"/>
                </a:solidFill>
                <a:latin typeface="Helvetica Neue"/>
                <a:ea typeface="Helvetica Neue"/>
                <a:cs typeface="Helvetica Neue"/>
              </a:defRPr>
            </a:pPr>
            <a:r>
              <a:rPr sz="1950">
                <a:solidFill>
                  <a:srgbClr val="000000"/>
                </a:solidFill>
                <a:latin typeface="Helvetica Neue"/>
                <a:ea typeface="Helvetica Neue"/>
                <a:cs typeface="Helvetica Neue"/>
              </a:rPr>
              <a:t>Apport du mémoire : une grille critique et quatre protocoles à tester.</a:t>
            </a:r>
          </a:p>
        </p:txBody>
      </p:sp>
      <p:sp>
        <p:nvSpPr>
          <p:cNvPr id="6" name="Subtitle 4">
            <a:extLst xmlns:a="http://schemas.openxmlformats.org/drawingml/2006/main">
              <a:ext uri="{FF2B5EF4-FFF2-40B4-BE49-F238E27FC236}">
                <a16:creationId xmlns:a16="http://schemas.microsoft.com/office/drawing/2014/main" id="{A94AB779-D110-4562-575A-800C929A77DB}"/>
              </a:ext>
            </a:extLst>
          </p:cNvPr>
          <p:cNvSpPr>
            <a:spLocks xmlns:a="http://schemas.openxmlformats.org/drawingml/2006/main" noGrp="1"/>
          </p:cNvSpPr>
          <p:nvPr/>
        </p:nvSpPr>
        <p:spPr>
          <a:xfrm xmlns:a="http://schemas.openxmlformats.org/drawingml/2006/main">
            <a:off x="393700" y="392241"/>
            <a:ext cx="1612900" cy="649159"/>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Conclusion</a:t>
            </a:r>
          </a:p>
        </p:txBody>
      </p:sp>
    </p:spTree>
    <p:extLst>
      <p:ext uri="{BB962C8B-B14F-4D97-AF65-F5344CB8AC3E}">
        <p14:creationId xmlns:p14="http://schemas.microsoft.com/office/powerpoint/2010/main" val="365367855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wrap="square" lIns="0" tIns="0" rIns="0" bIns="0" anchor="b">
            <a:noAutofit/>
          </a:bodyPr>
          <a:lstStyle xmlns:a="http://schemas.openxmlformats.org/drawingml/2006/main"/>
          <a:p xmlns:a="http://schemas.openxmlformats.org/drawingml/2006/main">
            <a:pPr marL="0" indent="0" algn="l">
              <a:spcBef>
                <a:spcPts val="0"/>
              </a:spcBef>
              <a:spcAft>
                <a:spcPts val="0"/>
              </a:spcAft>
              <a:buNone/>
              <a:defRPr sz="1000">
                <a:solidFill>
                  <a:srgbClr val="000000"/>
                </a:solidFill>
                <a:latin typeface="Helvetica Neue"/>
                <a:ea typeface="Helvetica Neue"/>
                <a:cs typeface="Helvetica Neue"/>
              </a:defRPr>
            </a:pPr>
            <a:r>
              <a:rPr sz="1000">
                <a:solidFill>
                  <a:srgbClr val="000000"/>
                </a:solidFill>
                <a:latin typeface="Helvetica Neue"/>
                <a:ea typeface="Helvetica Neue"/>
                <a:cs typeface="Helvetica Neue"/>
              </a:rPr>
              <a:t>Annexe A</a:t>
            </a: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wrap="square" lIns="0" tIns="0" rIns="0" bIns="0" anchor="b">
            <a:noAutofit/>
          </a:bodyPr>
          <a:lstStyle xmlns:a="http://schemas.openxmlformats.org/drawingml/2006/main"/>
          <a:p xmlns:a="http://schemas.openxmlformats.org/drawingml/2006/main">
            <a:pPr marL="0" indent="0" algn="r">
              <a:spcBef>
                <a:spcPts val="0"/>
              </a:spcBef>
              <a:spcAft>
                <a:spcPts val="0"/>
              </a:spcAft>
              <a:buNone/>
              <a:defRPr sz="1000">
                <a:solidFill>
                  <a:srgbClr val="000000"/>
                </a:solidFill>
                <a:latin typeface="Helvetica Neue"/>
                <a:ea typeface="Helvetica Neue"/>
                <a:cs typeface="Helvetica Neue"/>
              </a:defRPr>
            </a:pPr>
            <a:r>
              <a:rPr sz="1000">
                <a:solidFill>
                  <a:srgbClr val="000000"/>
                </a:solidFill>
                <a:latin typeface="Helvetica Neue"/>
                <a:ea typeface="Helvetica Neue"/>
                <a:cs typeface="Helvetica Neue"/>
              </a:rPr>
              <a:t>11</a:t>
            </a: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Questions du jury</a:t>
            </a: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2400">
                <a:solidFill>
                  <a:srgbClr val="000000"/>
                </a:solidFill>
                <a:latin typeface="Helvetica Neue"/>
                <a:ea typeface="Helvetica Neue"/>
                <a:cs typeface="Helvetica Neue"/>
              </a:rPr>
              <a:t>Quelle contribution personnelle ?</a:t>
            </a:r>
          </a:p>
          <a:p xmlns:a="http://schemas.openxmlformats.org/drawingml/2006/main">
            <a:pPr marL="0" indent="0">
              <a:spcBef>
                <a:spcPts val="0"/>
              </a:spcBef>
              <a:spcAft>
                <a:spcPts val="0"/>
              </a:spcAft>
              <a:buNone/>
            </a:pPr>
            <a:r>
              <a:rPr sz="1800">
                <a:latin typeface="Helvetica Neue"/>
                <a:ea typeface="Helvetica Neue"/>
                <a:cs typeface="Helvetica Neue"/>
              </a:rPr>
              <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Une grille de comparaison des méthodes,</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une analyse critique des évaluations</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et quatre protocoles contrôlés.</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2400">
                <a:solidFill>
                  <a:srgbClr val="000000"/>
                </a:solidFill>
                <a:latin typeface="Helvetica Neue"/>
                <a:ea typeface="Helvetica Neue"/>
                <a:cs typeface="Helvetica Neue"/>
              </a:rPr>
              <a:t>Quel modèle choisir ?</a:t>
            </a:r>
          </a:p>
          <a:p xmlns:a="http://schemas.openxmlformats.org/drawingml/2006/main">
            <a:pPr marL="0" indent="0">
              <a:spcBef>
                <a:spcPts val="0"/>
              </a:spcBef>
              <a:spcAft>
                <a:spcPts val="0"/>
              </a:spcAft>
              <a:buNone/>
            </a:pPr>
            <a:r>
              <a:rPr sz="1800">
                <a:latin typeface="Helvetica Neue"/>
                <a:ea typeface="Helvetica Neue"/>
                <a:cs typeface="Helvetica Neue"/>
              </a:rPr>
              <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Préciser l’horizon, les covariables,</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la sortie attendue et le budget.</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Comparer à une référence simple.</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2400">
                <a:solidFill>
                  <a:srgbClr val="000000"/>
                </a:solidFill>
                <a:latin typeface="Helvetica Neue"/>
                <a:ea typeface="Helvetica Neue"/>
                <a:cs typeface="Helvetica Neue"/>
              </a:rPr>
              <a:t>Comment vérifier le zero-shot ?</a:t>
            </a:r>
          </a:p>
          <a:p xmlns:a="http://schemas.openxmlformats.org/drawingml/2006/main">
            <a:pPr marL="0" indent="0">
              <a:spcBef>
                <a:spcPts val="0"/>
              </a:spcBef>
              <a:spcAft>
                <a:spcPts val="0"/>
              </a:spcAft>
              <a:buNone/>
            </a:pPr>
            <a:r>
              <a:rPr sz="1800">
                <a:latin typeface="Helvetica Neue"/>
                <a:ea typeface="Helvetica Neue"/>
                <a:cs typeface="Helvetica Neue"/>
              </a:rPr>
              <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Figer le modèle et la référence.</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Enregistrer les prévisions avant les cibles,</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puis évaluer plusieurs domaines.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2400">
                <a:solidFill>
                  <a:srgbClr val="000000"/>
                </a:solidFill>
                <a:latin typeface="Helvetica Neue"/>
                <a:ea typeface="Helvetica Neue"/>
                <a:cs typeface="Helvetica Neue"/>
              </a:rPr>
              <a:t>Pourquoi évaluer la dépendance ?</a:t>
            </a:r>
          </a:p>
          <a:p xmlns:a="http://schemas.openxmlformats.org/drawingml/2006/main">
            <a:pPr marL="0" indent="0">
              <a:spcBef>
                <a:spcPts val="0"/>
              </a:spcBef>
              <a:spcAft>
                <a:spcPts val="0"/>
              </a:spcAft>
              <a:buNone/>
            </a:pPr>
            <a:r>
              <a:rPr sz="1800">
                <a:latin typeface="Helvetica Neue"/>
                <a:ea typeface="Helvetica Neue"/>
                <a:cs typeface="Helvetica Neue"/>
              </a:rPr>
              <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Les probabilités d’une somme élevée</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ou d’un dépassement persistant dépendent</a:t>
            </a:r>
          </a:p>
          <a:p xmlns:a="http://schemas.openxmlformats.org/drawingml/2006/main">
            <a:pPr marL="0" indent="0" algn="l">
              <a:spcBef>
                <a:spcPts val="0"/>
              </a:spcBef>
              <a:spcAft>
                <a:spcPts val="0"/>
              </a:spcAft>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des relations entre horizons.</a:t>
            </a:r>
          </a:p>
        </p:txBody>
      </p:sp>
    </p:spTree>
    <p:extLst>
      <p:ext uri="{BB962C8B-B14F-4D97-AF65-F5344CB8AC3E}">
        <p14:creationId xmlns:p14="http://schemas.microsoft.com/office/powerpoint/2010/main" val="36014548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B8357537-167D-0462-A21D-DD8E87444BE4}"/>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wrap="square" lIns="0" tIns="0" rIns="0" bIns="0" anchor="b">
            <a:noAutofit/>
          </a:bodyPr>
          <a:lstStyle xmlns:a="http://schemas.openxmlformats.org/drawingml/2006/main"/>
          <a:p xmlns:a="http://schemas.openxmlformats.org/drawingml/2006/main">
            <a:pPr marL="0" indent="0" algn="l">
              <a:spcBef>
                <a:spcPts val="0"/>
              </a:spcBef>
              <a:spcAft>
                <a:spcPts val="0"/>
              </a:spcAft>
              <a:buNone/>
              <a:defRPr sz="1000">
                <a:solidFill>
                  <a:srgbClr val="000000"/>
                </a:solidFill>
                <a:latin typeface="Helvetica Neue"/>
                <a:ea typeface="Helvetica Neue"/>
                <a:cs typeface="Helvetica Neue"/>
              </a:defRPr>
            </a:pPr>
            <a:r>
              <a:rPr sz="1000">
                <a:solidFill>
                  <a:srgbClr val="000000"/>
                </a:solidFill>
                <a:latin typeface="Helvetica Neue"/>
                <a:ea typeface="Helvetica Neue"/>
                <a:cs typeface="Helvetica Neue"/>
              </a:rPr>
              <a:t>Annexe B. Seuils proposés, aucun résultat observé</a:t>
            </a:r>
          </a:p>
        </p:txBody>
      </p:sp>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marL="0" indent="0" algn="r">
              <a:spcBef>
                <a:spcPts val="0"/>
              </a:spcBef>
              <a:spcAft>
                <a:spcPts val="0"/>
              </a:spcAft>
              <a:buNone/>
              <a:defRPr sz="1000">
                <a:solidFill>
                  <a:srgbClr val="000000"/>
                </a:solidFill>
                <a:latin typeface="Helvetica Neue"/>
                <a:ea typeface="Helvetica Neue"/>
                <a:cs typeface="Helvetica Neue"/>
              </a:defRPr>
            </a:pPr>
            <a:r>
              <a:rPr sz="1000">
                <a:solidFill>
                  <a:srgbClr val="000000"/>
                </a:solidFill>
                <a:latin typeface="Helvetica Neue"/>
                <a:ea typeface="Helvetica Neue"/>
                <a:cs typeface="Helvetica Neue"/>
              </a:rPr>
              <a:t>12</a:t>
            </a: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Protocoles : critères proposés</a:t>
            </a:r>
          </a:p>
        </p:txBody>
      </p:sp>
      <p:sp>
        <p:nvSpPr>
          <p:cNvPr id="534" name="Les marges restent à justifier selon les tâches.">
            <a:extLst xmlns:a="http://schemas.openxmlformats.org/drawingml/2006/main">
              <a:ext uri="{FF2B5EF4-FFF2-40B4-BE49-F238E27FC236}">
                <a16:creationId xmlns:a16="http://schemas.microsoft.com/office/drawing/2014/main" id="{9B777C02-C8B2-40DE-AC1A-9A4076F572D8}"/>
              </a:ext>
            </a:extLst>
          </p:cNvPr>
          <p:cNvSpPr>
            <a:spLocks xmlns:a="http://schemas.openxmlformats.org/drawingml/2006/main" noGrp="1"/>
          </p:cNvSpPr>
          <p:nvPr/>
        </p:nvSpPr>
        <p:spPr>
          <a:xfrm xmlns:a="http://schemas.openxmlformats.org/drawingml/2006/main">
            <a:off x="393668" y="1362075"/>
            <a:ext cx="11404568"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2100">
                <a:solidFill>
                  <a:srgbClr val="000000"/>
                </a:solidFill>
                <a:latin typeface="Helvetica Neue"/>
                <a:ea typeface="Helvetica Neue"/>
                <a:cs typeface="Helvetica Neue"/>
              </a:defRPr>
            </a:pPr>
            <a:r>
              <a:rPr sz="2100">
                <a:solidFill>
                  <a:srgbClr val="000000"/>
                </a:solidFill>
                <a:latin typeface="Helvetica Neue"/>
                <a:ea typeface="Helvetica Neue"/>
                <a:cs typeface="Helvetica Neue"/>
              </a:rPr>
              <a:t>Les marges restent à justifier selon les tâches.</a:t>
            </a:r>
          </a:p>
        </p:txBody>
      </p:sp>
      <p:graphicFrame>
        <p:nvGraphicFramePr>
          <p:cNvPr id="541" name=""/>
          <p:cNvGraphicFramePr/>
          <p:nvPr/>
        </p:nvGraphicFramePr>
        <p:xfrm>
          <a:off xmlns:a="http://schemas.openxmlformats.org/drawingml/2006/main" x="393668" y="2038350"/>
          <a:ext xmlns:a="http://schemas.openxmlformats.org/drawingml/2006/main" cx="11404568" cy="3705225"/>
        </p:xfrm>
        <a:graphic xmlns:a="http://schemas.openxmlformats.org/drawingml/2006/main">
          <a:graphicData uri="http://schemas.openxmlformats.org/drawingml/2006/table">
            <a:tbl>
              <a:tblPr firstRow="0" bandRow="0"/>
              <a:tblGrid>
                <a:gridCol w="2333625"/>
                <a:gridCol w="5143500"/>
                <a:gridCol w="3924300"/>
              </a:tblGrid>
              <a:tr h="552450">
                <a:tc>
                  <a:txBody>
                    <a:bodyPr wrap="square" lIns="133350" tIns="114300" rIns="133350" bIns="114300">
                      <a:noAutofit/>
                    </a:bodyPr>
                    <a:lstStyle/>
                    <a:p>
                      <a:r>
                        <a:rPr sz="1650" b="1">
                          <a:solidFill>
                            <a:srgbClr val="000000"/>
                          </a:solidFill>
                          <a:latin typeface="Helvetica Neue"/>
                          <a:ea typeface="Helvetica Neue"/>
                          <a:cs typeface="Helvetica Neue"/>
                        </a:rPr>
                        <a:t>Hypothèse</a:t>
                      </a:r>
                    </a:p>
                  </a:txBody>
                  <a:tcPr marL="91440" marR="91440" marT="45720" marB="45720" anchor="ctr">
                    <a:solidFill>
                      <a:srgbClr val="EAEAEA"/>
                    </a:solidFill>
                  </a:tcPr>
                </a:tc>
                <a:tc>
                  <a:txBody>
                    <a:bodyPr wrap="square" lIns="133350" tIns="114300" rIns="133350" bIns="114300">
                      <a:noAutofit/>
                    </a:bodyPr>
                    <a:lstStyle/>
                    <a:p>
                      <a:r>
                        <a:rPr sz="1650" b="1">
                          <a:solidFill>
                            <a:srgbClr val="000000"/>
                          </a:solidFill>
                          <a:latin typeface="Helvetica Neue"/>
                          <a:ea typeface="Helvetica Neue"/>
                          <a:cs typeface="Helvetica Neue"/>
                        </a:rPr>
                        <a:t>Critère principal proposé</a:t>
                      </a:r>
                    </a:p>
                  </a:txBody>
                  <a:tcPr marL="91440" marR="91440" marT="45720" marB="45720" anchor="ctr">
                    <a:solidFill>
                      <a:srgbClr val="EAEAEA"/>
                    </a:solidFill>
                  </a:tcPr>
                </a:tc>
                <a:tc>
                  <a:txBody>
                    <a:bodyPr wrap="square" lIns="133350" tIns="114300" rIns="133350" bIns="114300">
                      <a:noAutofit/>
                    </a:bodyPr>
                    <a:lstStyle/>
                    <a:p>
                      <a:r>
                        <a:rPr sz="1650" b="1">
                          <a:solidFill>
                            <a:srgbClr val="000000"/>
                          </a:solidFill>
                          <a:latin typeface="Helvetica Neue"/>
                          <a:ea typeface="Helvetica Neue"/>
                          <a:cs typeface="Helvetica Neue"/>
                        </a:rPr>
                        <a:t>Contrôle essentiel</a:t>
                      </a:r>
                    </a:p>
                  </a:txBody>
                  <a:tcPr marL="91440" marR="91440" marT="45720" marB="45720" anchor="ctr">
                    <a:solidFill>
                      <a:srgbClr val="EAEAEA"/>
                    </a:solidFill>
                  </a:tcPr>
                </a:tc>
              </a:tr>
              <a:tr h="788194">
                <a:tc>
                  <a:txBody>
                    <a:bodyPr wrap="square" lIns="133350" tIns="114300" rIns="133350" bIns="114300">
                      <a:noAutofit/>
                    </a:bodyPr>
                    <a:lstStyle/>
                    <a:p>
                      <a:r>
                        <a:rPr sz="1650" b="0">
                          <a:solidFill>
                            <a:srgbClr val="000000"/>
                          </a:solidFill>
                          <a:latin typeface="Helvetica Neue"/>
                          <a:ea typeface="Helvetica Neue"/>
                          <a:cs typeface="Helvetica Neue"/>
                        </a:rPr>
                        <a:t>H1  Transfert</a:t>
                      </a:r>
                    </a:p>
                  </a:txBody>
                  <a:tcPr marL="91440" marR="91440" marT="45720" marB="45720" anchor="ctr">
                    <a:solidFill>
                      <a:srgbClr val="F6F6F6"/>
                    </a:solidFill>
                  </a:tcPr>
                </a:tc>
                <a:tc>
                  <a:txBody>
                    <a:bodyPr wrap="square" lIns="133350" tIns="114300" rIns="133350" bIns="114300">
                      <a:noAutofit/>
                    </a:bodyPr>
                    <a:lstStyle/>
                    <a:p>
                      <a:r>
                        <a:rPr sz="1650" b="0">
                          <a:solidFill>
                            <a:srgbClr val="000000"/>
                          </a:solidFill>
                          <a:latin typeface="Helvetica Neue"/>
                          <a:ea typeface="Helvetica Neue"/>
                          <a:cs typeface="Helvetica Neue"/>
                        </a:rPr>
                        <a:t>Gain prospectif moyen positif</a:t>
                      </a:r>
                    </a:p>
                  </a:txBody>
                  <a:tcPr marL="91440" marR="91440" marT="45720" marB="45720" anchor="ctr">
                    <a:solidFill>
                      <a:srgbClr val="F6F6F6"/>
                    </a:solidFill>
                  </a:tcPr>
                </a:tc>
                <a:tc>
                  <a:txBody>
                    <a:bodyPr wrap="square" lIns="133350" tIns="114300" rIns="133350" bIns="114300">
                      <a:noAutofit/>
                    </a:bodyPr>
                    <a:lstStyle/>
                    <a:p>
                      <a:r>
                        <a:rPr sz="1650" b="0">
                          <a:solidFill>
                            <a:srgbClr val="000000"/>
                          </a:solidFill>
                          <a:latin typeface="Helvetica Neue"/>
                          <a:ea typeface="Helvetica Neue"/>
                          <a:cs typeface="Helvetica Neue"/>
                        </a:rPr>
                        <a:t>Modèle et référence figés</a:t>
                      </a:r>
                    </a:p>
                    <a:p>
                      <a:r>
                        <a:rPr sz="1650" b="0">
                          <a:solidFill>
                            <a:srgbClr val="000000"/>
                          </a:solidFill>
                          <a:latin typeface="Helvetica Neue"/>
                          <a:ea typeface="Helvetica Neue"/>
                          <a:cs typeface="Helvetica Neue"/>
                        </a:rPr>
                        <a:t>Prévisions horodatées</a:t>
                      </a:r>
                    </a:p>
                  </a:txBody>
                  <a:tcPr marL="91440" marR="91440" marT="45720" marB="45720" anchor="ctr">
                    <a:solidFill>
                      <a:srgbClr val="F6F6F6"/>
                    </a:solidFill>
                  </a:tcPr>
                </a:tc>
              </a:tr>
              <a:tr h="788194">
                <a:tc>
                  <a:txBody>
                    <a:bodyPr wrap="square" lIns="133350" tIns="114300" rIns="133350" bIns="114300">
                      <a:noAutofit/>
                    </a:bodyPr>
                    <a:lstStyle/>
                    <a:p>
                      <a:r>
                        <a:rPr sz="1650" b="0">
                          <a:solidFill>
                            <a:srgbClr val="000000"/>
                          </a:solidFill>
                          <a:latin typeface="Helvetica Neue"/>
                          <a:ea typeface="Helvetica Neue"/>
                          <a:cs typeface="Helvetica Neue"/>
                        </a:rPr>
                        <a:t>H2  Covariables</a:t>
                      </a:r>
                    </a:p>
                  </a:txBody>
                  <a:tcPr marL="91440" marR="91440" marT="45720" marB="45720" anchor="ctr">
                    <a:solidFill>
                      <a:srgbClr val="FFFFFF"/>
                    </a:solidFill>
                  </a:tcPr>
                </a:tc>
                <a:tc>
                  <a:txBody>
                    <a:bodyPr wrap="square" lIns="133350" tIns="114300" rIns="133350" bIns="114300">
                      <a:noAutofit/>
                    </a:bodyPr>
                    <a:lstStyle/>
                    <a:p>
                      <a:r>
                        <a:rPr sz="1650" b="0">
                          <a:solidFill>
                            <a:srgbClr val="000000"/>
                          </a:solidFill>
                          <a:latin typeface="Helvetica Neue"/>
                          <a:ea typeface="Helvetica Neue"/>
                          <a:cs typeface="Helvetica Neue"/>
                        </a:rPr>
                        <a:t>Gain ≥ 2 % avec les bonnes variables</a:t>
                      </a:r>
                    </a:p>
                    <a:p>
                      <a:r>
                        <a:rPr sz="1650" b="0">
                          <a:solidFill>
                            <a:srgbClr val="000000"/>
                          </a:solidFill>
                          <a:latin typeface="Helvetica Neue"/>
                          <a:ea typeface="Helvetica Neue"/>
                          <a:cs typeface="Helvetica Neue"/>
                        </a:rPr>
                        <a:t>Dégradation ≤ 5 % sous perturbation</a:t>
                      </a:r>
                    </a:p>
                  </a:txBody>
                  <a:tcPr marL="91440" marR="91440" marT="45720" marB="45720" anchor="ctr">
                    <a:solidFill>
                      <a:srgbClr val="FFFFFF"/>
                    </a:solidFill>
                  </a:tcPr>
                </a:tc>
                <a:tc>
                  <a:txBody>
                    <a:bodyPr wrap="square" lIns="133350" tIns="114300" rIns="133350" bIns="114300">
                      <a:noAutofit/>
                    </a:bodyPr>
                    <a:lstStyle/>
                    <a:p>
                      <a:r>
                        <a:rPr sz="1650" b="0">
                          <a:solidFill>
                            <a:srgbClr val="000000"/>
                          </a:solidFill>
                          <a:latin typeface="Helvetica Neue"/>
                          <a:ea typeface="Helvetica Neue"/>
                          <a:cs typeface="Helvetica Neue"/>
                        </a:rPr>
                        <a:t>Entrées correctes, retardées,</a:t>
                      </a:r>
                    </a:p>
                    <a:p>
                      <a:r>
                        <a:rPr sz="1650" b="0">
                          <a:solidFill>
                            <a:srgbClr val="000000"/>
                          </a:solidFill>
                          <a:latin typeface="Helvetica Neue"/>
                          <a:ea typeface="Helvetica Neue"/>
                          <a:cs typeface="Helvetica Neue"/>
                        </a:rPr>
                        <a:t>permutées et contrôle aléatoire</a:t>
                      </a:r>
                    </a:p>
                  </a:txBody>
                  <a:tcPr marL="91440" marR="91440" marT="45720" marB="45720" anchor="ctr">
                    <a:solidFill>
                      <a:srgbClr val="FFFFFF"/>
                    </a:solidFill>
                  </a:tcPr>
                </a:tc>
              </a:tr>
              <a:tr h="788194">
                <a:tc>
                  <a:txBody>
                    <a:bodyPr wrap="square" lIns="133350" tIns="114300" rIns="133350" bIns="114300">
                      <a:noAutofit/>
                    </a:bodyPr>
                    <a:lstStyle/>
                    <a:p>
                      <a:r>
                        <a:rPr sz="1650" b="0">
                          <a:solidFill>
                            <a:srgbClr val="000000"/>
                          </a:solidFill>
                          <a:latin typeface="Helvetica Neue"/>
                          <a:ea typeface="Helvetica Neue"/>
                          <a:cs typeface="Helvetica Neue"/>
                        </a:rPr>
                        <a:t>H3  Adaptation</a:t>
                      </a:r>
                    </a:p>
                  </a:txBody>
                  <a:tcPr marL="91440" marR="91440" marT="45720" marB="45720" anchor="ctr">
                    <a:solidFill>
                      <a:srgbClr val="F6F6F6"/>
                    </a:solidFill>
                  </a:tcPr>
                </a:tc>
                <a:tc>
                  <a:txBody>
                    <a:bodyPr wrap="square" lIns="133350" tIns="114300" rIns="133350" bIns="114300">
                      <a:noAutofit/>
                    </a:bodyPr>
                    <a:lstStyle/>
                    <a:p>
                      <a:r>
                        <a:rPr sz="1650" b="0">
                          <a:solidFill>
                            <a:srgbClr val="000000"/>
                          </a:solidFill>
                          <a:latin typeface="Helvetica Neue"/>
                          <a:ea typeface="Helvetica Neue"/>
                          <a:cs typeface="Helvetica Neue"/>
                        </a:rPr>
                        <a:t>Surcroît de perte ≤ 2 % face au complet</a:t>
                      </a:r>
                    </a:p>
                    <a:p>
                      <a:r>
                        <a:rPr sz="1650" b="0">
                          <a:solidFill>
                            <a:srgbClr val="000000"/>
                          </a:solidFill>
                          <a:latin typeface="Helvetica Neue"/>
                          <a:ea typeface="Helvetica Neue"/>
                          <a:cs typeface="Helvetica Neue"/>
                        </a:rPr>
                        <a:t>Oubli ≤ 5 % et coût réduit</a:t>
                      </a:r>
                    </a:p>
                  </a:txBody>
                  <a:tcPr marL="91440" marR="91440" marT="45720" marB="45720" anchor="ctr">
                    <a:solidFill>
                      <a:srgbClr val="F6F6F6"/>
                    </a:solidFill>
                  </a:tcPr>
                </a:tc>
                <a:tc>
                  <a:txBody>
                    <a:bodyPr wrap="square" lIns="133350" tIns="114300" rIns="133350" bIns="114300">
                      <a:noAutofit/>
                    </a:bodyPr>
                    <a:lstStyle/>
                    <a:p>
                      <a:r>
                        <a:rPr sz="1650" b="0">
                          <a:solidFill>
                            <a:srgbClr val="000000"/>
                          </a:solidFill>
                          <a:latin typeface="Helvetica Neue"/>
                          <a:ea typeface="Helvetica Neue"/>
                          <a:cs typeface="Helvetica Neue"/>
                        </a:rPr>
                        <a:t>Même modèle initial</a:t>
                      </a:r>
                    </a:p>
                    <a:p>
                      <a:r>
                        <a:rPr sz="1650" b="0">
                          <a:solidFill>
                            <a:srgbClr val="000000"/>
                          </a:solidFill>
                          <a:latin typeface="Helvetica Neue"/>
                          <a:ea typeface="Helvetica Neue"/>
                          <a:cs typeface="Helvetica Neue"/>
                        </a:rPr>
                        <a:t>Essais inclus dans le coût</a:t>
                      </a:r>
                    </a:p>
                  </a:txBody>
                  <a:tcPr marL="91440" marR="91440" marT="45720" marB="45720" anchor="ctr">
                    <a:solidFill>
                      <a:srgbClr val="F6F6F6"/>
                    </a:solidFill>
                  </a:tcPr>
                </a:tc>
              </a:tr>
              <a:tr h="788194">
                <a:tc>
                  <a:txBody>
                    <a:bodyPr wrap="square" lIns="133350" tIns="114300" rIns="133350" bIns="114300">
                      <a:noAutofit/>
                    </a:bodyPr>
                    <a:lstStyle/>
                    <a:p>
                      <a:r>
                        <a:rPr sz="1650" b="0">
                          <a:solidFill>
                            <a:srgbClr val="000000"/>
                          </a:solidFill>
                          <a:latin typeface="Helvetica Neue"/>
                          <a:ea typeface="Helvetica Neue"/>
                          <a:cs typeface="Helvetica Neue"/>
                        </a:rPr>
                        <a:t>H4  Trajectoires</a:t>
                      </a:r>
                    </a:p>
                  </a:txBody>
                  <a:tcPr marL="91440" marR="91440" marT="45720" marB="45720" anchor="ctr">
                    <a:solidFill>
                      <a:srgbClr val="FFFFFF"/>
                    </a:solidFill>
                  </a:tcPr>
                </a:tc>
                <a:tc>
                  <a:txBody>
                    <a:bodyPr wrap="square" lIns="133350" tIns="114300" rIns="133350" bIns="114300">
                      <a:noAutofit/>
                    </a:bodyPr>
                    <a:lstStyle/>
                    <a:p>
                      <a:r>
                        <a:rPr sz="1650" b="0">
                          <a:solidFill>
                            <a:srgbClr val="000000"/>
                          </a:solidFill>
                          <a:latin typeface="Helvetica Neue"/>
                          <a:ea typeface="Helvetica Neue"/>
                          <a:cs typeface="Helvetica Neue"/>
                        </a:rPr>
                        <a:t>Baisse moyenne du score de Brier</a:t>
                      </a:r>
                    </a:p>
                    <a:p>
                      <a:r>
                        <a:rPr sz="1650" b="0">
                          <a:solidFill>
                            <a:srgbClr val="000000"/>
                          </a:solidFill>
                          <a:latin typeface="Helvetica Neue"/>
                          <a:ea typeface="Helvetica Neue"/>
                          <a:cs typeface="Helvetica Neue"/>
                        </a:rPr>
                        <a:t>face à l’indépendance</a:t>
                      </a:r>
                    </a:p>
                  </a:txBody>
                  <a:tcPr marL="91440" marR="91440" marT="45720" marB="45720" anchor="ctr">
                    <a:solidFill>
                      <a:srgbClr val="FFFFFF"/>
                    </a:solidFill>
                  </a:tcPr>
                </a:tc>
                <a:tc>
                  <a:txBody>
                    <a:bodyPr wrap="square" lIns="133350" tIns="114300" rIns="133350" bIns="114300">
                      <a:noAutofit/>
                    </a:bodyPr>
                    <a:lstStyle/>
                    <a:p>
                      <a:r>
                        <a:rPr sz="1650" b="0">
                          <a:solidFill>
                            <a:srgbClr val="000000"/>
                          </a:solidFill>
                          <a:latin typeface="Helvetica Neue"/>
                          <a:ea typeface="Helvetica Neue"/>
                          <a:cs typeface="Helvetica Neue"/>
                        </a:rPr>
                        <a:t>Marges et nombre de scénarios</a:t>
                      </a:r>
                    </a:p>
                    <a:p>
                      <a:r>
                        <a:rPr sz="1650" b="0">
                          <a:solidFill>
                            <a:srgbClr val="000000"/>
                          </a:solidFill>
                          <a:latin typeface="Helvetica Neue"/>
                          <a:ea typeface="Helvetica Neue"/>
                          <a:cs typeface="Helvetica Neue"/>
                        </a:rPr>
                        <a:t>identiques</a:t>
                      </a:r>
                    </a:p>
                  </a:txBody>
                  <a:tcPr marL="91440" marR="91440" marT="45720" marB="45720" anchor="ctr">
                    <a:solidFill>
                      <a:srgbClr val="FFFFFF"/>
                    </a:solidFill>
                  </a:tcPr>
                </a:tc>
              </a:tr>
            </a:tbl>
          </a:graphicData>
        </a:graphic>
      </p:graphicFrame>
      <p:sp>
        <p:nvSpPr>
          <p:cNvPr id="536" name="Un intervalle qui recouvre zéro ou la marge pertin">
            <a:extLst xmlns:a="http://schemas.openxmlformats.org/drawingml/2006/main">
              <a:ext uri="{FF2B5EF4-FFF2-40B4-BE49-F238E27FC236}">
                <a16:creationId xmlns:a16="http://schemas.microsoft.com/office/drawing/2014/main" id="{5797B59F-5F14-4036-996A-E379F9E479F6}"/>
              </a:ext>
            </a:extLst>
          </p:cNvPr>
          <p:cNvSpPr>
            <a:spLocks xmlns:a="http://schemas.openxmlformats.org/drawingml/2006/main" noGrp="1"/>
          </p:cNvSpPr>
          <p:nvPr/>
        </p:nvSpPr>
        <p:spPr>
          <a:xfrm xmlns:a="http://schemas.openxmlformats.org/drawingml/2006/main">
            <a:off x="393668" y="5895975"/>
            <a:ext cx="1140456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spcBef>
                <a:spcPts val="0"/>
              </a:spcBef>
              <a:spcAft>
                <a:spcPts val="0"/>
              </a:spcAft>
              <a:buNone/>
              <a:defRPr sz="1725">
                <a:solidFill>
                  <a:srgbClr val="000000"/>
                </a:solidFill>
                <a:latin typeface="Helvetica Neue"/>
                <a:ea typeface="Helvetica Neue"/>
                <a:cs typeface="Helvetica Neue"/>
              </a:defRPr>
            </a:pPr>
            <a:r>
              <a:rPr sz="1725">
                <a:solidFill>
                  <a:srgbClr val="000000"/>
                </a:solidFill>
                <a:latin typeface="Helvetica Neue"/>
                <a:ea typeface="Helvetica Neue"/>
                <a:cs typeface="Helvetica Neue"/>
              </a:rPr>
              <a:t>Un intervalle qui recouvre zéro ou la marge pertinente reste non concluant.</a:t>
            </a:r>
          </a:p>
        </p:txBody>
      </p:sp>
    </p:spTree>
    <p:extLst>
      <p:ext uri="{BB962C8B-B14F-4D97-AF65-F5344CB8AC3E}">
        <p14:creationId xmlns:p14="http://schemas.microsoft.com/office/powerpoint/2010/main" val="329854879"/>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2026-09-14T16:06:17.6580000Z</dcterms:created>
  <dcterms:modified xsi:type="dcterms:W3CDTF">2026-09-14T16:06:17.6590000Z</dcterms:modified>
</coreProperties>
</file>