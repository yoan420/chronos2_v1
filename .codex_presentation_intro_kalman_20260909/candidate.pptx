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d844d398914e1f" /><Relationship Type="http://schemas.openxmlformats.org/officeDocument/2006/relationships/extended-properties" Target="/docProps/app.xml" Id="Rc49961b364d44d55" /><Relationship Type="http://schemas.openxmlformats.org/officeDocument/2006/relationships/officeDocument" Target="/ppt/presentation.xml" Id="R36176ad466024bb4" /></Relationships>
</file>

<file path=ppt/presentation.xml><?xml version="1.0" encoding="utf-8"?>
<p:presentation xmlns:p="http://schemas.openxmlformats.org/presentationml/2006/main">
  <p:sldMasterIdLst>
    <p:sldMasterId xmlns:r="http://schemas.openxmlformats.org/officeDocument/2006/relationships" id="2147483648" r:id="R25f98dc5a0d24e77"/>
  </p:sldMasterIdLst>
  <p:notesMasterIdLst>
    <p:notesMasterId xmlns:r="http://schemas.openxmlformats.org/officeDocument/2006/relationships" r:id="Re039bdbacbc04137"/>
  </p:notesMasterIdLst>
  <p:sldIdLst>
    <p:sldId xmlns:r="http://schemas.openxmlformats.org/officeDocument/2006/relationships" id="256" r:id="R310969e49ff84cda"/>
    <p:sldId xmlns:r="http://schemas.openxmlformats.org/officeDocument/2006/relationships" id="257" r:id="Re6346361b8684054"/>
    <p:sldId xmlns:r="http://schemas.openxmlformats.org/officeDocument/2006/relationships" id="258" r:id="R020792c52ff64d65"/>
    <p:sldId xmlns:r="http://schemas.openxmlformats.org/officeDocument/2006/relationships" id="259" r:id="R2c781732bf1445c6"/>
    <p:sldId xmlns:r="http://schemas.openxmlformats.org/officeDocument/2006/relationships" id="260" r:id="R5bf42287062b4c6d"/>
    <p:sldId xmlns:r="http://schemas.openxmlformats.org/officeDocument/2006/relationships" id="261" r:id="Rdd80d113860e41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32eaeb668874554" /><Relationship Type="http://schemas.openxmlformats.org/officeDocument/2006/relationships/slideMaster" Target="/ppt/slideMasters/slideMaster1.xml" Id="R25f98dc5a0d24e77" /><Relationship Type="http://schemas.openxmlformats.org/officeDocument/2006/relationships/notesMaster" Target="/ppt/notesMasters/notesMaster1.xml" Id="Re039bdbacbc04137" /><Relationship Type="http://schemas.openxmlformats.org/officeDocument/2006/relationships/presProps" Target="/ppt/presProps.xml" Id="Rb56594d2bd714a2b" /><Relationship Type="http://schemas.openxmlformats.org/officeDocument/2006/relationships/viewProps" Target="/ppt/viewProps.xml" Id="Rb6b1a41f131249c8" /><Relationship Type="http://schemas.openxmlformats.org/officeDocument/2006/relationships/tableStyles" Target="/ppt/tableStyles.xml" Id="R41f3c44ef81948f4" /><Relationship Type="http://schemas.openxmlformats.org/officeDocument/2006/relationships/slide" Target="/ppt/slides/slide1.xml" Id="R310969e49ff84cda" /><Relationship Type="http://schemas.openxmlformats.org/officeDocument/2006/relationships/slide" Target="/ppt/slides/slide2.xml" Id="Re6346361b8684054" /><Relationship Type="http://schemas.openxmlformats.org/officeDocument/2006/relationships/slide" Target="/ppt/slides/slide3.xml" Id="R020792c52ff64d65" /><Relationship Type="http://schemas.openxmlformats.org/officeDocument/2006/relationships/slide" Target="/ppt/slides/slide4.xml" Id="R2c781732bf1445c6" /><Relationship Type="http://schemas.openxmlformats.org/officeDocument/2006/relationships/slide" Target="/ppt/slides/slide5.xml" Id="R5bf42287062b4c6d" /><Relationship Type="http://schemas.openxmlformats.org/officeDocument/2006/relationships/slide" Target="/ppt/slides/slide6.xml" Id="Rdd80d113860e41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c041d9dff749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d37ce0e24b40ea" /><Relationship Type="http://schemas.openxmlformats.org/officeDocument/2006/relationships/notesMaster" Target="/ppt/notesMasters/notesMaster1.xml" Id="R27583264a68f48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801258f6d64613" /><Relationship Type="http://schemas.openxmlformats.org/officeDocument/2006/relationships/notesMaster" Target="/ppt/notesMasters/notesMaster1.xml" Id="R1e1951bd97da40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fc03bc66414153" /><Relationship Type="http://schemas.openxmlformats.org/officeDocument/2006/relationships/notesMaster" Target="/ppt/notesMasters/notesMaster1.xml" Id="R4c353bcf012b4e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79c5d9ac754800" /><Relationship Type="http://schemas.openxmlformats.org/officeDocument/2006/relationships/notesMaster" Target="/ppt/notesMasters/notesMaster1.xml" Id="Rb59281c6b64340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5933dffd7e4844" /><Relationship Type="http://schemas.openxmlformats.org/officeDocument/2006/relationships/notesMaster" Target="/ppt/notesMasters/notesMaster1.xml" Id="R028b636bf41e40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85bdc41f724400" /><Relationship Type="http://schemas.openxmlformats.org/officeDocument/2006/relationships/notesMaster" Target="/ppt/notesMasters/notesMaster1.xml" Id="R776a5929e16046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filtre de Kalman intervient après la prévision corrigée résiduellement et avant sa publication. Il estime une erreur persistante à partir des seules erreurs déjà observées. La gouvernance choisit chaque jour un filtre et un poids de correction sur les 60 derniers jours disponibles. En l’absence de gain suffisant, le poids vaut zéro et la prévision amont reste identique.</a:t>
            </a:r>
          </a:p>
          <a:p xmlns:a="http://schemas.openxmlformats.org/drawingml/2006/main">
            <a:r>
              <a:t>Le filtre reçoit uniquement des données disponibles avant la journée à prévoir. Son état est figé pour toutes les heures de cette journée et ne peut assimiler ses observations qu’après la prévision. Les journées de changement d’heure comportent 23 ou 25 heures physiques.</a:t>
            </a:r>
            <a:endParaRPr/>
          </a:p>
          <a:p xmlns:a="http://schemas.openxmlformats.org/drawingml/2006/main">
            <a:r>
              <a:t>Les charges résiduelles des cinq pays sont les fondamentaux du pipeline standard. Dans la variante nucléaire utilisée pour illustrer le rapport du 09/09/2026, la prévision de production nucléaire FR constitue une entrée supplémentaire. Storm intervient uniquement dans la comparaison des résultats.</a:t>
            </a:r>
          </a:p>
          <a:p xmlns:a="http://schemas.openxmlformats.org/drawingml/2006/main">
            <a:r>
              <a:t/>
            </a:r>
          </a:p>
          <a:p xmlns:a="http://schemas.openxmlformats.org/drawingml/2006/main">
            <a:r>
              <a:t>Sources : deliverables/Note_explicative_Kalman.txt ; chronos2_hourly/kalman_residual.py ; config/kalman_operational.yaml ; config/nuclear_forecast.yaml.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Trois étages complémentaires : Chronos-2 construit la prévision de base. Le correcteur résiduel, moyenne de CatBoost et HistGradientBoosting, apprend les erreurs récurrentes de la médiane Chronos-2. Le Kalman estime ensuite un biais persistant dans la prévision corrigée, en utilisant seulement les erreurs passées.</a:t>
            </a:r>
          </a:p>
          <a:p xmlns:a="http://schemas.openxmlformats.org/drawingml/2006/main">
            <a:r>
              <a:t>L’exemple est fictif et pédagogique : P50 Chronos-2 150 EUR/MWh, correction résiduelle +8, correction Kalman appliquée +3, P50 finale 161 EUR/MWh. La correction Kalman peut valoir zéro. Le même décalage est ajouté à P10, P50 et P90 à une heure donnée, ce qui conserve leur ordre et la largeur de l’intervalle.</a:t>
            </a:r>
            <a:endParaRPr/>
          </a:p>
          <a:p xmlns:a="http://schemas.openxmlformats.org/drawingml/2006/main">
            <a:r>
              <a:t>Paramètres actuels : refit journalier sur les 365 jours précédents. Gouvernance sur 60 jours, avec au moins 14 jours. Poids de 0 à 1 par pas de 0,05. Le gain de MAE doit atteindre le maximum de 0,05 EUR/MWh et 0,5 % de la MAE amont. Les filtres candidats suivent un biais, un profil horaire, des variables de marché ou une échelle de correction linéaire/non linéaire. Le décalage est borné à ±20 EUR/MWh.</a:t>
            </a:r>
          </a:p>
          <a:p xmlns:a="http://schemas.openxmlformats.org/drawingml/2006/main">
            <a:r>
              <a:t>L’état est gelé avant la journée de prévision. Les observations de cette journée ne peuvent influencer que les journées suivantes.</a:t>
            </a:r>
          </a:p>
          <a:p xmlns:a="http://schemas.openxmlformats.org/drawingml/2006/main">
            <a:r>
              <a:t>La slide historique initiale conserve les scores du support d’origine : elle ne mesure pas le gain marginal de Kalman. Les nouveaux visuels de rapport restent sur leur périmètre déclaré du 09/09/2026.</a:t>
            </a:r>
          </a:p>
          <a:p xmlns:a="http://schemas.openxmlformats.org/drawingml/2006/main">
            <a:r>
              <a:t/>
            </a:r>
          </a:p>
          <a:p xmlns:a="http://schemas.openxmlformats.org/drawingml/2006/main">
            <a:r>
              <a:t>Sources : deliverables/Note_explicative_Kalman.txt ; chronos2_hourly/kalman_residual.py ; config/kalman_operational.yaml ; config/nuclear_forecast.yaml.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a:t>
            </a:r>
            <a:r>
              <a:t>correcteur</a:t>
            </a:r>
            <a:r>
              <a:t> </a:t>
            </a:r>
            <a:r>
              <a:t>réduit</a:t>
            </a:r>
            <a:r>
              <a:t> la MAE de Chronos-2 </a:t>
            </a:r>
            <a:r>
              <a:t>d’environ</a:t>
            </a:r>
            <a:r>
              <a:t> 5 %, à 12,44 €/MWh, avec </a:t>
            </a:r>
            <a:r>
              <a:t>une</a:t>
            </a:r>
            <a:r>
              <a:t> </a:t>
            </a:r>
            <a:r>
              <a:t>corrélation</a:t>
            </a:r>
            <a:r>
              <a:t> de 0,93. Storm conserve </a:t>
            </a:r>
            <a:r>
              <a:t>une</a:t>
            </a:r>
            <a:r>
              <a:t> MAE plus </a:t>
            </a:r>
            <a:r>
              <a:t>basse</a:t>
            </a:r>
            <a:r>
              <a:t>, à 11,67 €/MWh, et le </a:t>
            </a:r>
            <a:r>
              <a:t>modèle</a:t>
            </a:r>
            <a:r>
              <a:t> </a:t>
            </a:r>
            <a:r>
              <a:t>gagne</a:t>
            </a:r>
            <a:r>
              <a:t> 47,56 % des </a:t>
            </a:r>
            <a:r>
              <a:t>heures</a:t>
            </a:r>
            <a:r>
              <a:t> face à </a:t>
            </a:r>
            <a:r>
              <a:t>lui</a:t>
            </a:r>
            <a:r>
              <a:t>. Le message final est </a:t>
            </a:r>
            <a:r>
              <a:t>donc</a:t>
            </a:r>
            <a:r>
              <a:t> </a:t>
            </a:r>
            <a:r>
              <a:t>équilibré</a:t>
            </a:r>
            <a:r>
              <a:t> : gain </a:t>
            </a:r>
            <a:r>
              <a:t>réel</a:t>
            </a:r>
            <a:r>
              <a:t> par rapport à la base, </a:t>
            </a:r>
            <a:r>
              <a:t>mais</a:t>
            </a:r>
            <a:r>
              <a:t> marge </a:t>
            </a:r>
            <a:r>
              <a:t>d’amélioration</a:t>
            </a:r>
            <a:r>
              <a:t> encore visible face au benchmark.</a:t>
            </a:r>
          </a:p>
          <a:p xmlns:a="http://schemas.openxmlformats.org/drawingml/2006/main">
            <a:endParaRPr/>
          </a:p>
          <a:p xmlns:a="http://schemas.openxmlformats.org/drawingml/2006/main">
            <a:r>
              <a:t>[Sources]</a:t>
            </a:r>
          </a:p>
          <a:p xmlns:a="http://schemas.openxmlformats.org/drawingml/2006/main">
            <a:r>
              <a:t>- C:/Users/BQ6757/chronos2_v1/runs/exports/2026-08-26/fr/autonomous/forecast_fr_2026-08-26_autonomous.html</a:t>
            </a:r>
          </a:p>
          <a:p xmlns:a="http://schemas.openxmlformats.org/drawingml/2006/main">
            <a:r>
              <a:t>- C:/Users/BQ6757/Downloads/Présentation </a:t>
            </a:r>
            <a:r>
              <a:t>courte</a:t>
            </a:r>
            <a:r>
              <a:t> — Forecast Fran.txt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bandeau Prix moyens porte sur la journée civile locale du forecast, 24 heures appariées. Modèle 163.32969935157357, Storm 147.75663383333332, écart 15.573065518240242 EUR/MWh. Le tableau Statistics ajoute l’observé 149.47260416666668.</a:t>
            </a:r>
          </a:p>
          <a:p xmlns:a="http://schemas.openxmlformats.org/drawingml/2006/main">
            <a:r>
              <a:t>Le tableau filtre les périodes par jour, semaine ou mois et indique quel forecast a le prix moyen le plus proche de l’observé. Le calendrier mesure la valeur absolue de la différence entre la moyenne du modèle et celle de l’observé. Ici l’extrait affiche les sept derniers jours, avec une échelle de couleur 0 à 30 EUR/MWh.</a:t>
            </a:r>
            <a:endParaRPr/>
          </a:p>
          <a:p xmlns:a="http://schemas.openxmlformats.org/drawingml/2006/main">
            <a:r>
              <a:t>Sur les 8759 heures communes, observé 69.94736813563192, modèle 69.98137689699918, Storm 68.1166460619934. MAE horaire sur ces mêmes heures : modèle 11.94156008810655 contre Storm 11.819694510674736. La différence des moyennes peut être faible alors que les erreurs horaires restent importantes, car elles se compensent.</a:t>
            </a:r>
          </a:p>
          <a:p xmlns:a="http://schemas.openxmlformats.org/drawingml/2006/main">
            <a:r>
              <a:t>Le modèle est plus proche en prix moyen dans 161 des 365 journées. Les cases plus rouges signalent un écart plus grand et non le sens de l’erreur. Les jours sans benchmark ne donnent pas de score comparatif.</a:t>
            </a:r>
          </a:p>
          <a:p xmlns:a="http://schemas.openxmlformats.org/drawingml/2006/main">
            <a:r>
              <a:t>Sections HTML : Prix moyens, Statistics — Prix moyens, Calendrier des écarts du modèle à l’observé. Les premières diapositives reprennent le support du 26 août, ces exemples proviennent du rapport du 9 septembre.</a:t>
            </a:r>
          </a:p>
          <a:p xmlns:a="http://schemas.openxmlformats.org/drawingml/2006/main">
            <a:r>
              <a:t/>
            </a:r>
          </a:p>
          <a:p xmlns:a="http://schemas.openxmlformats.org/drawingml/2006/main">
            <a:r>
              <a:t>Source : C:/Users/BQ6757/chronos2_v1/runs/exports/2026-09-09/fr/nuclear_kalman/forecast_fr_2026-09-09_nuclear_kalman.html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graphique original Performance par heure locale dispose de trois modes : MAE, prix moyens et biais. Deux vues sont présentées simultanément ici. Chaque point regroupe les observations d’une même heure locale sur la période 10/09/2025–09/09/2026.</a:t>
            </a:r>
          </a:p>
          <a:p xmlns:a="http://schemas.openxmlformats.org/drawingml/2006/main">
            <a:r>
              <a:t>MAE : moyenne des erreurs absolues. Biais : moyenne de la prévision moins le prix observé, positif pour la surestimation et négatif pour la sous-estimation. Les moyennes et les erreurs utilisent exactement les mêmes heures appariées, soit 8759 heures sur 8760 heures observées. L’heure locale 02h dispose de 364 points, les autres de 365.</a:t>
            </a:r>
            <a:endParaRPr/>
          </a:p>
          <a:p xmlns:a="http://schemas.openxmlformats.org/drawingml/2006/main">
            <a:r>
              <a:t>Gain MAE = MAE Storm moins MAE modèle. Le modèle gagne dans 10 des 24 tranches horaires. Gain à 00h : 1.843362148283072, à 18h : 1.556275936272769, à 12h : -1.3328098017096597, à 15h : -1.2861586439472905 EUR/MWh.</a:t>
            </a:r>
          </a:p>
          <a:p xmlns:a="http://schemas.openxmlformats.org/drawingml/2006/main">
            <a:r>
              <a:t>Les données manquantes ne sont pas remplacées par zéro. Chaque heure physique compte une fois, en conservant les deux occurrences de 02h en automne.</a:t>
            </a:r>
          </a:p>
          <a:p xmlns:a="http://schemas.openxmlformats.org/drawingml/2006/main">
            <a:r>
              <a:t>Données exactes des sept traces (heures 00h à 23h) :</a:t>
            </a:r>
          </a:p>
          <a:p xmlns:a="http://schemas.openxmlformats.org/drawingml/2006/main">
            <a:r>
              <a:t>[{"name":"Chronos-2 + nucl. + correcteur + Kalman","values":[9.849157213360762,9.567047736991523,10.036229755359962,10.7836310616838,10.667657901830706,10.920119014516779,11.847318675802935,12.380299633284439,13.207583657486458,11.97176600129496,11.657004068602463,11.372520706838054,12.03832389212062,12.41562145295972,12.902235832531316,11.605766904221264,11.540670959482972,11.803911852484323,13.044689956877916,14.847478934055724,14.361908288150218,13.171948064709982,12.309554113324932,12.28977635348198]},{"name":"Storm officiel dashboard","values":[11.692519361643834,9.999882254794521,9.85501921978022,10.290173936986301,10.935639690410959,10.832532526027396,11.976361290410956,12.48788657260274,13.714284580821918,11.724061123287672,10.725743761643836,10.460219819178086,10.70551409041096,12.872692616438355,12.171164287671234,10.319608260273974,10.60132137260274,10.693619610958903,14.600965893150684,15.740556824657533,14.13101746849315,12.870811482191783,12.418184183561642,11.847505356164385]},{"name":"Chronos-2 + nucl. + correcteur + Kalman","values":[82.58249074923096,76.49149633359862,68.94256216765612,62.00917000584686,60.537893582469174,67.22107926255752,79.26021766723845,91.5154754475449,90.74519495491504,72.92453101479782,53.60687199312481,41.06732563007634,34.997538796701036,29.235305505678618,29.988683978262678,34.51654657935729,42.70356553758256,61.37184091306382,88.49694378088914,111.16105136697306,109.33305792346158,101.75904410921459,98.72697742306498,90.35533473692082]},{"name":"Storm officiel dashboard","values":[81.88062407945206,74.4066268630137,69.34350924725275,62.14876690136987,59.24784575616439,63.28608193424658,73.128642369863,84.40929150958905,84.3249813369863,69.2252002849315,52.8066952739726,42.31938510136986,37.046903838356165,32.93998977260274,31.473567427397256,36.47983796986301,43.84514411780821,57.09545196712329,80.10931505479452,103.7395539260274,107.39690547945207,100.89470592602738,95.56818046301369,91.68566015616439]},{"name":"Observé","values":[81.50498630136987,76.24675342465754,69.52023351648351,61.80254794520548,60.093315068493155,66.28018493150685,78.76657534246576,91.21191095890411,91.69986301369865,73.28676712328766,53.088280821917806,41.05754109589041,36.45541095890411,27.563308219178076,29.01766438356164,34.59267123287671,42.92036301369863,61.571828767123286,89.05676712328767,112.11242465753426,109.42708904109588,101.5690479452055,100.72152054794522,89.1686095890411]},{"name":"Chronos-2 + nucl. + correcteur + Kalman","values":[1.0775044478610942,0.24474290894108217,-0.5776713488274026,0.20662206064139338,0.4445785139760175,0.9408943310506884,0.49364232477269815,0.3035644886407882,-0.954668058783586,-0.3622361084898551,0.5185911712070045,0.00978453418593166,-1.4578721622030721,1.6719972865005375,0.9710195947010366,-0.07612465351942674,-0.21679747611606898,-0.19998785405945976,-0.55982334239854,-0.9513732905612016,-0.09403111763429935,0.1899961640090924,-1.9945431248802277,1.186725147879728]},{"name":"Storm officiel dashboard","values":[0.37563777808219156,-1.8401265616438358,-0.1767242692307695,0.34621895616438353,-0.8454693123287675,-2.994102997260274,-5.63793297260274,-6.802619449315069,-7.374881676712328,-4.061566838356164,-0.2815855479452052,1.261844005479452,0.5914928794520548,5.376681553424657,2.455903043835616,1.8871667369863012,0.9247811041095888,-4.4763768,-8.947452068493151,-8.37287073150685,-2.030183561643837,-0.6743420191780827,-5.153340084931508,2.5170505671232877]}]</a:t>
            </a:r>
          </a:p>
          <a:p xmlns:a="http://schemas.openxmlformats.org/drawingml/2006/main">
            <a:r>
              <a:t/>
            </a:r>
          </a:p>
          <a:p xmlns:a="http://schemas.openxmlformats.org/drawingml/2006/main">
            <a:r>
              <a:t>Source : C:/Users/BQ6757/chronos2_v1/runs/exports/2026-09-09/fr/nuclear_kalman/forecast_fr_2026-09-09_nuclear_kalman.html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barres représentent le poids relatif Shapley, somme des contributions absolues d’un groupe sur les heures du jour divisée par la somme des contributions absolues de tous les groupes. Ce pourcentage ne représente pas une part du prix. Les sept groupes sont tous présents.</a:t>
            </a:r>
          </a:p>
          <a:p xmlns:a="http://schemas.openxmlformats.org/drawingml/2006/main">
            <a:r>
              <a:t>La carte thermique présente les contributions signées des 24 heures : positive, la variable relève le prix par rapport à la référence. Négative, elle le baisse. Les couleurs reprennent l’échelle symétrique originale de -43.21769049489378 à +43.21769049489378 EUR/MWh. Les cases restent éditables dans PowerPoint, les valeurs numériques exactes figurent ci-dessous.</a:t>
            </a:r>
            <a:endParaRPr/>
          </a:p>
          <a:p xmlns:a="http://schemas.openxmlformats.org/drawingml/2006/main">
            <a:r>
              <a:t>La référence est une médiane par heure de la semaine des 56 jours historiques disponibles. Le modèle conserve ses paramètres appris et son calendrier. Shapley groupé par permutations recalcule le pipeline amont de bout en bout. Il explique Chronos-2 + nucléaire + correcteur, avant Kalman. Les états internes du filtre ne sont pas attribués aux variables.</a:t>
            </a:r>
          </a:p>
          <a:p xmlns:a="http://schemas.openxmlformats.org/drawingml/2006/main">
            <a:r>
              <a:t>Les prix passés pèsent 57.198 % et apportent +21.027 EUR/MWh en moyenne. Le nucléaire pèse 1.085 %, avec une contribution moyenne -0.368 EUR/MWh. Ces valeurs décrivent la sensibilité de cette prévision à la référence et aux dépendances entre variables, sans identification d’un effet économique causal.</a:t>
            </a:r>
          </a:p>
          <a:p xmlns:a="http://schemas.openxmlformats.org/drawingml/2006/main">
            <a:r>
              <a:t>Référence moyenne 136.24 + contributions moyennes 27.09 = P50 amont moyenne 163.33 EUR/MWh. Dans ce rapport, l’ajustement Kalman moyen vaut 0.00.</a:t>
            </a:r>
          </a:p>
          <a:p xmlns:a="http://schemas.openxmlformats.org/drawingml/2006/main">
            <a:r>
              <a:t>Valeurs des contributions par groupe, heures 00 à 23 :</a:t>
            </a:r>
          </a:p>
          <a:p xmlns:a="http://schemas.openxmlformats.org/drawingml/2006/main">
            <a:r>
              <a:t>[{"label":"Charge résiduelle FR","values":[-0.5202940703382897,0.2335223434979942,1.593857237356611,-1.8801909640058476,-1.0045692422224946,1.2390551816069948,1.1411604533054351,1.3511338728633815,2.407448889926444,3.467375417596576,7.015624264695317,9.127291435091571,15.292431928126012,15.144152009065085,13.841436089266264,12.68709277414559,8.929185146107097,4.723411600986987,3.670569557721654,2.603740753236714,2.5596177854339563,1.148063731125621,0.8383358966181484,0.6500314150003463]},{"label":"Charge résiduelle DE","values":[-0.2821938381293565,-1.870480698086837,-2.1005509434771144,-1.537486022513522,-1.5131357513161765,-1.4346546735247934,-1.877383423883048,0.2501674670915879,1.9207715447993072,3.553105674904055,7.107110333684218,15.327036609101672,19.97977580017264,21.61930571328185,20.099675344378326,16.29457392398514,7.947222037293827,3.104691719972614,-0.0139457678435945,-1.611505708224218,-1.6735564652876036,-3.070013723917201,-2.33771167238387,-1.866620934723219]},{"label":"Charge résiduelle BE","values":[-1.0745007136753513,-1.4409331543448936,-1.8109809607983407,-2.099667811202079,-1.5110219165871124,-2.5722923360119507,-1.3838902969473068,-0.3339087882855693,-0.7656022367607687,-1.1735175105145688,-2.6684616871918,-2.474255959926599,-0.9613597651185012,-0.1280743702826643,0.2773803190852928,1.1175449849451902,1.1726190199573296,1.2183181100525138,2.726046217993887,3.751964468195779,4.269305911450113,3.96933621171164,4.538211073814338,4.282120240126276]},{"label":"Charge résiduelle NL","values":[-0.2169319113656156,-0.0555163344224745,-0.1331100718386535,-0.352735190328155,0.0274746321494996,-0.5082760142040303,-0.2843833348363898,0.353789047545173,0.5695026851294447,0.8634357031503708,0.4964740663503972,0.630999912855343,1.6985929122519814,2.167176635311078,2.552044128194903,1.9777629062303024,-0.1754707463600531,-0.4609351363071967,-0.9022176156876024,-1.323749641458452,-0.906612883310677,-1.1507428676271845,-0.7032964699372037,-0.5155555254751238]},{"label":"Charge résiduelle ES","values":[-2.6904923015741598,-2.78498738000818,-2.781463686336611,-2.8424349287841144,-2.965334924911033,-3.416425816282233,-4.036110865580124,-3.650499222398565,-2.9818385672204144,-2.518281815220422,-2.273684545615753,-1.7608717674482728,-0.5318312984374363,-0.6894587789853281,-0.0482511681314712,-1.6040293600450817,-2.655286741836114,-2.997981895102656,-2.8525596209247484,-2.4045343554663985,-2.6231542083685646,-2.6864702047443405,-2.4527184990960205,-2.2027281806070453]},{"label":"Production nucléaire prévue FR (GW)","values":[-0.7376451004196163,-0.6453409045595233,-0.5692268765720261,-0.5181477525122578,-0.4962529570172123,-0.6852333435096885,-0.3639716276291542,-0.3815518112251315,-0.1211453301611733,-0.2332380088660537,-0.503929400271272,-0.2047875023280752,-0.3587157066709288,0.0291841560015606,-0.2373902174151696,-0.4964502226498122,-0.4487328193185775,0.4525135996312226,-0.4678738191420448,-0.8033079727257553,-0.1179858897947019,-0.2608406801580063,-0.5154742248645068,-0.1436883096312984]},{"label":"Prix passés (contexte Chronos)","values":[18.14173352171757,14.578432668201527,11.220079462532317,13.449120822400602,16.86071252318068,19.87604525727336,34.92656876341736,38.42097662773197,43.21769049489378,40.71459387852523,40.30475891584401,34.69238016533721,27.13094763088584,19.57544739270173,10.164849626388728,-1.8559805598115535,-4.04252801495594,15.278255466392707,25.46124446507637,20.478345366185,26.237081700708977,15.392946336981884,9.05242381797687,15.362069574883936]}]</a:t>
            </a:r>
          </a:p>
          <a:p xmlns:a="http://schemas.openxmlformats.org/drawingml/2006/main">
            <a:r>
              <a:t>Poids exacts : [{"label":"Production nucléaire prévue FR (GW)","percent":1.0845875068665956},{"label":"Charge résiduelle NL","percent":2.107321375230668},{"label":"Charge résiduelle BE","percent":5.285398343962552},{"label":"Charge résiduelle ES","percent":6.473817791504951},{"label":"Charge résiduelle FR","percent":12.523080018484215},{"label":"Charge résiduelle DE","percent":15.327751001396566},{"label":"Prix passés (contexte Chronos)","percent":57.19804396255444}]</a:t>
            </a:r>
          </a:p>
          <a:p xmlns:a="http://schemas.openxmlformats.org/drawingml/2006/main">
            <a:r>
              <a:t/>
            </a:r>
          </a:p>
          <a:p xmlns:a="http://schemas.openxmlformats.org/drawingml/2006/main">
            <a:r>
              <a:t>Source : C:/Users/BQ6757/chronos2_v1/runs/exports/2026-09-09/fr/nuclear_kalman/forecast_fr_2026-09-09_nuclear_kalman.html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8cae207b3a47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7c5648cdae40e2" /><Relationship Type="http://schemas.openxmlformats.org/officeDocument/2006/relationships/slideLayout" Target="/ppt/slideLayouts/slideLayout1.xml" Id="R407584798da142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7584798da142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07d39b9f0f42a0" /><Relationship Type="http://schemas.openxmlformats.org/officeDocument/2006/relationships/notesSlide" Target="/ppt/notesSlides/notesSlide1.xml" Id="Ra1f1bd21f85041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bbd76a5b1d461c" /><Relationship Type="http://schemas.openxmlformats.org/officeDocument/2006/relationships/notesSlide" Target="/ppt/notesSlides/notesSlide2.xml" Id="R06611f81190840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14af962af2487f" /><Relationship Type="http://schemas.openxmlformats.org/officeDocument/2006/relationships/notesSlide" Target="/ppt/notesSlides/notesSlide3.xml" Id="R9c573d4582c34f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de9a396c4f4567" /><Relationship Type="http://schemas.openxmlformats.org/officeDocument/2006/relationships/notesSlide" Target="/ppt/notesSlides/notesSlide4.xml" Id="R9bc6e63dcae941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3c9b9849b64713" /><Relationship Type="http://schemas.openxmlformats.org/officeDocument/2006/relationships/chart" Target="/ppt/slides/charts/chart1.xml" Id="R8f71b236f08b4390" /><Relationship Type="http://schemas.openxmlformats.org/officeDocument/2006/relationships/chart" Target="/ppt/slides/charts/chart2.xml" Id="R3651b83c52474e87" /><Relationship Type="http://schemas.openxmlformats.org/officeDocument/2006/relationships/notesSlide" Target="/ppt/notesSlides/notesSlide5.xml" Id="R7c2652fba08745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52bf09a5884ba1" /><Relationship Type="http://schemas.openxmlformats.org/officeDocument/2006/relationships/chart" Target="/ppt/slides/charts/chart3.xml" Id="R823e92da19984357" /><Relationship Type="http://schemas.openxmlformats.org/officeDocument/2006/relationships/notesSlide" Target="/ppt/notesSlides/notesSlide6.xml" Id="Rc082f618e0984e27"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000000"/>
                </a:solidFill>
                <a:latin typeface="Helvetica Neue"/>
                <a:ea typeface="Helvetica Neue"/>
                <a:cs typeface="Helvetica Neue"/>
              </a:rPr>
              <a:t>MAE horaire (EUR/MWh)</a:t>
            </a:r>
          </a:p>
        </c:rich>
      </c:tx>
      <c:overlay val="0"/>
      <c:txPr>
        <a:bodyPr xmlns:a="http://schemas.openxmlformats.org/drawingml/2006/main" anchorCtr="1"/>
        <a:lstStyle xmlns:a="http://schemas.openxmlformats.org/drawingml/2006/main"/>
        <a:p xmlns:a="http://schemas.openxmlformats.org/drawingml/2006/main">
          <a:pPr>
            <a:defRPr sz="1725" b="1">
              <a:solidFill>
                <a:srgbClr val="000000"/>
              </a:solidFill>
              <a:latin typeface="Helvetica Neue"/>
              <a:ea typeface="Helvetica Neue"/>
              <a:cs typeface="Helvetica Neue"/>
            </a:defRPr>
          </a:pPr>
        </a:p>
      </c:txPr>
    </c:title>
    <c:plotArea>
      <c:lineChart>
        <c:grouping val="standard"/>
        <c:varyColors val="0"/>
        <c:ser>
          <c:idx val="0"/>
          <c:order val="0"/>
          <c:tx>
            <c:v>Modèle</c:v>
          </c:tx>
          <c:spPr>
            <a:ln xmlns:a="http://schemas.openxmlformats.org/drawingml/2006/main" w="30480">
              <a:solidFill>
                <a:srgbClr val="3D8DFF"/>
              </a:solidFill>
              <a:prstDash val="solid"/>
            </a:ln>
          </c:spPr>
          <c:marker>
            <c:symbol val="none"/>
          </c:marker>
          <c:cat>
            <c:numLit>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9.849157213360762</c:v>
              </c:pt>
              <c:pt idx="1">
                <c:v>9.567047736991523</c:v>
              </c:pt>
              <c:pt idx="2">
                <c:v>10.036229755359962</c:v>
              </c:pt>
              <c:pt idx="3">
                <c:v>10.7836310616838</c:v>
              </c:pt>
              <c:pt idx="4">
                <c:v>10.667657901830706</c:v>
              </c:pt>
              <c:pt idx="5">
                <c:v>10.920119014516779</c:v>
              </c:pt>
              <c:pt idx="6">
                <c:v>11.847318675802935</c:v>
              </c:pt>
              <c:pt idx="7">
                <c:v>12.380299633284439</c:v>
              </c:pt>
              <c:pt idx="8">
                <c:v>13.207583657486458</c:v>
              </c:pt>
              <c:pt idx="9">
                <c:v>11.97176600129496</c:v>
              </c:pt>
              <c:pt idx="10">
                <c:v>11.657004068602463</c:v>
              </c:pt>
              <c:pt idx="11">
                <c:v>11.372520706838054</c:v>
              </c:pt>
              <c:pt idx="12">
                <c:v>12.03832389212062</c:v>
              </c:pt>
              <c:pt idx="13">
                <c:v>12.41562145295972</c:v>
              </c:pt>
              <c:pt idx="14">
                <c:v>12.902235832531316</c:v>
              </c:pt>
              <c:pt idx="15">
                <c:v>11.605766904221264</c:v>
              </c:pt>
              <c:pt idx="16">
                <c:v>11.540670959482972</c:v>
              </c:pt>
              <c:pt idx="17">
                <c:v>11.803911852484323</c:v>
              </c:pt>
              <c:pt idx="18">
                <c:v>13.044689956877916</c:v>
              </c:pt>
              <c:pt idx="19">
                <c:v>14.847478934055724</c:v>
              </c:pt>
              <c:pt idx="20">
                <c:v>14.361908288150218</c:v>
              </c:pt>
              <c:pt idx="21">
                <c:v>13.171948064709982</c:v>
              </c:pt>
              <c:pt idx="22">
                <c:v>12.309554113324932</c:v>
              </c:pt>
              <c:pt idx="23">
                <c:v>12.28977635348198</c:v>
              </c:pt>
            </c:numLit>
          </c:val>
          <c:smooth val="0"/>
        </c:ser>
        <c:ser>
          <c:idx val="1"/>
          <c:order val="1"/>
          <c:tx>
            <c:v>Storm</c:v>
          </c:tx>
          <c:spPr>
            <a:ln xmlns:a="http://schemas.openxmlformats.org/drawingml/2006/main" w="20955">
              <a:solidFill>
                <a:srgbClr val="000000"/>
              </a:solidFill>
              <a:prstDash val="dash"/>
            </a:ln>
          </c:spPr>
          <c:marker>
            <c:symbol val="none"/>
          </c:marker>
          <c:cat>
            <c:numLit>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11.692519361643834</c:v>
              </c:pt>
              <c:pt idx="1">
                <c:v>9.999882254794521</c:v>
              </c:pt>
              <c:pt idx="2">
                <c:v>9.85501921978022</c:v>
              </c:pt>
              <c:pt idx="3">
                <c:v>10.290173936986301</c:v>
              </c:pt>
              <c:pt idx="4">
                <c:v>10.935639690410959</c:v>
              </c:pt>
              <c:pt idx="5">
                <c:v>10.832532526027396</c:v>
              </c:pt>
              <c:pt idx="6">
                <c:v>11.976361290410956</c:v>
              </c:pt>
              <c:pt idx="7">
                <c:v>12.48788657260274</c:v>
              </c:pt>
              <c:pt idx="8">
                <c:v>13.714284580821918</c:v>
              </c:pt>
              <c:pt idx="9">
                <c:v>11.724061123287672</c:v>
              </c:pt>
              <c:pt idx="10">
                <c:v>10.725743761643836</c:v>
              </c:pt>
              <c:pt idx="11">
                <c:v>10.460219819178086</c:v>
              </c:pt>
              <c:pt idx="12">
                <c:v>10.70551409041096</c:v>
              </c:pt>
              <c:pt idx="13">
                <c:v>12.872692616438355</c:v>
              </c:pt>
              <c:pt idx="14">
                <c:v>12.171164287671234</c:v>
              </c:pt>
              <c:pt idx="15">
                <c:v>10.319608260273974</c:v>
              </c:pt>
              <c:pt idx="16">
                <c:v>10.60132137260274</c:v>
              </c:pt>
              <c:pt idx="17">
                <c:v>10.693619610958903</c:v>
              </c:pt>
              <c:pt idx="18">
                <c:v>14.600965893150684</c:v>
              </c:pt>
              <c:pt idx="19">
                <c:v>15.740556824657533</c:v>
              </c:pt>
              <c:pt idx="20">
                <c:v>14.13101746849315</c:v>
              </c:pt>
              <c:pt idx="21">
                <c:v>12.870811482191783</c:v>
              </c:pt>
              <c:pt idx="22">
                <c:v>12.418184183561642</c:v>
              </c:pt>
              <c:pt idx="23">
                <c:v>11.847505356164385</c:v>
              </c:pt>
            </c:numLit>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DAE0"/>
            </a:solidFill>
          </a:ln>
        </c:spPr>
        <c:txPr>
          <a:bodyPr xmlns:a="http://schemas.openxmlformats.org/drawingml/2006/main" anchorCtr="1"/>
          <a:lstStyle xmlns:a="http://schemas.openxmlformats.org/drawingml/2006/main"/>
          <a:p xmlns:a="http://schemas.openxmlformats.org/drawingml/2006/main">
            <a:pPr>
              <a:defRPr sz="900">
                <a:solidFill>
                  <a:srgbClr val="545A64"/>
                </a:solidFill>
                <a:latin typeface="Helvetica Neue"/>
                <a:ea typeface="Helvetica Neue"/>
                <a:cs typeface="Helvetica Neue"/>
              </a:defRPr>
            </a:pPr>
          </a:p>
        </c:txPr>
        <c:crossAx val="48672768"/>
      </c:catAx>
      <c:valAx>
        <c:axId val="48672768"/>
        <c:scaling>
          <c:orientation val="minMax"/>
          <c:max val="18"/>
          <c:min val="0"/>
        </c:scaling>
        <c:delete val="0"/>
        <c:axPos val="l"/>
        <c:majorGridlines>
          <c:spPr>
            <a:ln xmlns:a="http://schemas.openxmlformats.org/drawingml/2006/main" w="7620">
              <a:solidFill>
                <a:srgbClr val="D7DAE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45A64"/>
                </a:solidFill>
                <a:latin typeface="Helvetica Neue"/>
                <a:ea typeface="Helvetica Neue"/>
                <a:cs typeface="Helvetica Neue"/>
              </a:defRPr>
            </a:pPr>
          </a:p>
        </c:txPr>
        <c:crossAx val="48650112"/>
        <c:crossBetween val="between"/>
        <c:majorUnit val="3"/>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000000"/>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000000"/>
                </a:solidFill>
                <a:latin typeface="Helvetica Neue"/>
                <a:ea typeface="Helvetica Neue"/>
                <a:cs typeface="Helvetica Neue"/>
              </a:rPr>
              <a:t>Prix moyens par heure (EUR/MWh)</a:t>
            </a:r>
          </a:p>
        </c:rich>
      </c:tx>
      <c:overlay val="0"/>
      <c:txPr>
        <a:bodyPr xmlns:a="http://schemas.openxmlformats.org/drawingml/2006/main" anchorCtr="1"/>
        <a:lstStyle xmlns:a="http://schemas.openxmlformats.org/drawingml/2006/main"/>
        <a:p xmlns:a="http://schemas.openxmlformats.org/drawingml/2006/main">
          <a:pPr>
            <a:defRPr sz="1725" b="1">
              <a:solidFill>
                <a:srgbClr val="000000"/>
              </a:solidFill>
              <a:latin typeface="Helvetica Neue"/>
              <a:ea typeface="Helvetica Neue"/>
              <a:cs typeface="Helvetica Neue"/>
            </a:defRPr>
          </a:pPr>
        </a:p>
      </c:txPr>
    </c:title>
    <c:plotArea>
      <c:lineChart>
        <c:grouping val="standard"/>
        <c:varyColors val="0"/>
        <c:ser>
          <c:idx val="0"/>
          <c:order val="0"/>
          <c:tx>
            <c:v>Observé</c:v>
          </c:tx>
          <c:spPr>
            <a:ln xmlns:a="http://schemas.openxmlformats.org/drawingml/2006/main" w="20955">
              <a:solidFill>
                <a:srgbClr val="3F9FC9"/>
              </a:solidFill>
              <a:prstDash val="solid"/>
            </a:ln>
          </c:spPr>
          <c:marker>
            <c:symbol val="none"/>
          </c:marker>
          <c:cat>
            <c:numLit>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81.50498630136987</c:v>
              </c:pt>
              <c:pt idx="1">
                <c:v>76.24675342465754</c:v>
              </c:pt>
              <c:pt idx="2">
                <c:v>69.52023351648351</c:v>
              </c:pt>
              <c:pt idx="3">
                <c:v>61.80254794520548</c:v>
              </c:pt>
              <c:pt idx="4">
                <c:v>60.093315068493155</c:v>
              </c:pt>
              <c:pt idx="5">
                <c:v>66.28018493150685</c:v>
              </c:pt>
              <c:pt idx="6">
                <c:v>78.76657534246576</c:v>
              </c:pt>
              <c:pt idx="7">
                <c:v>91.21191095890411</c:v>
              </c:pt>
              <c:pt idx="8">
                <c:v>91.69986301369865</c:v>
              </c:pt>
              <c:pt idx="9">
                <c:v>73.28676712328766</c:v>
              </c:pt>
              <c:pt idx="10">
                <c:v>53.088280821917806</c:v>
              </c:pt>
              <c:pt idx="11">
                <c:v>41.05754109589041</c:v>
              </c:pt>
              <c:pt idx="12">
                <c:v>36.45541095890411</c:v>
              </c:pt>
              <c:pt idx="13">
                <c:v>27.563308219178076</c:v>
              </c:pt>
              <c:pt idx="14">
                <c:v>29.01766438356164</c:v>
              </c:pt>
              <c:pt idx="15">
                <c:v>34.59267123287671</c:v>
              </c:pt>
              <c:pt idx="16">
                <c:v>42.92036301369863</c:v>
              </c:pt>
              <c:pt idx="17">
                <c:v>61.571828767123286</c:v>
              </c:pt>
              <c:pt idx="18">
                <c:v>89.05676712328767</c:v>
              </c:pt>
              <c:pt idx="19">
                <c:v>112.11242465753426</c:v>
              </c:pt>
              <c:pt idx="20">
                <c:v>109.42708904109588</c:v>
              </c:pt>
              <c:pt idx="21">
                <c:v>101.5690479452055</c:v>
              </c:pt>
              <c:pt idx="22">
                <c:v>100.72152054794522</c:v>
              </c:pt>
              <c:pt idx="23">
                <c:v>89.1686095890411</c:v>
              </c:pt>
            </c:numLit>
          </c:val>
          <c:smooth val="0"/>
        </c:ser>
        <c:ser>
          <c:idx val="1"/>
          <c:order val="1"/>
          <c:tx>
            <c:v>Modèle</c:v>
          </c:tx>
          <c:spPr>
            <a:ln xmlns:a="http://schemas.openxmlformats.org/drawingml/2006/main" w="30480">
              <a:solidFill>
                <a:srgbClr val="3D8DFF"/>
              </a:solidFill>
              <a:prstDash val="solid"/>
            </a:ln>
          </c:spPr>
          <c:marker>
            <c:symbol val="none"/>
          </c:marker>
          <c:cat>
            <c:numLit>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82.58249074923096</c:v>
              </c:pt>
              <c:pt idx="1">
                <c:v>76.49149633359862</c:v>
              </c:pt>
              <c:pt idx="2">
                <c:v>68.94256216765612</c:v>
              </c:pt>
              <c:pt idx="3">
                <c:v>62.00917000584686</c:v>
              </c:pt>
              <c:pt idx="4">
                <c:v>60.537893582469174</c:v>
              </c:pt>
              <c:pt idx="5">
                <c:v>67.22107926255752</c:v>
              </c:pt>
              <c:pt idx="6">
                <c:v>79.26021766723845</c:v>
              </c:pt>
              <c:pt idx="7">
                <c:v>91.5154754475449</c:v>
              </c:pt>
              <c:pt idx="8">
                <c:v>90.74519495491504</c:v>
              </c:pt>
              <c:pt idx="9">
                <c:v>72.92453101479782</c:v>
              </c:pt>
              <c:pt idx="10">
                <c:v>53.60687199312481</c:v>
              </c:pt>
              <c:pt idx="11">
                <c:v>41.06732563007634</c:v>
              </c:pt>
              <c:pt idx="12">
                <c:v>34.997538796701036</c:v>
              </c:pt>
              <c:pt idx="13">
                <c:v>29.235305505678618</c:v>
              </c:pt>
              <c:pt idx="14">
                <c:v>29.988683978262678</c:v>
              </c:pt>
              <c:pt idx="15">
                <c:v>34.51654657935729</c:v>
              </c:pt>
              <c:pt idx="16">
                <c:v>42.70356553758256</c:v>
              </c:pt>
              <c:pt idx="17">
                <c:v>61.37184091306382</c:v>
              </c:pt>
              <c:pt idx="18">
                <c:v>88.49694378088914</c:v>
              </c:pt>
              <c:pt idx="19">
                <c:v>111.16105136697306</c:v>
              </c:pt>
              <c:pt idx="20">
                <c:v>109.33305792346158</c:v>
              </c:pt>
              <c:pt idx="21">
                <c:v>101.75904410921459</c:v>
              </c:pt>
              <c:pt idx="22">
                <c:v>98.72697742306498</c:v>
              </c:pt>
              <c:pt idx="23">
                <c:v>90.35533473692082</c:v>
              </c:pt>
            </c:numLit>
          </c:val>
          <c:smooth val="0"/>
        </c:ser>
        <c:ser>
          <c:idx val="2"/>
          <c:order val="2"/>
          <c:tx>
            <c:v>Storm</c:v>
          </c:tx>
          <c:spPr>
            <a:ln xmlns:a="http://schemas.openxmlformats.org/drawingml/2006/main" w="20955">
              <a:solidFill>
                <a:srgbClr val="000000"/>
              </a:solidFill>
              <a:prstDash val="dash"/>
            </a:ln>
          </c:spPr>
          <c:marker>
            <c:symbol val="none"/>
          </c:marker>
          <c:cat>
            <c:numLit>
              <c:formatCode>General</c:formatCod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Lit>
          </c:cat>
          <c:val>
            <c:numLit>
              <c:formatCode>0</c:formatCode>
              <c:ptCount val="24"/>
              <c:pt idx="0">
                <c:v>81.88062407945206</c:v>
              </c:pt>
              <c:pt idx="1">
                <c:v>74.4066268630137</c:v>
              </c:pt>
              <c:pt idx="2">
                <c:v>69.34350924725275</c:v>
              </c:pt>
              <c:pt idx="3">
                <c:v>62.14876690136987</c:v>
              </c:pt>
              <c:pt idx="4">
                <c:v>59.24784575616439</c:v>
              </c:pt>
              <c:pt idx="5">
                <c:v>63.28608193424658</c:v>
              </c:pt>
              <c:pt idx="6">
                <c:v>73.128642369863</c:v>
              </c:pt>
              <c:pt idx="7">
                <c:v>84.40929150958905</c:v>
              </c:pt>
              <c:pt idx="8">
                <c:v>84.3249813369863</c:v>
              </c:pt>
              <c:pt idx="9">
                <c:v>69.2252002849315</c:v>
              </c:pt>
              <c:pt idx="10">
                <c:v>52.8066952739726</c:v>
              </c:pt>
              <c:pt idx="11">
                <c:v>42.31938510136986</c:v>
              </c:pt>
              <c:pt idx="12">
                <c:v>37.046903838356165</c:v>
              </c:pt>
              <c:pt idx="13">
                <c:v>32.93998977260274</c:v>
              </c:pt>
              <c:pt idx="14">
                <c:v>31.473567427397256</c:v>
              </c:pt>
              <c:pt idx="15">
                <c:v>36.47983796986301</c:v>
              </c:pt>
              <c:pt idx="16">
                <c:v>43.84514411780821</c:v>
              </c:pt>
              <c:pt idx="17">
                <c:v>57.09545196712329</c:v>
              </c:pt>
              <c:pt idx="18">
                <c:v>80.10931505479452</c:v>
              </c:pt>
              <c:pt idx="19">
                <c:v>103.7395539260274</c:v>
              </c:pt>
              <c:pt idx="20">
                <c:v>107.39690547945207</c:v>
              </c:pt>
              <c:pt idx="21">
                <c:v>100.89470592602738</c:v>
              </c:pt>
              <c:pt idx="22">
                <c:v>95.56818046301369</c:v>
              </c:pt>
              <c:pt idx="23">
                <c:v>91.68566015616439</c:v>
              </c:pt>
            </c:numLit>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DAE0"/>
            </a:solidFill>
          </a:ln>
        </c:spPr>
        <c:txPr>
          <a:bodyPr xmlns:a="http://schemas.openxmlformats.org/drawingml/2006/main" anchorCtr="1"/>
          <a:lstStyle xmlns:a="http://schemas.openxmlformats.org/drawingml/2006/main"/>
          <a:p xmlns:a="http://schemas.openxmlformats.org/drawingml/2006/main">
            <a:pPr>
              <a:defRPr sz="900">
                <a:solidFill>
                  <a:srgbClr val="545A64"/>
                </a:solidFill>
                <a:latin typeface="Helvetica Neue"/>
                <a:ea typeface="Helvetica Neue"/>
                <a:cs typeface="Helvetica Neue"/>
              </a:defRPr>
            </a:pPr>
          </a:p>
        </c:txPr>
        <c:crossAx val="48672768"/>
      </c:catAx>
      <c:valAx>
        <c:axId val="48672768"/>
        <c:scaling>
          <c:orientation val="minMax"/>
          <c:max val="120"/>
          <c:min val="0"/>
        </c:scaling>
        <c:delete val="0"/>
        <c:axPos val="l"/>
        <c:majorGridlines>
          <c:spPr>
            <a:ln xmlns:a="http://schemas.openxmlformats.org/drawingml/2006/main" w="7620">
              <a:solidFill>
                <a:srgbClr val="D7DAE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45A64"/>
                </a:solidFill>
                <a:latin typeface="Helvetica Neue"/>
                <a:ea typeface="Helvetica Neue"/>
                <a:cs typeface="Helvetica Neue"/>
              </a:defRPr>
            </a:pPr>
          </a:p>
        </c:txPr>
        <c:crossAx val="48650112"/>
        <c:crossBetween val="between"/>
        <c:majorUnit val="3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000000"/>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000000"/>
                </a:solidFill>
                <a:latin typeface="Helvetica Neue"/>
                <a:ea typeface="Helvetica Neue"/>
                <a:cs typeface="Helvetica Neue"/>
              </a:rPr>
              <a:t>Poids d’influence sur la journée (%)</a:t>
            </a:r>
          </a:p>
        </c:rich>
      </c:tx>
      <c:overlay val="0"/>
      <c:txPr>
        <a:bodyPr xmlns:a="http://schemas.openxmlformats.org/drawingml/2006/main" anchorCtr="1"/>
        <a:lstStyle xmlns:a="http://schemas.openxmlformats.org/drawingml/2006/main"/>
        <a:p xmlns:a="http://schemas.openxmlformats.org/drawingml/2006/main">
          <a:pPr>
            <a:defRPr sz="1725" b="1">
              <a:solidFill>
                <a:srgbClr val="000000"/>
              </a:solidFill>
              <a:latin typeface="Helvetica Neue"/>
              <a:ea typeface="Helvetica Neue"/>
              <a:cs typeface="Helvetica Neue"/>
            </a:defRPr>
          </a:pPr>
        </a:p>
      </c:txPr>
    </c:title>
    <c:plotArea>
      <c:barChart>
        <c:barDir val="bar"/>
        <c:grouping val="clustered"/>
        <c:varyColors val="0"/>
        <c:ser>
          <c:idx val="0"/>
          <c:order val="0"/>
          <c:tx>
            <c:v>Influence Shapley (%)</c:v>
          </c:tx>
          <c:spPr>
            <a:solidFill xmlns:a="http://schemas.openxmlformats.org/drawingml/2006/main">
              <a:srgbClr val="3D8DFF"/>
            </a:solidFill>
            <a:ln xmlns:a="http://schemas.openxmlformats.org/drawingml/2006/main" w="0">
              <a:solidFill>
                <a:srgbClr val="3D8DFF"/>
              </a:solidFill>
            </a:ln>
          </c:spPr>
          <c:dPt>
            <c:idx val="0"/>
            <c:invertIfNegative val="0"/>
            <c:spPr>
              <a:solidFill xmlns:a="http://schemas.openxmlformats.org/drawingml/2006/main">
                <a:srgbClr val="3F9FC9"/>
              </a:solidFill>
            </c:spPr>
          </c:dPt>
          <c:dPt>
            <c:idx val="1"/>
            <c:invertIfNegative val="0"/>
            <c:spPr>
              <a:solidFill xmlns:a="http://schemas.openxmlformats.org/drawingml/2006/main">
                <a:srgbClr val="3D8DFF"/>
              </a:solidFill>
            </c:spPr>
          </c:dPt>
          <c:dPt>
            <c:idx val="2"/>
            <c:invertIfNegative val="0"/>
            <c:spPr>
              <a:solidFill xmlns:a="http://schemas.openxmlformats.org/drawingml/2006/main">
                <a:srgbClr val="3D8DFF"/>
              </a:solidFill>
            </c:spPr>
          </c:dPt>
          <c:dPt>
            <c:idx val="3"/>
            <c:invertIfNegative val="0"/>
            <c:spPr>
              <a:solidFill xmlns:a="http://schemas.openxmlformats.org/drawingml/2006/main">
                <a:srgbClr val="3D8DFF"/>
              </a:solidFill>
            </c:spPr>
          </c:dPt>
          <c:dPt>
            <c:idx val="4"/>
            <c:invertIfNegative val="0"/>
            <c:spPr>
              <a:solidFill xmlns:a="http://schemas.openxmlformats.org/drawingml/2006/main">
                <a:srgbClr val="3D8DFF"/>
              </a:solidFill>
            </c:spPr>
          </c:dPt>
          <c:dPt>
            <c:idx val="5"/>
            <c:invertIfNegative val="0"/>
            <c:spPr>
              <a:solidFill xmlns:a="http://schemas.openxmlformats.org/drawingml/2006/main">
                <a:srgbClr val="3D8DFF"/>
              </a:solidFill>
            </c:spPr>
          </c:dPt>
          <c:dPt>
            <c:idx val="6"/>
            <c:invertIfNegative val="0"/>
            <c:spPr>
              <a:solidFill xmlns:a="http://schemas.openxmlformats.org/drawingml/2006/main">
                <a:srgbClr val="3D8DFF"/>
              </a:solidFill>
            </c:spPr>
          </c:dPt>
          <c:cat>
            <c:strLit>
              <c:ptCount val="7"/>
              <c:pt idx="0">
                <c:v>Nucléaire FR</c:v>
              </c:pt>
              <c:pt idx="1">
                <c:v>Charge résid. NL</c:v>
              </c:pt>
              <c:pt idx="2">
                <c:v>Charge résid. BE</c:v>
              </c:pt>
              <c:pt idx="3">
                <c:v>Charge résid. ES</c:v>
              </c:pt>
              <c:pt idx="4">
                <c:v>Charge résid. FR</c:v>
              </c:pt>
              <c:pt idx="5">
                <c:v>Charge résid. DE</c:v>
              </c:pt>
              <c:pt idx="6">
                <c:v>Prix passés</c:v>
              </c:pt>
            </c:strLit>
          </c:cat>
          <c:val>
            <c:numLit>
              <c:formatCode>0.0</c:formatCode>
              <c:ptCount val="7"/>
              <c:pt idx="0">
                <c:v>1.0845875068665956</c:v>
              </c:pt>
              <c:pt idx="1">
                <c:v>2.107321375230668</c:v>
              </c:pt>
              <c:pt idx="2">
                <c:v>5.285398343962552</c:v>
              </c:pt>
              <c:pt idx="3">
                <c:v>6.473817791504951</c:v>
              </c:pt>
              <c:pt idx="4">
                <c:v>12.523080018484215</c:v>
              </c:pt>
              <c:pt idx="5">
                <c:v>15.327751001396566</c:v>
              </c:pt>
              <c:pt idx="6">
                <c:v>57.19804396255444</c:v>
              </c:pt>
            </c:numLit>
          </c:val>
        </c:ser>
        <c:dLbls>
          <c:txPr>
            <a:bodyPr xmlns:a="http://schemas.openxmlformats.org/drawingml/2006/main" anchorCtr="1"/>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solidFill>
              <a:srgbClr val="FFFFFF"/>
            </a:solidFill>
          </a:ln>
        </c:spPr>
        <c:txPr>
          <a:bodyPr xmlns:a="http://schemas.openxmlformats.org/drawingml/2006/main" anchorCtr="1"/>
          <a:lstStyle xmlns:a="http://schemas.openxmlformats.org/drawingml/2006/main"/>
          <a:p xmlns:a="http://schemas.openxmlformats.org/drawingml/2006/main">
            <a:pPr>
              <a:defRPr sz="1200">
                <a:solidFill>
                  <a:srgbClr val="000000"/>
                </a:solidFill>
                <a:latin typeface="Helvetica Neue"/>
                <a:ea typeface="Helvetica Neue"/>
                <a:cs typeface="Helvetica Neue"/>
              </a:defRPr>
            </a:pPr>
          </a:p>
        </c:txPr>
        <c:crossAx val="48672768"/>
      </c:catAx>
      <c:valAx>
        <c:axId val="48672768"/>
        <c:scaling>
          <c:orientation val="minMax"/>
          <c:max val="65"/>
          <c:min val="0"/>
        </c:scaling>
        <c:delete val="0"/>
        <c:axPos val="b"/>
        <c:majorGridlines>
          <c:spPr>
            <a:ln xmlns:a="http://schemas.openxmlformats.org/drawingml/2006/main" w="4763">
              <a:solidFill>
                <a:srgbClr val="D7DAE0"/>
              </a:solidFill>
            </a:ln>
          </c:spPr>
        </c:majorGridlines>
        <c:numFmt formatCode="0"/>
        <c:majorTickMark val="none"/>
        <c:minorTickMark val="none"/>
        <c:spPr>
          <a:ln xmlns:a="http://schemas.openxmlformats.org/drawingml/2006/main" w="4763">
            <a:solidFill>
              <a:srgbClr val="D7DAE0"/>
            </a:solidFill>
          </a:ln>
        </c:spPr>
        <c:txPr>
          <a:bodyPr xmlns:a="http://schemas.openxmlformats.org/drawingml/2006/main" anchorCtr="1"/>
          <a:lstStyle xmlns:a="http://schemas.openxmlformats.org/drawingml/2006/main"/>
          <a:p xmlns:a="http://schemas.openxmlformats.org/drawingml/2006/main">
            <a:pPr>
              <a:defRPr sz="1050">
                <a:solidFill>
                  <a:srgbClr val="545A64"/>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8" name="pipeline-line"/>
          <p:cNvCxnSpPr/>
          <p:nvPr/>
        </p:nvCxnSpPr>
        <p:spPr>
          <a:xfrm xmlns:a="http://schemas.openxmlformats.org/drawingml/2006/main">
            <a:off x="571500" y="2924175"/>
            <a:ext cx="10887075" cy="286"/>
          </a:xfrm>
          <a:prstGeom xmlns:a="http://schemas.openxmlformats.org/drawingml/2006/main" prst="straightConnector1">
            <a:avLst/>
          </a:prstGeom>
          <a:ln xmlns:a="http://schemas.openxmlformats.org/drawingml/2006/main" w="19050">
            <a:solidFill>
              <a:srgbClr val="000000"/>
            </a:solidFill>
            <a:prstDash val="solid"/>
          </a:ln>
        </p:spPr>
      </p:cxnSp>
      <p:sp>
        <p:nvSpPr>
          <p:cNvPr id="4" name="Rectangle 3">
            <a:extLst xmlns:a="http://schemas.openxmlformats.org/drawingml/2006/main">
              <a:ext uri="{FF2B5EF4-FFF2-40B4-BE49-F238E27FC236}">
                <a16:creationId xmlns:a16="http://schemas.microsoft.com/office/drawing/2014/main" id="{F35C8BCF-B89D-4DAB-9AD5-B9A7EAE76FDC}"/>
              </a:ext>
            </a:extLst>
          </p:cNvPr>
          <p:cNvSpPr>
            <a:spLocks xmlns:a="http://schemas.openxmlformats.org/drawingml/2006/main" noGrp="1"/>
          </p:cNvSpPr>
          <p:nvPr/>
        </p:nvSpPr>
        <p:spPr>
          <a:xfrm xmlns:a="http://schemas.openxmlformats.org/drawingml/2006/main">
            <a:off x="571500" y="2143125"/>
            <a:ext cx="17526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D−1</a:t>
            </a:r>
          </a:p>
        </p:txBody>
      </p:sp>
      <p:sp>
        <p:nvSpPr>
          <p:cNvPr id="5" name="node-0">
            <a:extLst xmlns:a="http://schemas.openxmlformats.org/drawingml/2006/main">
              <a:ext uri="{FF2B5EF4-FFF2-40B4-BE49-F238E27FC236}">
                <a16:creationId xmlns:a16="http://schemas.microsoft.com/office/drawing/2014/main" id="{1CAD7742-B40A-4FFD-85FC-91883BD342B6}"/>
              </a:ext>
            </a:extLst>
          </p:cNvPr>
          <p:cNvSpPr>
            <a:spLocks xmlns:a="http://schemas.openxmlformats.org/drawingml/2006/main" noGrp="1"/>
          </p:cNvSpPr>
          <p:nvPr/>
        </p:nvSpPr>
        <p:spPr>
          <a:xfrm xmlns:a="http://schemas.openxmlformats.org/drawingml/2006/main">
            <a:off x="571500" y="2800350"/>
            <a:ext cx="247650" cy="2476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370E061F-272F-4058-8CE8-ED422DBAF0D7}"/>
              </a:ext>
            </a:extLst>
          </p:cNvPr>
          <p:cNvSpPr>
            <a:spLocks xmlns:a="http://schemas.openxmlformats.org/drawingml/2006/main" noGrp="1"/>
          </p:cNvSpPr>
          <p:nvPr/>
        </p:nvSpPr>
        <p:spPr>
          <a:xfrm xmlns:a="http://schemas.openxmlformats.org/drawingml/2006/main">
            <a:off x="571500" y="3371850"/>
            <a:ext cx="17526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Entrées</a:t>
            </a:r>
          </a:p>
        </p:txBody>
      </p:sp>
      <p:sp>
        <p:nvSpPr>
          <p:cNvPr id="7" name="Rectangle 6">
            <a:extLst xmlns:a="http://schemas.openxmlformats.org/drawingml/2006/main">
              <a:ext uri="{FF2B5EF4-FFF2-40B4-BE49-F238E27FC236}">
                <a16:creationId xmlns:a16="http://schemas.microsoft.com/office/drawing/2014/main" id="{2411D0B5-DB25-4DC5-994D-B44D64608346}"/>
              </a:ext>
            </a:extLst>
          </p:cNvPr>
          <p:cNvSpPr>
            <a:spLocks xmlns:a="http://schemas.openxmlformats.org/drawingml/2006/main" noGrp="1"/>
          </p:cNvSpPr>
          <p:nvPr/>
        </p:nvSpPr>
        <p:spPr>
          <a:xfrm xmlns:a="http://schemas.openxmlformats.org/drawingml/2006/main">
            <a:off x="571500" y="3848100"/>
            <a:ext cx="1752600" cy="1333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33363B"/>
                </a:solidFill>
                <a:latin typeface="Helvetica Neue"/>
                <a:ea typeface="Helvetica Neue"/>
                <a:cs typeface="Helvetica Neue"/>
              </a:defRPr>
            </a:pPr>
            <a:r>
              <a:t>Prix récents
Calendrier
Charges résiduelles
FR, DE, BE, NL, ES</a:t>
            </a:r>
          </a:p>
        </p:txBody>
      </p:sp>
      <p:sp>
        <p:nvSpPr>
          <p:cNvPr id="8" name="Rectangle 7">
            <a:extLst xmlns:a="http://schemas.openxmlformats.org/drawingml/2006/main">
              <a:ext uri="{FF2B5EF4-FFF2-40B4-BE49-F238E27FC236}">
                <a16:creationId xmlns:a16="http://schemas.microsoft.com/office/drawing/2014/main" id="{9469B013-C86B-454C-AAF6-EB0506A39480}"/>
              </a:ext>
            </a:extLst>
          </p:cNvPr>
          <p:cNvSpPr>
            <a:spLocks xmlns:a="http://schemas.openxmlformats.org/drawingml/2006/main" noGrp="1"/>
          </p:cNvSpPr>
          <p:nvPr/>
        </p:nvSpPr>
        <p:spPr>
          <a:xfrm xmlns:a="http://schemas.openxmlformats.org/drawingml/2006/main">
            <a:off x="2438400" y="2143125"/>
            <a:ext cx="17526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BASE</a:t>
            </a:r>
          </a:p>
        </p:txBody>
      </p:sp>
      <p:sp>
        <p:nvSpPr>
          <p:cNvPr id="9" name="node-1">
            <a:extLst xmlns:a="http://schemas.openxmlformats.org/drawingml/2006/main">
              <a:ext uri="{FF2B5EF4-FFF2-40B4-BE49-F238E27FC236}">
                <a16:creationId xmlns:a16="http://schemas.microsoft.com/office/drawing/2014/main" id="{8735B57C-9C73-4DD8-BAA0-FA51DA012AC5}"/>
              </a:ext>
            </a:extLst>
          </p:cNvPr>
          <p:cNvSpPr>
            <a:spLocks xmlns:a="http://schemas.openxmlformats.org/drawingml/2006/main" noGrp="1"/>
          </p:cNvSpPr>
          <p:nvPr/>
        </p:nvSpPr>
        <p:spPr>
          <a:xfrm xmlns:a="http://schemas.openxmlformats.org/drawingml/2006/main">
            <a:off x="2438400" y="2800350"/>
            <a:ext cx="247650" cy="2476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714B5182-1A16-440B-A11B-344220DE1ABA}"/>
              </a:ext>
            </a:extLst>
          </p:cNvPr>
          <p:cNvSpPr>
            <a:spLocks xmlns:a="http://schemas.openxmlformats.org/drawingml/2006/main" noGrp="1"/>
          </p:cNvSpPr>
          <p:nvPr/>
        </p:nvSpPr>
        <p:spPr>
          <a:xfrm xmlns:a="http://schemas.openxmlformats.org/drawingml/2006/main">
            <a:off x="2438400" y="3371850"/>
            <a:ext cx="17526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Chronos-2</a:t>
            </a:r>
          </a:p>
        </p:txBody>
      </p:sp>
      <p:sp>
        <p:nvSpPr>
          <p:cNvPr id="11" name="Rectangle 10">
            <a:extLst xmlns:a="http://schemas.openxmlformats.org/drawingml/2006/main">
              <a:ext uri="{FF2B5EF4-FFF2-40B4-BE49-F238E27FC236}">
                <a16:creationId xmlns:a16="http://schemas.microsoft.com/office/drawing/2014/main" id="{D29FE012-5EAD-4BA6-A2AA-646E4764DD27}"/>
              </a:ext>
            </a:extLst>
          </p:cNvPr>
          <p:cNvSpPr>
            <a:spLocks xmlns:a="http://schemas.openxmlformats.org/drawingml/2006/main" noGrp="1"/>
          </p:cNvSpPr>
          <p:nvPr/>
        </p:nvSpPr>
        <p:spPr>
          <a:xfrm xmlns:a="http://schemas.openxmlformats.org/drawingml/2006/main">
            <a:off x="2438400" y="3848100"/>
            <a:ext cx="1752600" cy="1333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33363B"/>
                </a:solidFill>
                <a:latin typeface="Helvetica Neue"/>
                <a:ea typeface="Helvetica Neue"/>
                <a:cs typeface="Helvetica Neue"/>
              </a:defRPr>
            </a:pPr>
            <a:r>
              <a:t>Construit la forme
de la journée et
produit P10, P50, P90</a:t>
            </a:r>
          </a:p>
        </p:txBody>
      </p:sp>
      <p:sp>
        <p:nvSpPr>
          <p:cNvPr id="12" name="Rectangle 11">
            <a:extLst xmlns:a="http://schemas.openxmlformats.org/drawingml/2006/main">
              <a:ext uri="{FF2B5EF4-FFF2-40B4-BE49-F238E27FC236}">
                <a16:creationId xmlns:a16="http://schemas.microsoft.com/office/drawing/2014/main" id="{539C7203-255C-4718-98C2-4596D99845F1}"/>
              </a:ext>
            </a:extLst>
          </p:cNvPr>
          <p:cNvSpPr>
            <a:spLocks xmlns:a="http://schemas.openxmlformats.org/drawingml/2006/main" noGrp="1"/>
          </p:cNvSpPr>
          <p:nvPr/>
        </p:nvSpPr>
        <p:spPr>
          <a:xfrm xmlns:a="http://schemas.openxmlformats.org/drawingml/2006/main">
            <a:off x="4305300" y="2143125"/>
            <a:ext cx="17526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AJUST.</a:t>
            </a:r>
          </a:p>
        </p:txBody>
      </p:sp>
      <p:sp>
        <p:nvSpPr>
          <p:cNvPr id="13" name="node-2">
            <a:extLst xmlns:a="http://schemas.openxmlformats.org/drawingml/2006/main">
              <a:ext uri="{FF2B5EF4-FFF2-40B4-BE49-F238E27FC236}">
                <a16:creationId xmlns:a16="http://schemas.microsoft.com/office/drawing/2014/main" id="{22E272CC-3963-43AC-8B12-EF6C4727AE9D}"/>
              </a:ext>
            </a:extLst>
          </p:cNvPr>
          <p:cNvSpPr>
            <a:spLocks xmlns:a="http://schemas.openxmlformats.org/drawingml/2006/main" noGrp="1"/>
          </p:cNvSpPr>
          <p:nvPr/>
        </p:nvSpPr>
        <p:spPr>
          <a:xfrm xmlns:a="http://schemas.openxmlformats.org/drawingml/2006/main">
            <a:off x="4305300" y="2800350"/>
            <a:ext cx="247650" cy="247650"/>
          </a:xfrm>
          <a:prstGeom xmlns:a="http://schemas.openxmlformats.org/drawingml/2006/main" prst="ellipse">
            <a:avLst/>
          </a:prstGeom>
          <a:solidFill xmlns:a="http://schemas.openxmlformats.org/drawingml/2006/main">
            <a:srgbClr val="6DCBF4"/>
          </a:solidFill>
          <a:ln xmlns:a="http://schemas.openxmlformats.org/drawingml/2006/main" w="0">
            <a:solidFill>
              <a:srgbClr val="6DCBF4"/>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B358EAF4-0C53-4DED-92E9-97E728A0E858}"/>
              </a:ext>
            </a:extLst>
          </p:cNvPr>
          <p:cNvSpPr>
            <a:spLocks xmlns:a="http://schemas.openxmlformats.org/drawingml/2006/main" noGrp="1"/>
          </p:cNvSpPr>
          <p:nvPr/>
        </p:nvSpPr>
        <p:spPr>
          <a:xfrm xmlns:a="http://schemas.openxmlformats.org/drawingml/2006/main">
            <a:off x="4305300" y="3371850"/>
            <a:ext cx="17526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Correcteur</a:t>
            </a:r>
          </a:p>
        </p:txBody>
      </p:sp>
      <p:sp>
        <p:nvSpPr>
          <p:cNvPr id="15" name="Rectangle 14">
            <a:extLst xmlns:a="http://schemas.openxmlformats.org/drawingml/2006/main">
              <a:ext uri="{FF2B5EF4-FFF2-40B4-BE49-F238E27FC236}">
                <a16:creationId xmlns:a16="http://schemas.microsoft.com/office/drawing/2014/main" id="{FFA2A9E2-CA39-42EA-A114-2E7411A28598}"/>
              </a:ext>
            </a:extLst>
          </p:cNvPr>
          <p:cNvSpPr>
            <a:spLocks xmlns:a="http://schemas.openxmlformats.org/drawingml/2006/main" noGrp="1"/>
          </p:cNvSpPr>
          <p:nvPr/>
        </p:nvSpPr>
        <p:spPr>
          <a:xfrm xmlns:a="http://schemas.openxmlformats.org/drawingml/2006/main">
            <a:off x="4305300" y="3848100"/>
            <a:ext cx="1752600" cy="1333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33363B"/>
                </a:solidFill>
                <a:latin typeface="Helvetica Neue"/>
                <a:ea typeface="Helvetica Neue"/>
                <a:cs typeface="Helvetica Neue"/>
              </a:defRPr>
            </a:pPr>
            <a:r>
              <a:t>Anticipe l’erreur
récurrente et déplace
les trois quantiles</a:t>
            </a:r>
          </a:p>
        </p:txBody>
      </p:sp>
      <p:sp>
        <p:nvSpPr>
          <p:cNvPr id="16" name="Rectangle 15">
            <a:extLst xmlns:a="http://schemas.openxmlformats.org/drawingml/2006/main">
              <a:ext uri="{FF2B5EF4-FFF2-40B4-BE49-F238E27FC236}">
                <a16:creationId xmlns:a16="http://schemas.microsoft.com/office/drawing/2014/main" id="{876A89EC-F143-4CA4-B2E6-7BC7EA36E95F}"/>
              </a:ext>
            </a:extLst>
          </p:cNvPr>
          <p:cNvSpPr>
            <a:spLocks xmlns:a="http://schemas.openxmlformats.org/drawingml/2006/main" noGrp="1"/>
          </p:cNvSpPr>
          <p:nvPr/>
        </p:nvSpPr>
        <p:spPr>
          <a:xfrm xmlns:a="http://schemas.openxmlformats.org/drawingml/2006/main">
            <a:off x="8039100" y="2143125"/>
            <a:ext cx="17526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GEL</a:t>
            </a:r>
          </a:p>
        </p:txBody>
      </p:sp>
      <p:sp>
        <p:nvSpPr>
          <p:cNvPr id="17" name="node-3">
            <a:extLst xmlns:a="http://schemas.openxmlformats.org/drawingml/2006/main">
              <a:ext uri="{FF2B5EF4-FFF2-40B4-BE49-F238E27FC236}">
                <a16:creationId xmlns:a16="http://schemas.microsoft.com/office/drawing/2014/main" id="{F43E8C3C-E908-4138-A27B-54C640160517}"/>
              </a:ext>
            </a:extLst>
          </p:cNvPr>
          <p:cNvSpPr>
            <a:spLocks xmlns:a="http://schemas.openxmlformats.org/drawingml/2006/main" noGrp="1"/>
          </p:cNvSpPr>
          <p:nvPr/>
        </p:nvSpPr>
        <p:spPr>
          <a:xfrm xmlns:a="http://schemas.openxmlformats.org/drawingml/2006/main">
            <a:off x="8039100" y="2800350"/>
            <a:ext cx="247650" cy="2476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F20DE633-E0B5-48E0-9EBA-4B54914012C9}"/>
              </a:ext>
            </a:extLst>
          </p:cNvPr>
          <p:cNvSpPr>
            <a:spLocks xmlns:a="http://schemas.openxmlformats.org/drawingml/2006/main" noGrp="1"/>
          </p:cNvSpPr>
          <p:nvPr/>
        </p:nvSpPr>
        <p:spPr>
          <a:xfrm xmlns:a="http://schemas.openxmlformats.org/drawingml/2006/main">
            <a:off x="8039100" y="3371850"/>
            <a:ext cx="17526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Contrôles</a:t>
            </a:r>
          </a:p>
        </p:txBody>
      </p:sp>
      <p:sp>
        <p:nvSpPr>
          <p:cNvPr id="19" name="Rectangle 18">
            <a:extLst xmlns:a="http://schemas.openxmlformats.org/drawingml/2006/main">
              <a:ext uri="{FF2B5EF4-FFF2-40B4-BE49-F238E27FC236}">
                <a16:creationId xmlns:a16="http://schemas.microsoft.com/office/drawing/2014/main" id="{7FC67745-7E43-49D8-893C-F0078532FBBF}"/>
              </a:ext>
            </a:extLst>
          </p:cNvPr>
          <p:cNvSpPr>
            <a:spLocks xmlns:a="http://schemas.openxmlformats.org/drawingml/2006/main" noGrp="1"/>
          </p:cNvSpPr>
          <p:nvPr/>
        </p:nvSpPr>
        <p:spPr>
          <a:xfrm xmlns:a="http://schemas.openxmlformats.org/drawingml/2006/main">
            <a:off x="8039100" y="3848100"/>
            <a:ext cx="1752600" cy="1333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545A64"/>
                </a:solidFill>
                <a:latin typeface="Helvetica Neue"/>
                <a:ea typeface="Helvetica Neue"/>
                <a:cs typeface="Helvetica Neue"/>
              </a:defRPr>
            </a:pPr>
            <a:r>
              <a:rPr sz="1275" b="0">
                <a:solidFill>
                  <a:srgbClr val="545A64"/>
                </a:solidFill>
                <a:latin typeface="Helvetica Neue"/>
                <a:ea typeface="Helvetica Neue"/>
                <a:cs typeface="Helvetica Neue"/>
              </a:rPr>
              <a:t>23, 24 ou 25 heures</a:t>
            </a:r>
          </a:p>
          <a:p xmlns:a="http://schemas.openxmlformats.org/drawingml/2006/main">
            <a:pPr algn="l">
              <a:buNone/>
              <a:defRPr sz="1275" b="0">
                <a:solidFill>
                  <a:srgbClr val="545A64"/>
                </a:solidFill>
                <a:latin typeface="Helvetica Neue"/>
                <a:ea typeface="Helvetica Neue"/>
                <a:cs typeface="Helvetica Neue"/>
              </a:defRPr>
            </a:pPr>
            <a:r>
              <a:rPr sz="1275" b="0">
                <a:solidFill>
                  <a:srgbClr val="545A64"/>
                </a:solidFill>
                <a:latin typeface="Helvetica Neue"/>
                <a:ea typeface="Helvetica Neue"/>
                <a:cs typeface="Helvetica Neue"/>
              </a:rPr>
              <a:t>P10 ≤ P50 ≤ P90</a:t>
            </a:r>
          </a:p>
          <a:p xmlns:a="http://schemas.openxmlformats.org/drawingml/2006/main">
            <a:pPr algn="l">
              <a:buNone/>
              <a:defRPr sz="1275" b="0">
                <a:solidFill>
                  <a:srgbClr val="545A64"/>
                </a:solidFill>
                <a:latin typeface="Helvetica Neue"/>
                <a:ea typeface="Helvetica Neue"/>
                <a:cs typeface="Helvetica Neue"/>
              </a:defRPr>
            </a:pPr>
            <a:r>
              <a:rPr sz="1275" b="0">
                <a:solidFill>
                  <a:srgbClr val="545A64"/>
                </a:solidFill>
                <a:latin typeface="Helvetica Neue"/>
                <a:ea typeface="Helvetica Neue"/>
                <a:cs typeface="Helvetica Neue"/>
              </a:rPr>
              <a:t>Absence de fuite future</a:t>
            </a:r>
          </a:p>
        </p:txBody>
      </p:sp>
      <p:sp>
        <p:nvSpPr>
          <p:cNvPr id="20" name="Rectangle 19">
            <a:extLst xmlns:a="http://schemas.openxmlformats.org/drawingml/2006/main">
              <a:ext uri="{FF2B5EF4-FFF2-40B4-BE49-F238E27FC236}">
                <a16:creationId xmlns:a16="http://schemas.microsoft.com/office/drawing/2014/main" id="{91858A03-F067-4C37-822B-C016CA9D8D96}"/>
              </a:ext>
            </a:extLst>
          </p:cNvPr>
          <p:cNvSpPr>
            <a:spLocks xmlns:a="http://schemas.openxmlformats.org/drawingml/2006/main" noGrp="1"/>
          </p:cNvSpPr>
          <p:nvPr/>
        </p:nvSpPr>
        <p:spPr>
          <a:xfrm xmlns:a="http://schemas.openxmlformats.org/drawingml/2006/main">
            <a:off x="9906000" y="2143125"/>
            <a:ext cx="17526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APRÈS</a:t>
            </a:r>
          </a:p>
        </p:txBody>
      </p:sp>
      <p:sp>
        <p:nvSpPr>
          <p:cNvPr id="21" name="node-4">
            <a:extLst xmlns:a="http://schemas.openxmlformats.org/drawingml/2006/main">
              <a:ext uri="{FF2B5EF4-FFF2-40B4-BE49-F238E27FC236}">
                <a16:creationId xmlns:a16="http://schemas.microsoft.com/office/drawing/2014/main" id="{60212B1A-1073-4272-9F68-7D33A2CC238D}"/>
              </a:ext>
            </a:extLst>
          </p:cNvPr>
          <p:cNvSpPr>
            <a:spLocks xmlns:a="http://schemas.openxmlformats.org/drawingml/2006/main" noGrp="1"/>
          </p:cNvSpPr>
          <p:nvPr/>
        </p:nvSpPr>
        <p:spPr>
          <a:xfrm xmlns:a="http://schemas.openxmlformats.org/drawingml/2006/main">
            <a:off x="9906000" y="2800350"/>
            <a:ext cx="247650" cy="2476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98303BA9-BD25-4764-BF47-020EF1D1B383}"/>
              </a:ext>
            </a:extLst>
          </p:cNvPr>
          <p:cNvSpPr>
            <a:spLocks xmlns:a="http://schemas.openxmlformats.org/drawingml/2006/main" noGrp="1"/>
          </p:cNvSpPr>
          <p:nvPr/>
        </p:nvSpPr>
        <p:spPr>
          <a:xfrm xmlns:a="http://schemas.openxmlformats.org/drawingml/2006/main">
            <a:off x="9906000" y="3371850"/>
            <a:ext cx="175260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Évaluation</a:t>
            </a:r>
          </a:p>
        </p:txBody>
      </p:sp>
      <p:sp>
        <p:nvSpPr>
          <p:cNvPr id="23" name="Rectangle 22">
            <a:extLst xmlns:a="http://schemas.openxmlformats.org/drawingml/2006/main">
              <a:ext uri="{FF2B5EF4-FFF2-40B4-BE49-F238E27FC236}">
                <a16:creationId xmlns:a16="http://schemas.microsoft.com/office/drawing/2014/main" id="{FADC1D61-85F5-4FE5-BB9D-C4AE16BCAC6C}"/>
              </a:ext>
            </a:extLst>
          </p:cNvPr>
          <p:cNvSpPr>
            <a:spLocks xmlns:a="http://schemas.openxmlformats.org/drawingml/2006/main" noGrp="1"/>
          </p:cNvSpPr>
          <p:nvPr/>
        </p:nvSpPr>
        <p:spPr>
          <a:xfrm xmlns:a="http://schemas.openxmlformats.org/drawingml/2006/main">
            <a:off x="9906000" y="3848100"/>
            <a:ext cx="1752600" cy="1333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33363B"/>
                </a:solidFill>
                <a:latin typeface="Helvetica Neue"/>
                <a:ea typeface="Helvetica Neue"/>
                <a:cs typeface="Helvetica Neue"/>
              </a:defRPr>
            </a:pPr>
            <a:r>
              <a:t>Prix réels, métriques
et comparaison à Storm
uniquement après coup</a:t>
            </a:r>
          </a:p>
        </p:txBody>
      </p:sp>
      <p:sp>
        <p:nvSpPr>
          <p:cNvPr id="31" name="">
            <a:extLst xmlns:a="http://schemas.openxmlformats.org/drawingml/2006/main">
              <a:ext uri="{FF2B5EF4-FFF2-40B4-BE49-F238E27FC236}">
                <a16:creationId xmlns:a16="http://schemas.microsoft.com/office/drawing/2014/main" id="{CD015A58-AF8E-407C-AAB0-E88A9E2F4CC1}"/>
              </a:ext>
            </a:extLst>
          </p:cNvPr>
          <p:cNvSpPr>
            <a:spLocks xmlns:a="http://schemas.openxmlformats.org/drawingml/2006/main" noGrp="1"/>
          </p:cNvSpPr>
          <p:nvPr/>
        </p:nvSpPr>
        <p:spPr>
          <a:xfrm xmlns:a="http://schemas.openxmlformats.org/drawingml/2006/main">
            <a:off x="6172200" y="2143125"/>
            <a:ext cx="1752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468B8"/>
                </a:solidFill>
                <a:latin typeface="Helvetica Neue"/>
                <a:ea typeface="Helvetica Neue"/>
                <a:cs typeface="Helvetica Neue"/>
              </a:defRPr>
            </a:pPr>
            <a:r>
              <a:rPr sz="1125" b="1">
                <a:solidFill>
                  <a:srgbClr val="2468B8"/>
                </a:solidFill>
                <a:latin typeface="Helvetica Neue"/>
                <a:ea typeface="Helvetica Neue"/>
                <a:cs typeface="Helvetica Neue"/>
              </a:rPr>
              <a:t>ADAPTATION</a:t>
            </a:r>
          </a:p>
        </p:txBody>
      </p:sp>
      <p:sp>
        <p:nvSpPr>
          <p:cNvPr id="32" name="node-kalman">
            <a:extLst xmlns:a="http://schemas.openxmlformats.org/drawingml/2006/main">
              <a:ext uri="{FF2B5EF4-FFF2-40B4-BE49-F238E27FC236}">
                <a16:creationId xmlns:a16="http://schemas.microsoft.com/office/drawing/2014/main" id="{26F5D2BE-67F8-4495-8DF0-6B75C157A885}"/>
              </a:ext>
            </a:extLst>
          </p:cNvPr>
          <p:cNvSpPr>
            <a:spLocks xmlns:a="http://schemas.openxmlformats.org/drawingml/2006/main" noGrp="1"/>
          </p:cNvSpPr>
          <p:nvPr/>
        </p:nvSpPr>
        <p:spPr>
          <a:xfrm xmlns:a="http://schemas.openxmlformats.org/drawingml/2006/main">
            <a:off x="6172200" y="2800350"/>
            <a:ext cx="247650" cy="247650"/>
          </a:xfrm>
          <a:prstGeom xmlns:a="http://schemas.openxmlformats.org/drawingml/2006/main" prst="ellipse">
            <a:avLst/>
          </a:prstGeom>
          <a:solidFill xmlns:a="http://schemas.openxmlformats.org/drawingml/2006/main">
            <a:srgbClr val="2468B8"/>
          </a:solidFill>
          <a:ln xmlns:a="http://schemas.openxmlformats.org/drawingml/2006/main" w="0">
            <a:solidFill>
              <a:srgbClr val="2468B8"/>
            </a:solidFill>
          </a:ln>
        </p:spPr>
      </p:sp>
      <p:sp>
        <p:nvSpPr>
          <p:cNvPr id="33" name="">
            <a:extLst xmlns:a="http://schemas.openxmlformats.org/drawingml/2006/main">
              <a:ext uri="{FF2B5EF4-FFF2-40B4-BE49-F238E27FC236}">
                <a16:creationId xmlns:a16="http://schemas.microsoft.com/office/drawing/2014/main" id="{3F02C639-855C-4C79-936E-45BA648425DE}"/>
              </a:ext>
            </a:extLst>
          </p:cNvPr>
          <p:cNvSpPr>
            <a:spLocks xmlns:a="http://schemas.openxmlformats.org/drawingml/2006/main" noGrp="1"/>
          </p:cNvSpPr>
          <p:nvPr/>
        </p:nvSpPr>
        <p:spPr>
          <a:xfrm xmlns:a="http://schemas.openxmlformats.org/drawingml/2006/main">
            <a:off x="6172200" y="3371850"/>
            <a:ext cx="1752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Kalman</a:t>
            </a:r>
          </a:p>
        </p:txBody>
      </p:sp>
      <p:sp>
        <p:nvSpPr>
          <p:cNvPr id="34" name="">
            <a:extLst xmlns:a="http://schemas.openxmlformats.org/drawingml/2006/main">
              <a:ext uri="{FF2B5EF4-FFF2-40B4-BE49-F238E27FC236}">
                <a16:creationId xmlns:a16="http://schemas.microsoft.com/office/drawing/2014/main" id="{CE3423C2-89A4-41CD-84C2-7E950F95AA5C}"/>
              </a:ext>
            </a:extLst>
          </p:cNvPr>
          <p:cNvSpPr>
            <a:spLocks xmlns:a="http://schemas.openxmlformats.org/drawingml/2006/main" noGrp="1"/>
          </p:cNvSpPr>
          <p:nvPr/>
        </p:nvSpPr>
        <p:spPr>
          <a:xfrm xmlns:a="http://schemas.openxmlformats.org/drawingml/2006/main">
            <a:off x="6172200" y="3848100"/>
            <a:ext cx="17526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545A64"/>
                </a:solidFill>
                <a:latin typeface="Helvetica Neue"/>
                <a:ea typeface="Helvetica Neue"/>
                <a:cs typeface="Helvetica Neue"/>
              </a:defRPr>
            </a:pPr>
            <a:r>
              <a:rPr sz="1275">
                <a:solidFill>
                  <a:srgbClr val="545A64"/>
                </a:solidFill>
                <a:latin typeface="Helvetica Neue"/>
                <a:ea typeface="Helvetica Neue"/>
                <a:cs typeface="Helvetica Neue"/>
              </a:rPr>
              <a:t>Suit le biais récent</a:t>
            </a:r>
          </a:p>
          <a:p xmlns:a="http://schemas.openxmlformats.org/drawingml/2006/main">
            <a:pPr>
              <a:defRPr sz="1275">
                <a:solidFill>
                  <a:srgbClr val="545A64"/>
                </a:solidFill>
                <a:latin typeface="Helvetica Neue"/>
                <a:ea typeface="Helvetica Neue"/>
                <a:cs typeface="Helvetica Neue"/>
              </a:defRPr>
            </a:pPr>
            <a:r>
              <a:rPr sz="1275">
                <a:solidFill>
                  <a:srgbClr val="545A64"/>
                </a:solidFill>
                <a:latin typeface="Helvetica Neue"/>
                <a:ea typeface="Helvetica Neue"/>
                <a:cs typeface="Helvetica Neue"/>
              </a:rPr>
              <a:t>Corrige si le gain</a:t>
            </a:r>
          </a:p>
          <a:p xmlns:a="http://schemas.openxmlformats.org/drawingml/2006/main">
            <a:pPr>
              <a:defRPr sz="1275">
                <a:solidFill>
                  <a:srgbClr val="545A64"/>
                </a:solidFill>
                <a:latin typeface="Helvetica Neue"/>
                <a:ea typeface="Helvetica Neue"/>
                <a:cs typeface="Helvetica Neue"/>
              </a:defRPr>
            </a:pPr>
            <a:r>
              <a:rPr sz="1275">
                <a:solidFill>
                  <a:srgbClr val="545A64"/>
                </a:solidFill>
                <a:latin typeface="Helvetica Neue"/>
                <a:ea typeface="Helvetica Neue"/>
                <a:cs typeface="Helvetica Neue"/>
              </a:rPr>
              <a:t>passé est suffisant</a:t>
            </a:r>
          </a:p>
        </p:txBody>
      </p:sp>
      <p:sp>
        <p:nvSpPr>
          <p:cNvPr id="35" name="">
            <a:extLst xmlns:a="http://schemas.openxmlformats.org/drawingml/2006/main">
              <a:ext uri="{FF2B5EF4-FFF2-40B4-BE49-F238E27FC236}">
                <a16:creationId xmlns:a16="http://schemas.microsoft.com/office/drawing/2014/main" id="{F1BBC44B-57EC-4FA2-B74C-CEAD910A313E}"/>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Pipeline de prévision avec filtre de Kalman</a:t>
            </a:r>
          </a:p>
        </p:txBody>
      </p:sp>
      <p:sp>
        <p:nvSpPr>
          <p:cNvPr id="36" name="">
            <a:extLst xmlns:a="http://schemas.openxmlformats.org/drawingml/2006/main">
              <a:ext uri="{FF2B5EF4-FFF2-40B4-BE49-F238E27FC236}">
                <a16:creationId xmlns:a16="http://schemas.microsoft.com/office/drawing/2014/main" id="{02908270-72DD-4C5C-823D-863E1AF0E943}"/>
              </a:ext>
            </a:extLst>
          </p:cNvPr>
          <p:cNvSpPr>
            <a:spLocks xmlns:a="http://schemas.openxmlformats.org/drawingml/2006/main" noGrp="1"/>
          </p:cNvSpPr>
          <p:nvPr/>
        </p:nvSpPr>
        <p:spPr>
          <a:xfrm xmlns:a="http://schemas.openxmlformats.org/drawingml/2006/main">
            <a:off x="390525" y="1057275"/>
            <a:ext cx="114014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a:solidFill>
                  <a:srgbClr val="545A64"/>
                </a:solidFill>
                <a:latin typeface="Helvetica Neue"/>
                <a:ea typeface="Helvetica Neue"/>
                <a:cs typeface="Helvetica Neue"/>
              </a:defRPr>
            </a:pPr>
            <a:r>
              <a:rPr sz="1575">
                <a:solidFill>
                  <a:srgbClr val="545A64"/>
                </a:solidFill>
                <a:latin typeface="Helvetica Neue"/>
                <a:ea typeface="Helvetica Neue"/>
                <a:cs typeface="Helvetica Neue"/>
              </a:rPr>
              <a:t>Kalman intervient après le correcteur résiduel, avant les contrôles et la publication.</a:t>
            </a:r>
          </a:p>
        </p:txBody>
      </p:sp>
      <p:sp>
        <p:nvSpPr>
          <p:cNvPr id="37" name="">
            <a:extLst xmlns:a="http://schemas.openxmlformats.org/drawingml/2006/main">
              <a:ext uri="{FF2B5EF4-FFF2-40B4-BE49-F238E27FC236}">
                <a16:creationId xmlns:a16="http://schemas.microsoft.com/office/drawing/2014/main" id="{D0968F34-CD07-4B55-A4BF-F2A6FF9A1A6E}"/>
              </a:ext>
            </a:extLst>
          </p:cNvPr>
          <p:cNvSpPr>
            <a:spLocks xmlns:a="http://schemas.openxmlformats.org/drawingml/2006/main" noGrp="1"/>
          </p:cNvSpPr>
          <p:nvPr/>
        </p:nvSpPr>
        <p:spPr>
          <a:xfrm xmlns:a="http://schemas.openxmlformats.org/drawingml/2006/main">
            <a:off x="571500" y="57435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2468B8"/>
                </a:solidFill>
                <a:latin typeface="Helvetica Neue"/>
                <a:ea typeface="Helvetica Neue"/>
                <a:cs typeface="Helvetica Neue"/>
              </a:defRPr>
            </a:pPr>
            <a:r>
              <a:rPr sz="1725" b="1">
                <a:solidFill>
                  <a:srgbClr val="2468B8"/>
                </a:solidFill>
                <a:latin typeface="Helvetica Neue"/>
                <a:ea typeface="Helvetica Neue"/>
                <a:cs typeface="Helvetica Neue"/>
              </a:rPr>
              <a:t>À chaque heure, la correction Kalman décale ensemble P10, P50 et P90.</a:t>
            </a:r>
          </a:p>
        </p:txBody>
      </p:sp>
    </p:spTree>
    <p:extLst>
      <p:ext uri="{BB962C8B-B14F-4D97-AF65-F5344CB8AC3E}">
        <p14:creationId xmlns:p14="http://schemas.microsoft.com/office/powerpoint/2010/main" val="21192244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95FB4E6-77B9-44C2-A423-FA6CD477C642}"/>
              </a:ext>
            </a:extLst>
          </p:cNvPr>
          <p:cNvSpPr>
            <a:spLocks xmlns:a="http://schemas.openxmlformats.org/drawingml/2006/main" noGrp="1"/>
          </p:cNvSpPr>
          <p:nvPr/>
        </p:nvSpPr>
        <p:spPr>
          <a:xfrm xmlns:a="http://schemas.openxmlformats.org/drawingml/2006/main">
            <a:off x="390525" y="1057275"/>
            <a:ext cx="11401425" cy="533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545A64"/>
                </a:solidFill>
                <a:latin typeface="Helvetica Neue"/>
                <a:ea typeface="Helvetica Neue"/>
                <a:cs typeface="Helvetica Neue"/>
              </a:defRPr>
            </a:pPr>
            <a:r>
              <a:rPr sz="1500" b="0">
                <a:solidFill>
                  <a:srgbClr val="545A64"/>
                </a:solidFill>
                <a:latin typeface="Helvetica Neue"/>
                <a:ea typeface="Helvetica Neue"/>
                <a:cs typeface="Helvetica Neue"/>
              </a:rPr>
              <a:t>Chronos-2 fournit la base, le correcteur apprend les erreurs récurrentes et Kalman suit les biais récents.</a:t>
            </a:r>
          </a:p>
        </p:txBody>
      </p:sp>
      <p:sp>
        <p:nvSpPr>
          <p:cNvPr id="3" name="chronos-card">
            <a:extLst xmlns:a="http://schemas.openxmlformats.org/drawingml/2006/main">
              <a:ext uri="{FF2B5EF4-FFF2-40B4-BE49-F238E27FC236}">
                <a16:creationId xmlns:a16="http://schemas.microsoft.com/office/drawing/2014/main" id="{771C84A8-3E39-4B61-81B5-E56E9B6623E3}"/>
              </a:ext>
            </a:extLst>
          </p:cNvPr>
          <p:cNvSpPr>
            <a:spLocks xmlns:a="http://schemas.openxmlformats.org/drawingml/2006/main" noGrp="1"/>
          </p:cNvSpPr>
          <p:nvPr/>
        </p:nvSpPr>
        <p:spPr>
          <a:xfrm xmlns:a="http://schemas.openxmlformats.org/drawingml/2006/main">
            <a:off x="390525" y="1724025"/>
            <a:ext cx="3600450" cy="4086225"/>
          </a:xfrm>
          <a:prstGeom xmlns:a="http://schemas.openxmlformats.org/drawingml/2006/main" prst="roundRect">
            <a:avLst>
              <a:gd name="adj" fmla="val 1856"/>
            </a:avLst>
          </a:prstGeom>
          <a:solidFill xmlns:a="http://schemas.openxmlformats.org/drawingml/2006/main">
            <a:srgbClr val="F2F2F2"/>
          </a:solidFill>
          <a:ln xmlns:a="http://schemas.openxmlformats.org/drawingml/2006/main" w="0">
            <a:solidFill>
              <a:srgbClr val="F2F2F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rrector-card">
            <a:extLst xmlns:a="http://schemas.openxmlformats.org/drawingml/2006/main">
              <a:ext uri="{FF2B5EF4-FFF2-40B4-BE49-F238E27FC236}">
                <a16:creationId xmlns:a16="http://schemas.microsoft.com/office/drawing/2014/main" id="{FDAC1C5A-6FE0-4230-9924-6388765D6478}"/>
              </a:ext>
            </a:extLst>
          </p:cNvPr>
          <p:cNvSpPr>
            <a:spLocks xmlns:a="http://schemas.openxmlformats.org/drawingml/2006/main" noGrp="1"/>
          </p:cNvSpPr>
          <p:nvPr/>
        </p:nvSpPr>
        <p:spPr>
          <a:xfrm xmlns:a="http://schemas.openxmlformats.org/drawingml/2006/main">
            <a:off x="4286250" y="1724025"/>
            <a:ext cx="3600450" cy="4086225"/>
          </a:xfrm>
          <a:prstGeom xmlns:a="http://schemas.openxmlformats.org/drawingml/2006/main" prst="roundRect">
            <a:avLst>
              <a:gd name="adj" fmla="val 1856"/>
            </a:avLst>
          </a:prstGeom>
          <a:solidFill xmlns:a="http://schemas.openxmlformats.org/drawingml/2006/main">
            <a:srgbClr val="F2F2F2"/>
          </a:solidFill>
          <a:ln xmlns:a="http://schemas.openxmlformats.org/drawingml/2006/main" w="0">
            <a:solidFill>
              <a:srgbClr val="F2F2F2"/>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tage-one">
            <a:extLst xmlns:a="http://schemas.openxmlformats.org/drawingml/2006/main">
              <a:ext uri="{FF2B5EF4-FFF2-40B4-BE49-F238E27FC236}">
                <a16:creationId xmlns:a16="http://schemas.microsoft.com/office/drawing/2014/main" id="{1AC672EE-A12B-4DEC-9EE3-A3F668C53005}"/>
              </a:ext>
            </a:extLst>
          </p:cNvPr>
          <p:cNvSpPr>
            <a:spLocks xmlns:a="http://schemas.openxmlformats.org/drawingml/2006/main" noGrp="1"/>
          </p:cNvSpPr>
          <p:nvPr/>
        </p:nvSpPr>
        <p:spPr>
          <a:xfrm xmlns:a="http://schemas.openxmlformats.org/drawingml/2006/main">
            <a:off x="609600" y="2000250"/>
            <a:ext cx="304800" cy="3048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3143A6EC-D5F1-4805-B716-C9A71CEBBEEF}"/>
              </a:ext>
            </a:extLst>
          </p:cNvPr>
          <p:cNvSpPr>
            <a:spLocks xmlns:a="http://schemas.openxmlformats.org/drawingml/2006/main" noGrp="1"/>
          </p:cNvSpPr>
          <p:nvPr/>
        </p:nvSpPr>
        <p:spPr>
          <a:xfrm xmlns:a="http://schemas.openxmlformats.org/drawingml/2006/main">
            <a:off x="714375" y="2057400"/>
            <a:ext cx="142875"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7" name="Rectangle 6">
            <a:extLst xmlns:a="http://schemas.openxmlformats.org/drawingml/2006/main">
              <a:ext uri="{FF2B5EF4-FFF2-40B4-BE49-F238E27FC236}">
                <a16:creationId xmlns:a16="http://schemas.microsoft.com/office/drawing/2014/main" id="{30A83A88-CCE1-46AF-8AFB-7468C3D91FB1}"/>
              </a:ext>
            </a:extLst>
          </p:cNvPr>
          <p:cNvSpPr>
            <a:spLocks xmlns:a="http://schemas.openxmlformats.org/drawingml/2006/main" noGrp="1"/>
          </p:cNvSpPr>
          <p:nvPr/>
        </p:nvSpPr>
        <p:spPr>
          <a:xfrm xmlns:a="http://schemas.openxmlformats.org/drawingml/2006/main">
            <a:off x="1047750" y="1962150"/>
            <a:ext cx="272415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Chronos-2</a:t>
            </a:r>
          </a:p>
        </p:txBody>
      </p:sp>
      <p:sp>
        <p:nvSpPr>
          <p:cNvPr id="8" name="Rectangle 7">
            <a:extLst xmlns:a="http://schemas.openxmlformats.org/drawingml/2006/main">
              <a:ext uri="{FF2B5EF4-FFF2-40B4-BE49-F238E27FC236}">
                <a16:creationId xmlns:a16="http://schemas.microsoft.com/office/drawing/2014/main" id="{8278DF05-50E5-43D6-BAED-56BA531FB5F8}"/>
              </a:ext>
            </a:extLst>
          </p:cNvPr>
          <p:cNvSpPr>
            <a:spLocks xmlns:a="http://schemas.openxmlformats.org/drawingml/2006/main" noGrp="1"/>
          </p:cNvSpPr>
          <p:nvPr/>
        </p:nvSpPr>
        <p:spPr>
          <a:xfrm xmlns:a="http://schemas.openxmlformats.org/drawingml/2006/main">
            <a:off x="609600" y="2600325"/>
            <a:ext cx="3143250" cy="523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Prévision de base</a:t>
            </a:r>
          </a:p>
        </p:txBody>
      </p:sp>
      <p:sp>
        <p:nvSpPr>
          <p:cNvPr id="9" name="Rectangle 8">
            <a:extLst xmlns:a="http://schemas.openxmlformats.org/drawingml/2006/main">
              <a:ext uri="{FF2B5EF4-FFF2-40B4-BE49-F238E27FC236}">
                <a16:creationId xmlns:a16="http://schemas.microsoft.com/office/drawing/2014/main" id="{7C1B3045-75AE-41A3-91B3-BC4894148697}"/>
              </a:ext>
            </a:extLst>
          </p:cNvPr>
          <p:cNvSpPr>
            <a:spLocks xmlns:a="http://schemas.openxmlformats.org/drawingml/2006/main" noGrp="1"/>
          </p:cNvSpPr>
          <p:nvPr/>
        </p:nvSpPr>
        <p:spPr>
          <a:xfrm xmlns:a="http://schemas.openxmlformats.org/drawingml/2006/main">
            <a:off x="609600" y="3209925"/>
            <a:ext cx="3143250" cy="14001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Jusqu’à 2 048 h de prix passés.</a:t>
            </a:r>
          </a:p>
          <a:p xmlns:a="http://schemas.openxmlformats.org/drawingml/2006/main">
            <a:pPr>
              <a:buNone/>
              <a:defRPr sz="1425" b="0">
                <a:solidFill>
                  <a:srgbClr val="000000"/>
                </a:solidFill>
                <a:latin typeface="Helvetica Neue"/>
                <a:ea typeface="Helvetica Neue"/>
                <a:cs typeface="Helvetica Neue"/>
              </a:defRPr>
            </a:pPr>
            <a:r>
              <a:t/>
            </a: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Calendrier et charges résiduelles</a:t>
            </a: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des cinq pays, connus à D−1.</a:t>
            </a:r>
          </a:p>
          <a:p xmlns:a="http://schemas.openxmlformats.org/drawingml/2006/main">
            <a:pPr algn="l">
              <a:buNone/>
              <a:defRPr sz="1425" b="0">
                <a:solidFill>
                  <a:srgbClr val="000000"/>
                </a:solidFill>
                <a:latin typeface="Helvetica Neue"/>
                <a:ea typeface="Helvetica Neue"/>
                <a:cs typeface="Helvetica Neue"/>
              </a:defRPr>
            </a:pPr>
            <a:r>
              <a:t/>
            </a: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Produit une distribution de prix.</a:t>
            </a:r>
          </a:p>
        </p:txBody>
      </p:sp>
      <p:cxnSp>
        <p:nvCxnSpPr>
          <p:cNvPr id="63" name="quantile-rule"/>
          <p:cNvCxnSpPr/>
          <p:nvPr/>
        </p:nvCxnSpPr>
        <p:spPr>
          <a:xfrm xmlns:a="http://schemas.openxmlformats.org/drawingml/2006/main">
            <a:off x="609600" y="4838700"/>
            <a:ext cx="3143250" cy="286"/>
          </a:xfrm>
          <a:prstGeom xmlns:a="http://schemas.openxmlformats.org/drawingml/2006/main" prst="straightConnector1">
            <a:avLst/>
          </a:prstGeom>
          <a:ln xmlns:a="http://schemas.openxmlformats.org/drawingml/2006/main" w="9525">
            <a:solidFill>
              <a:srgbClr val="B8BCC4"/>
            </a:solidFill>
            <a:prstDash val="solid"/>
          </a:ln>
        </p:spPr>
      </p:cxnSp>
      <p:sp>
        <p:nvSpPr>
          <p:cNvPr id="11" name="Rectangle 10">
            <a:extLst xmlns:a="http://schemas.openxmlformats.org/drawingml/2006/main">
              <a:ext uri="{FF2B5EF4-FFF2-40B4-BE49-F238E27FC236}">
                <a16:creationId xmlns:a16="http://schemas.microsoft.com/office/drawing/2014/main" id="{71372222-2CE9-4EA9-B32C-1E5CEB651B43}"/>
              </a:ext>
            </a:extLst>
          </p:cNvPr>
          <p:cNvSpPr>
            <a:spLocks xmlns:a="http://schemas.openxmlformats.org/drawingml/2006/main" noGrp="1"/>
          </p:cNvSpPr>
          <p:nvPr/>
        </p:nvSpPr>
        <p:spPr>
          <a:xfrm xmlns:a="http://schemas.openxmlformats.org/drawingml/2006/main">
            <a:off x="666750" y="5095875"/>
            <a:ext cx="8382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a:solidFill>
                  <a:srgbClr val="3F9FC9"/>
                </a:solidFill>
                <a:latin typeface="Helvetica Neue"/>
                <a:ea typeface="Helvetica Neue"/>
                <a:cs typeface="Helvetica Neue"/>
              </a:defRPr>
            </a:pPr>
            <a:r>
              <a:rPr sz="1425" b="1">
                <a:solidFill>
                  <a:srgbClr val="3F9FC9"/>
                </a:solidFill>
                <a:latin typeface="Helvetica Neue"/>
                <a:ea typeface="Helvetica Neue"/>
                <a:cs typeface="Helvetica Neue"/>
              </a:rPr>
              <a:t>P10</a:t>
            </a:r>
          </a:p>
        </p:txBody>
      </p:sp>
      <p:sp>
        <p:nvSpPr>
          <p:cNvPr id="12" name="Rectangle 11">
            <a:extLst xmlns:a="http://schemas.openxmlformats.org/drawingml/2006/main">
              <a:ext uri="{FF2B5EF4-FFF2-40B4-BE49-F238E27FC236}">
                <a16:creationId xmlns:a16="http://schemas.microsoft.com/office/drawing/2014/main" id="{78DA79E1-8A13-49A0-8D0F-423E70350528}"/>
              </a:ext>
            </a:extLst>
          </p:cNvPr>
          <p:cNvSpPr>
            <a:spLocks xmlns:a="http://schemas.openxmlformats.org/drawingml/2006/main" noGrp="1"/>
          </p:cNvSpPr>
          <p:nvPr/>
        </p:nvSpPr>
        <p:spPr>
          <a:xfrm xmlns:a="http://schemas.openxmlformats.org/drawingml/2006/main">
            <a:off x="1724025" y="5095875"/>
            <a:ext cx="8382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P50</a:t>
            </a:r>
          </a:p>
        </p:txBody>
      </p:sp>
      <p:sp>
        <p:nvSpPr>
          <p:cNvPr id="13" name="Rectangle 12">
            <a:extLst xmlns:a="http://schemas.openxmlformats.org/drawingml/2006/main">
              <a:ext uri="{FF2B5EF4-FFF2-40B4-BE49-F238E27FC236}">
                <a16:creationId xmlns:a16="http://schemas.microsoft.com/office/drawing/2014/main" id="{A8B8D01C-C14C-4C35-9CD1-AC1E9478E2AD}"/>
              </a:ext>
            </a:extLst>
          </p:cNvPr>
          <p:cNvSpPr>
            <a:spLocks xmlns:a="http://schemas.openxmlformats.org/drawingml/2006/main" noGrp="1"/>
          </p:cNvSpPr>
          <p:nvPr/>
        </p:nvSpPr>
        <p:spPr>
          <a:xfrm xmlns:a="http://schemas.openxmlformats.org/drawingml/2006/main">
            <a:off x="2781300" y="5095875"/>
            <a:ext cx="8382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a:solidFill>
                  <a:srgbClr val="3F9FC9"/>
                </a:solidFill>
                <a:latin typeface="Helvetica Neue"/>
                <a:ea typeface="Helvetica Neue"/>
                <a:cs typeface="Helvetica Neue"/>
              </a:defRPr>
            </a:pPr>
            <a:r>
              <a:rPr sz="1425" b="1">
                <a:solidFill>
                  <a:srgbClr val="3F9FC9"/>
                </a:solidFill>
                <a:latin typeface="Helvetica Neue"/>
                <a:ea typeface="Helvetica Neue"/>
                <a:cs typeface="Helvetica Neue"/>
              </a:rPr>
              <a:t>P90</a:t>
            </a:r>
          </a:p>
        </p:txBody>
      </p:sp>
      <p:sp>
        <p:nvSpPr>
          <p:cNvPr id="14" name="Rectangle 13">
            <a:extLst xmlns:a="http://schemas.openxmlformats.org/drawingml/2006/main">
              <a:ext uri="{FF2B5EF4-FFF2-40B4-BE49-F238E27FC236}">
                <a16:creationId xmlns:a16="http://schemas.microsoft.com/office/drawing/2014/main" id="{46DD204E-DCC7-4BC6-B289-01C0467ED531}"/>
              </a:ext>
            </a:extLst>
          </p:cNvPr>
          <p:cNvSpPr>
            <a:spLocks xmlns:a="http://schemas.openxmlformats.org/drawingml/2006/main" noGrp="1"/>
          </p:cNvSpPr>
          <p:nvPr/>
        </p:nvSpPr>
        <p:spPr>
          <a:xfrm xmlns:a="http://schemas.openxmlformats.org/drawingml/2006/main">
            <a:off x="666750" y="5457825"/>
            <a:ext cx="952500" cy="2381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545A64"/>
                </a:solidFill>
                <a:latin typeface="Helvetica Neue"/>
                <a:ea typeface="Helvetica Neue"/>
                <a:cs typeface="Helvetica Neue"/>
              </a:defRPr>
            </a:pPr>
            <a:r>
              <a:rPr sz="1125" b="0">
                <a:solidFill>
                  <a:srgbClr val="545A64"/>
                </a:solidFill>
                <a:latin typeface="Helvetica Neue"/>
                <a:ea typeface="Helvetica Neue"/>
                <a:cs typeface="Helvetica Neue"/>
              </a:rPr>
              <a:t>bas</a:t>
            </a:r>
          </a:p>
        </p:txBody>
      </p:sp>
      <p:sp>
        <p:nvSpPr>
          <p:cNvPr id="15" name="Rectangle 14">
            <a:extLst xmlns:a="http://schemas.openxmlformats.org/drawingml/2006/main">
              <a:ext uri="{FF2B5EF4-FFF2-40B4-BE49-F238E27FC236}">
                <a16:creationId xmlns:a16="http://schemas.microsoft.com/office/drawing/2014/main" id="{A7E7DF7A-EBC5-4FC1-B583-A955EB9F585A}"/>
              </a:ext>
            </a:extLst>
          </p:cNvPr>
          <p:cNvSpPr>
            <a:spLocks xmlns:a="http://schemas.openxmlformats.org/drawingml/2006/main" noGrp="1"/>
          </p:cNvSpPr>
          <p:nvPr/>
        </p:nvSpPr>
        <p:spPr>
          <a:xfrm xmlns:a="http://schemas.openxmlformats.org/drawingml/2006/main">
            <a:off x="1724025" y="5457825"/>
            <a:ext cx="952500" cy="2381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545A64"/>
                </a:solidFill>
                <a:latin typeface="Helvetica Neue"/>
                <a:ea typeface="Helvetica Neue"/>
                <a:cs typeface="Helvetica Neue"/>
              </a:defRPr>
            </a:pPr>
            <a:r>
              <a:rPr sz="1125" b="0">
                <a:solidFill>
                  <a:srgbClr val="545A64"/>
                </a:solidFill>
                <a:latin typeface="Helvetica Neue"/>
                <a:ea typeface="Helvetica Neue"/>
                <a:cs typeface="Helvetica Neue"/>
              </a:rPr>
              <a:t>central</a:t>
            </a:r>
          </a:p>
        </p:txBody>
      </p:sp>
      <p:sp>
        <p:nvSpPr>
          <p:cNvPr id="16" name="Rectangle 15">
            <a:extLst xmlns:a="http://schemas.openxmlformats.org/drawingml/2006/main">
              <a:ext uri="{FF2B5EF4-FFF2-40B4-BE49-F238E27FC236}">
                <a16:creationId xmlns:a16="http://schemas.microsoft.com/office/drawing/2014/main" id="{54AB16CA-53CB-42B4-B41A-E607FEFC2FB0}"/>
              </a:ext>
            </a:extLst>
          </p:cNvPr>
          <p:cNvSpPr>
            <a:spLocks xmlns:a="http://schemas.openxmlformats.org/drawingml/2006/main" noGrp="1"/>
          </p:cNvSpPr>
          <p:nvPr/>
        </p:nvSpPr>
        <p:spPr>
          <a:xfrm xmlns:a="http://schemas.openxmlformats.org/drawingml/2006/main">
            <a:off x="2781300" y="5457825"/>
            <a:ext cx="952500" cy="2381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545A64"/>
                </a:solidFill>
                <a:latin typeface="Helvetica Neue"/>
                <a:ea typeface="Helvetica Neue"/>
                <a:cs typeface="Helvetica Neue"/>
              </a:defRPr>
            </a:pPr>
            <a:r>
              <a:rPr sz="1125" b="0">
                <a:solidFill>
                  <a:srgbClr val="545A64"/>
                </a:solidFill>
                <a:latin typeface="Helvetica Neue"/>
                <a:ea typeface="Helvetica Neue"/>
                <a:cs typeface="Helvetica Neue"/>
              </a:rPr>
              <a:t>haut</a:t>
            </a:r>
          </a:p>
        </p:txBody>
      </p:sp>
      <p:sp>
        <p:nvSpPr>
          <p:cNvPr id="17" name="stage-two">
            <a:extLst xmlns:a="http://schemas.openxmlformats.org/drawingml/2006/main">
              <a:ext uri="{FF2B5EF4-FFF2-40B4-BE49-F238E27FC236}">
                <a16:creationId xmlns:a16="http://schemas.microsoft.com/office/drawing/2014/main" id="{51F65ACF-45F4-415D-8801-CCA738B9BAA5}"/>
              </a:ext>
            </a:extLst>
          </p:cNvPr>
          <p:cNvSpPr>
            <a:spLocks xmlns:a="http://schemas.openxmlformats.org/drawingml/2006/main" noGrp="1"/>
          </p:cNvSpPr>
          <p:nvPr/>
        </p:nvSpPr>
        <p:spPr>
          <a:xfrm xmlns:a="http://schemas.openxmlformats.org/drawingml/2006/main">
            <a:off x="4505325" y="2000250"/>
            <a:ext cx="304800" cy="304800"/>
          </a:xfrm>
          <a:prstGeom xmlns:a="http://schemas.openxmlformats.org/drawingml/2006/main" prst="ellipse">
            <a:avLst/>
          </a:prstGeom>
          <a:solidFill xmlns:a="http://schemas.openxmlformats.org/drawingml/2006/main">
            <a:srgbClr val="6DCBF4"/>
          </a:solidFill>
          <a:ln xmlns:a="http://schemas.openxmlformats.org/drawingml/2006/main" w="0">
            <a:solidFill>
              <a:srgbClr val="6DCBF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C8C42936-13D6-4489-9F21-2D6BC06FCC09}"/>
              </a:ext>
            </a:extLst>
          </p:cNvPr>
          <p:cNvSpPr>
            <a:spLocks xmlns:a="http://schemas.openxmlformats.org/drawingml/2006/main" noGrp="1"/>
          </p:cNvSpPr>
          <p:nvPr/>
        </p:nvSpPr>
        <p:spPr>
          <a:xfrm xmlns:a="http://schemas.openxmlformats.org/drawingml/2006/main">
            <a:off x="4610100" y="2057400"/>
            <a:ext cx="142875"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000000"/>
                </a:solidFill>
                <a:latin typeface="Helvetica Neue"/>
                <a:ea typeface="Helvetica Neue"/>
                <a:cs typeface="Helvetica Neue"/>
              </a:defRPr>
            </a:pPr>
            <a:r>
              <a:rPr sz="1200" b="1">
                <a:solidFill>
                  <a:srgbClr val="000000"/>
                </a:solidFill>
                <a:latin typeface="Helvetica Neue"/>
                <a:ea typeface="Helvetica Neue"/>
                <a:cs typeface="Helvetica Neue"/>
              </a:rPr>
              <a:t>2</a:t>
            </a:r>
          </a:p>
        </p:txBody>
      </p:sp>
      <p:sp>
        <p:nvSpPr>
          <p:cNvPr id="19" name="Rectangle 18">
            <a:extLst xmlns:a="http://schemas.openxmlformats.org/drawingml/2006/main">
              <a:ext uri="{FF2B5EF4-FFF2-40B4-BE49-F238E27FC236}">
                <a16:creationId xmlns:a16="http://schemas.microsoft.com/office/drawing/2014/main" id="{8CA35411-3F66-4C6B-B6FD-55C7AF430DC5}"/>
              </a:ext>
            </a:extLst>
          </p:cNvPr>
          <p:cNvSpPr>
            <a:spLocks xmlns:a="http://schemas.openxmlformats.org/drawingml/2006/main" noGrp="1"/>
          </p:cNvSpPr>
          <p:nvPr/>
        </p:nvSpPr>
        <p:spPr>
          <a:xfrm xmlns:a="http://schemas.openxmlformats.org/drawingml/2006/main">
            <a:off x="4943475" y="1962150"/>
            <a:ext cx="272415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Correcteur résiduel</a:t>
            </a:r>
          </a:p>
        </p:txBody>
      </p:sp>
      <p:sp>
        <p:nvSpPr>
          <p:cNvPr id="20" name="Rectangle 19">
            <a:extLst xmlns:a="http://schemas.openxmlformats.org/drawingml/2006/main">
              <a:ext uri="{FF2B5EF4-FFF2-40B4-BE49-F238E27FC236}">
                <a16:creationId xmlns:a16="http://schemas.microsoft.com/office/drawing/2014/main" id="{6F0985D4-24B3-4B63-B434-730073134A8A}"/>
              </a:ext>
            </a:extLst>
          </p:cNvPr>
          <p:cNvSpPr>
            <a:spLocks xmlns:a="http://schemas.openxmlformats.org/drawingml/2006/main" noGrp="1"/>
          </p:cNvSpPr>
          <p:nvPr/>
        </p:nvSpPr>
        <p:spPr>
          <a:xfrm xmlns:a="http://schemas.openxmlformats.org/drawingml/2006/main">
            <a:off x="4505325" y="2600325"/>
            <a:ext cx="3143250" cy="523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Apprentissage des erreurs</a:t>
            </a:r>
          </a:p>
        </p:txBody>
      </p:sp>
      <p:sp>
        <p:nvSpPr>
          <p:cNvPr id="21" name="Rectangle 20">
            <a:extLst xmlns:a="http://schemas.openxmlformats.org/drawingml/2006/main">
              <a:ext uri="{FF2B5EF4-FFF2-40B4-BE49-F238E27FC236}">
                <a16:creationId xmlns:a16="http://schemas.microsoft.com/office/drawing/2014/main" id="{5FD6D32F-D8B1-403D-8C5C-0A064D7F99DD}"/>
              </a:ext>
            </a:extLst>
          </p:cNvPr>
          <p:cNvSpPr>
            <a:spLocks xmlns:a="http://schemas.openxmlformats.org/drawingml/2006/main" noGrp="1"/>
          </p:cNvSpPr>
          <p:nvPr/>
        </p:nvSpPr>
        <p:spPr>
          <a:xfrm xmlns:a="http://schemas.openxmlformats.org/drawingml/2006/main">
            <a:off x="4505325" y="3209925"/>
            <a:ext cx="3143250" cy="1571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Cible : prix réel − P50 Chronos-2</a:t>
            </a:r>
          </a:p>
          <a:p xmlns:a="http://schemas.openxmlformats.org/drawingml/2006/main">
            <a:pPr algn="l">
              <a:buNone/>
              <a:defRPr sz="1425" b="0">
                <a:solidFill>
                  <a:srgbClr val="000000"/>
                </a:solidFill>
                <a:latin typeface="Helvetica Neue"/>
                <a:ea typeface="Helvetica Neue"/>
                <a:cs typeface="Helvetica Neue"/>
              </a:defRPr>
            </a:pPr>
            <a:r>
              <a:t/>
            </a: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CatBoost et HistGradientBoosting</a:t>
            </a: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ajoutent des arbres successifs</a:t>
            </a:r>
          </a:p>
          <a:p xmlns:a="http://schemas.openxmlformats.org/drawingml/2006/main">
            <a:pPr algn="l">
              <a:buNone/>
              <a:defRPr sz="1350" b="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pour réduire les erreurs.</a:t>
            </a:r>
          </a:p>
        </p:txBody>
      </p:sp>
      <p:sp>
        <p:nvSpPr>
          <p:cNvPr id="22" name="blend">
            <a:extLst xmlns:a="http://schemas.openxmlformats.org/drawingml/2006/main">
              <a:ext uri="{FF2B5EF4-FFF2-40B4-BE49-F238E27FC236}">
                <a16:creationId xmlns:a16="http://schemas.microsoft.com/office/drawing/2014/main" id="{85CD00FF-1A4F-4B14-859D-2F357EC310D8}"/>
              </a:ext>
            </a:extLst>
          </p:cNvPr>
          <p:cNvSpPr>
            <a:spLocks xmlns:a="http://schemas.openxmlformats.org/drawingml/2006/main" noGrp="1"/>
          </p:cNvSpPr>
          <p:nvPr/>
        </p:nvSpPr>
        <p:spPr>
          <a:xfrm xmlns:a="http://schemas.openxmlformats.org/drawingml/2006/main">
            <a:off x="4505325" y="4933950"/>
            <a:ext cx="3143250" cy="72390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7AE13508-A8E7-438E-B246-517CBBFD2115}"/>
              </a:ext>
            </a:extLst>
          </p:cNvPr>
          <p:cNvSpPr>
            <a:spLocks xmlns:a="http://schemas.openxmlformats.org/drawingml/2006/main" noGrp="1"/>
          </p:cNvSpPr>
          <p:nvPr/>
        </p:nvSpPr>
        <p:spPr>
          <a:xfrm xmlns:a="http://schemas.openxmlformats.org/drawingml/2006/main">
            <a:off x="4610100" y="5095875"/>
            <a:ext cx="2933700" cy="523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CatBoost 50 %</a:t>
            </a:r>
          </a:p>
          <a:p xmlns:a="http://schemas.openxmlformats.org/drawingml/2006/main">
            <a:pPr algn="ctr">
              <a:buNone/>
              <a:defRPr sz="1350" b="1">
                <a:solidFill>
                  <a:srgbClr val="000000"/>
                </a:solidFill>
                <a:latin typeface="Helvetica Neue"/>
                <a:ea typeface="Helvetica Neue"/>
                <a:cs typeface="Helvetica Neue"/>
              </a:defRPr>
            </a:pPr>
            <a:r>
              <a:rPr sz="1350" b="1">
                <a:solidFill>
                  <a:srgbClr val="000000"/>
                </a:solidFill>
                <a:latin typeface="Helvetica Neue"/>
                <a:ea typeface="Helvetica Neue"/>
                <a:cs typeface="Helvetica Neue"/>
              </a:rPr>
              <a:t>HistGradientBoosting 50 %</a:t>
            </a:r>
          </a:p>
        </p:txBody>
      </p:sp>
      <p:sp>
        <p:nvSpPr>
          <p:cNvPr id="46" name="">
            <a:extLst xmlns:a="http://schemas.openxmlformats.org/drawingml/2006/main">
              <a:ext uri="{FF2B5EF4-FFF2-40B4-BE49-F238E27FC236}">
                <a16:creationId xmlns:a16="http://schemas.microsoft.com/office/drawing/2014/main" id="{8CB002C3-178C-4003-813A-1EFB0145E287}"/>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Chronos-2, correcteur résiduel et Kalman</a:t>
            </a:r>
          </a:p>
        </p:txBody>
      </p:sp>
      <p:sp>
        <p:nvSpPr>
          <p:cNvPr id="47" name="kalman-card">
            <a:extLst xmlns:a="http://schemas.openxmlformats.org/drawingml/2006/main">
              <a:ext uri="{FF2B5EF4-FFF2-40B4-BE49-F238E27FC236}">
                <a16:creationId xmlns:a16="http://schemas.microsoft.com/office/drawing/2014/main" id="{BEC8D15B-1C98-4984-BA02-ABDC4C2CD36B}"/>
              </a:ext>
            </a:extLst>
          </p:cNvPr>
          <p:cNvSpPr>
            <a:spLocks xmlns:a="http://schemas.openxmlformats.org/drawingml/2006/main" noGrp="1"/>
          </p:cNvSpPr>
          <p:nvPr/>
        </p:nvSpPr>
        <p:spPr>
          <a:xfrm xmlns:a="http://schemas.openxmlformats.org/drawingml/2006/main">
            <a:off x="8191500" y="1724025"/>
            <a:ext cx="3600450" cy="4086225"/>
          </a:xfrm>
          <a:prstGeom xmlns:a="http://schemas.openxmlformats.org/drawingml/2006/main" prst="roundRect">
            <a:avLst>
              <a:gd name="adj" fmla="val 2116"/>
            </a:avLst>
          </a:prstGeom>
          <a:solidFill xmlns:a="http://schemas.openxmlformats.org/drawingml/2006/main">
            <a:srgbClr val="F2F2F2"/>
          </a:solidFill>
          <a:ln xmlns:a="http://schemas.openxmlformats.org/drawingml/2006/main" w="0">
            <a:solidFill>
              <a:srgbClr val="F2F2F2"/>
            </a:solidFill>
          </a:ln>
        </p:spPr>
      </p:sp>
      <p:sp>
        <p:nvSpPr>
          <p:cNvPr id="48" name="stage-three">
            <a:extLst xmlns:a="http://schemas.openxmlformats.org/drawingml/2006/main">
              <a:ext uri="{FF2B5EF4-FFF2-40B4-BE49-F238E27FC236}">
                <a16:creationId xmlns:a16="http://schemas.microsoft.com/office/drawing/2014/main" id="{C64DBD9F-D276-4F7B-B112-CF0B587A0D6F}"/>
              </a:ext>
            </a:extLst>
          </p:cNvPr>
          <p:cNvSpPr>
            <a:spLocks xmlns:a="http://schemas.openxmlformats.org/drawingml/2006/main" noGrp="1"/>
          </p:cNvSpPr>
          <p:nvPr/>
        </p:nvSpPr>
        <p:spPr>
          <a:xfrm xmlns:a="http://schemas.openxmlformats.org/drawingml/2006/main">
            <a:off x="8410575" y="2000250"/>
            <a:ext cx="304800" cy="304800"/>
          </a:xfrm>
          <a:prstGeom xmlns:a="http://schemas.openxmlformats.org/drawingml/2006/main" prst="ellipse">
            <a:avLst/>
          </a:prstGeom>
          <a:solidFill xmlns:a="http://schemas.openxmlformats.org/drawingml/2006/main">
            <a:srgbClr val="2468B8"/>
          </a:solidFill>
          <a:ln xmlns:a="http://schemas.openxmlformats.org/drawingml/2006/main" w="0">
            <a:solidFill>
              <a:srgbClr val="2468B8"/>
            </a:solidFill>
          </a:ln>
        </p:spPr>
      </p:sp>
      <p:sp>
        <p:nvSpPr>
          <p:cNvPr id="49" name="">
            <a:extLst xmlns:a="http://schemas.openxmlformats.org/drawingml/2006/main">
              <a:ext uri="{FF2B5EF4-FFF2-40B4-BE49-F238E27FC236}">
                <a16:creationId xmlns:a16="http://schemas.microsoft.com/office/drawing/2014/main" id="{FD10E5DB-903F-45E8-8976-6175C6A78320}"/>
              </a:ext>
            </a:extLst>
          </p:cNvPr>
          <p:cNvSpPr>
            <a:spLocks xmlns:a="http://schemas.openxmlformats.org/drawingml/2006/main" noGrp="1"/>
          </p:cNvSpPr>
          <p:nvPr/>
        </p:nvSpPr>
        <p:spPr>
          <a:xfrm xmlns:a="http://schemas.openxmlformats.org/drawingml/2006/main">
            <a:off x="8515350" y="2057400"/>
            <a:ext cx="142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50" name="">
            <a:extLst xmlns:a="http://schemas.openxmlformats.org/drawingml/2006/main">
              <a:ext uri="{FF2B5EF4-FFF2-40B4-BE49-F238E27FC236}">
                <a16:creationId xmlns:a16="http://schemas.microsoft.com/office/drawing/2014/main" id="{C8FC4680-882D-4834-BD97-B1319B5957F1}"/>
              </a:ext>
            </a:extLst>
          </p:cNvPr>
          <p:cNvSpPr>
            <a:spLocks xmlns:a="http://schemas.openxmlformats.org/drawingml/2006/main" noGrp="1"/>
          </p:cNvSpPr>
          <p:nvPr/>
        </p:nvSpPr>
        <p:spPr>
          <a:xfrm xmlns:a="http://schemas.openxmlformats.org/drawingml/2006/main">
            <a:off x="8848725" y="1962150"/>
            <a:ext cx="2724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Filtre de Kalman</a:t>
            </a:r>
          </a:p>
        </p:txBody>
      </p:sp>
      <p:sp>
        <p:nvSpPr>
          <p:cNvPr id="51" name="">
            <a:extLst xmlns:a="http://schemas.openxmlformats.org/drawingml/2006/main">
              <a:ext uri="{FF2B5EF4-FFF2-40B4-BE49-F238E27FC236}">
                <a16:creationId xmlns:a16="http://schemas.microsoft.com/office/drawing/2014/main" id="{0A97143C-F629-49C7-BEA6-3F0DA3C8E5DA}"/>
              </a:ext>
            </a:extLst>
          </p:cNvPr>
          <p:cNvSpPr>
            <a:spLocks xmlns:a="http://schemas.openxmlformats.org/drawingml/2006/main" noGrp="1"/>
          </p:cNvSpPr>
          <p:nvPr/>
        </p:nvSpPr>
        <p:spPr>
          <a:xfrm xmlns:a="http://schemas.openxmlformats.org/drawingml/2006/main">
            <a:off x="8410575" y="26003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2468B8"/>
                </a:solidFill>
                <a:latin typeface="Helvetica Neue"/>
                <a:ea typeface="Helvetica Neue"/>
                <a:cs typeface="Helvetica Neue"/>
              </a:defRPr>
            </a:pPr>
            <a:r>
              <a:rPr sz="1650" b="1">
                <a:solidFill>
                  <a:srgbClr val="2468B8"/>
                </a:solidFill>
                <a:latin typeface="Helvetica Neue"/>
                <a:ea typeface="Helvetica Neue"/>
                <a:cs typeface="Helvetica Neue"/>
              </a:rPr>
              <a:t>Adaptation au biais récent</a:t>
            </a:r>
          </a:p>
        </p:txBody>
      </p:sp>
      <p:sp>
        <p:nvSpPr>
          <p:cNvPr id="52" name="">
            <a:extLst xmlns:a="http://schemas.openxmlformats.org/drawingml/2006/main">
              <a:ext uri="{FF2B5EF4-FFF2-40B4-BE49-F238E27FC236}">
                <a16:creationId xmlns:a16="http://schemas.microsoft.com/office/drawing/2014/main" id="{371D9AE8-A486-4F78-B8A5-71498F74FCE3}"/>
              </a:ext>
            </a:extLst>
          </p:cNvPr>
          <p:cNvSpPr>
            <a:spLocks xmlns:a="http://schemas.openxmlformats.org/drawingml/2006/main" noGrp="1"/>
          </p:cNvSpPr>
          <p:nvPr/>
        </p:nvSpPr>
        <p:spPr>
          <a:xfrm xmlns:a="http://schemas.openxmlformats.org/drawingml/2006/main">
            <a:off x="8410575" y="3209925"/>
            <a:ext cx="314325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Estime le biais à partir des erreurs</a:t>
            </a:r>
          </a:p>
          <a:p xmlns:a="http://schemas.openxmlformats.org/drawingml/2006/main">
            <a:pPr>
              <a:defRPr sz="135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déjà observées.</a:t>
            </a:r>
          </a:p>
          <a:p xmlns:a="http://schemas.openxmlformats.org/drawingml/2006/main">
            <a:r>
              <a:t/>
            </a:r>
          </a:p>
          <a:p xmlns:a="http://schemas.openxmlformats.org/drawingml/2006/main">
            <a:pPr>
              <a:defRPr sz="135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Choisit le filtre et son poids</a:t>
            </a:r>
          </a:p>
          <a:p xmlns:a="http://schemas.openxmlformats.org/drawingml/2006/main">
            <a:pPr>
              <a:defRPr sz="135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sur les 60 derniers jours.</a:t>
            </a:r>
          </a:p>
          <a:p xmlns:a="http://schemas.openxmlformats.org/drawingml/2006/main">
            <a:r>
              <a:t/>
            </a:r>
          </a:p>
          <a:p xmlns:a="http://schemas.openxmlformats.org/drawingml/2006/main">
            <a:pPr>
              <a:defRPr sz="135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Sans gain suffisant, conserve</a:t>
            </a:r>
          </a:p>
          <a:p xmlns:a="http://schemas.openxmlformats.org/drawingml/2006/main">
            <a:pPr>
              <a:defRPr sz="135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la prévision amont.</a:t>
            </a:r>
          </a:p>
        </p:txBody>
      </p:sp>
      <p:sp>
        <p:nvSpPr>
          <p:cNvPr id="53" name="">
            <a:extLst xmlns:a="http://schemas.openxmlformats.org/drawingml/2006/main">
              <a:ext uri="{FF2B5EF4-FFF2-40B4-BE49-F238E27FC236}">
                <a16:creationId xmlns:a16="http://schemas.microsoft.com/office/drawing/2014/main" id="{3EB4CBE0-D470-4A71-9F76-4214D5098887}"/>
              </a:ext>
            </a:extLst>
          </p:cNvPr>
          <p:cNvSpPr>
            <a:spLocks xmlns:a="http://schemas.openxmlformats.org/drawingml/2006/main" noGrp="1"/>
          </p:cNvSpPr>
          <p:nvPr/>
        </p:nvSpPr>
        <p:spPr>
          <a:xfrm xmlns:a="http://schemas.openxmlformats.org/drawingml/2006/main">
            <a:off x="8410575" y="524827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2468B8"/>
                </a:solidFill>
                <a:latin typeface="Helvetica Neue"/>
                <a:ea typeface="Helvetica Neue"/>
                <a:cs typeface="Helvetica Neue"/>
              </a:defRPr>
            </a:pPr>
            <a:r>
              <a:rPr sz="1425" b="1">
                <a:solidFill>
                  <a:srgbClr val="2468B8"/>
                </a:solidFill>
                <a:latin typeface="Helvetica Neue"/>
                <a:ea typeface="Helvetica Neue"/>
                <a:cs typeface="Helvetica Neue"/>
              </a:rPr>
              <a:t>Même décalage sur</a:t>
            </a:r>
          </a:p>
          <a:p xmlns:a="http://schemas.openxmlformats.org/drawingml/2006/main">
            <a:pPr>
              <a:defRPr sz="1425" b="1">
                <a:solidFill>
                  <a:srgbClr val="2468B8"/>
                </a:solidFill>
                <a:latin typeface="Helvetica Neue"/>
                <a:ea typeface="Helvetica Neue"/>
                <a:cs typeface="Helvetica Neue"/>
              </a:defRPr>
            </a:pPr>
            <a:r>
              <a:rPr sz="1425" b="1">
                <a:solidFill>
                  <a:srgbClr val="2468B8"/>
                </a:solidFill>
                <a:latin typeface="Helvetica Neue"/>
                <a:ea typeface="Helvetica Neue"/>
                <a:cs typeface="Helvetica Neue"/>
              </a:rPr>
              <a:t>P10, P50 et P90</a:t>
            </a:r>
          </a:p>
        </p:txBody>
      </p:sp>
      <p:sp>
        <p:nvSpPr>
          <p:cNvPr id="54" name="">
            <a:extLst xmlns:a="http://schemas.openxmlformats.org/drawingml/2006/main">
              <a:ext uri="{FF2B5EF4-FFF2-40B4-BE49-F238E27FC236}">
                <a16:creationId xmlns:a16="http://schemas.microsoft.com/office/drawing/2014/main" id="{2FB802BF-A5A6-4046-A2CC-578F42F06AAA}"/>
              </a:ext>
            </a:extLst>
          </p:cNvPr>
          <p:cNvSpPr>
            <a:spLocks xmlns:a="http://schemas.openxmlformats.org/drawingml/2006/main" noGrp="1"/>
          </p:cNvSpPr>
          <p:nvPr/>
        </p:nvSpPr>
        <p:spPr>
          <a:xfrm xmlns:a="http://schemas.openxmlformats.org/drawingml/2006/main">
            <a:off x="390525" y="6143625"/>
            <a:ext cx="114014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Exemple illustratif : 150 + 8 + 3 = 161 EUR/MWh</a:t>
            </a:r>
          </a:p>
        </p:txBody>
      </p:sp>
    </p:spTree>
    <p:extLst>
      <p:ext uri="{BB962C8B-B14F-4D97-AF65-F5344CB8AC3E}">
        <p14:creationId xmlns:p14="http://schemas.microsoft.com/office/powerpoint/2010/main" val="18146640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ADA08811-0CCF-4DB4-95B5-E1B4717EC723}"/>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t>Histo</a:t>
            </a:r>
            <a:endParaRPr/>
          </a:p>
          <a:p xmlns:a="http://schemas.openxmlformats.org/drawingml/2006/main">
            <a:pPr algn="l">
              <a:buNone/>
              <a:defRPr sz="2925" b="1">
                <a:solidFill>
                  <a:srgbClr val="000000"/>
                </a:solidFill>
                <a:latin typeface="Helvetica Neue"/>
                <a:ea typeface="Helvetica Neue"/>
                <a:cs typeface="Helvetica Neue"/>
              </a:defRPr>
            </a:pPr>
            <a:endParaRPr/>
          </a:p>
        </p:txBody>
      </p:sp>
      <p:sp>
        <p:nvSpPr>
          <p:cNvPr id="3" name="Rectangle 2">
            <a:extLst xmlns:a="http://schemas.openxmlformats.org/drawingml/2006/main">
              <a:ext uri="{FF2B5EF4-FFF2-40B4-BE49-F238E27FC236}">
                <a16:creationId xmlns:a16="http://schemas.microsoft.com/office/drawing/2014/main" id="{15B859A4-4F28-4B85-9E43-FA903256B8C0}"/>
              </a:ext>
            </a:extLst>
          </p:cNvPr>
          <p:cNvSpPr>
            <a:spLocks xmlns:a="http://schemas.openxmlformats.org/drawingml/2006/main" noGrp="1"/>
          </p:cNvSpPr>
          <p:nvPr/>
        </p:nvSpPr>
        <p:spPr>
          <a:xfrm xmlns:a="http://schemas.openxmlformats.org/drawingml/2006/main">
            <a:off x="390525" y="1752600"/>
            <a:ext cx="4762500" cy="29527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MAE </a:t>
            </a:r>
            <a:endParaRPr/>
          </a:p>
        </p:txBody>
      </p:sp>
      <p:sp>
        <p:nvSpPr>
          <p:cNvPr id="4" name="Rectangle 3">
            <a:extLst xmlns:a="http://schemas.openxmlformats.org/drawingml/2006/main">
              <a:ext uri="{FF2B5EF4-FFF2-40B4-BE49-F238E27FC236}">
                <a16:creationId xmlns:a16="http://schemas.microsoft.com/office/drawing/2014/main" id="{6B322D0E-23BD-45CA-8549-642802CE4A82}"/>
              </a:ext>
            </a:extLst>
          </p:cNvPr>
          <p:cNvSpPr>
            <a:spLocks xmlns:a="http://schemas.openxmlformats.org/drawingml/2006/main" noGrp="1"/>
          </p:cNvSpPr>
          <p:nvPr/>
        </p:nvSpPr>
        <p:spPr>
          <a:xfrm xmlns:a="http://schemas.openxmlformats.org/drawingml/2006/main">
            <a:off x="390525" y="2352675"/>
            <a:ext cx="1571625"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Chronos-2</a:t>
            </a:r>
          </a:p>
        </p:txBody>
      </p:sp>
      <p:sp>
        <p:nvSpPr>
          <p:cNvPr id="5" name="bar-chronos">
            <a:extLst xmlns:a="http://schemas.openxmlformats.org/drawingml/2006/main">
              <a:ext uri="{FF2B5EF4-FFF2-40B4-BE49-F238E27FC236}">
                <a16:creationId xmlns:a16="http://schemas.microsoft.com/office/drawing/2014/main" id="{841C0D73-48ED-4652-908F-7A951BA41591}"/>
              </a:ext>
            </a:extLst>
          </p:cNvPr>
          <p:cNvSpPr>
            <a:spLocks xmlns:a="http://schemas.openxmlformats.org/drawingml/2006/main" noGrp="1"/>
          </p:cNvSpPr>
          <p:nvPr/>
        </p:nvSpPr>
        <p:spPr>
          <a:xfrm xmlns:a="http://schemas.openxmlformats.org/drawingml/2006/main">
            <a:off x="2095500" y="2333625"/>
            <a:ext cx="4095750" cy="304800"/>
          </a:xfrm>
          <a:prstGeom xmlns:a="http://schemas.openxmlformats.org/drawingml/2006/main" prst="roundRect">
            <a:avLst>
              <a:gd name="adj" fmla="val 25000"/>
            </a:avLst>
          </a:prstGeom>
          <a:solidFill xmlns:a="http://schemas.openxmlformats.org/drawingml/2006/main">
            <a:srgbClr val="D7D9DE"/>
          </a:solidFill>
          <a:ln xmlns:a="http://schemas.openxmlformats.org/drawingml/2006/main" w="0">
            <a:solidFill>
              <a:srgbClr val="D7D9DE"/>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DE9C04F3-8B6B-4ECA-818B-C938B153C19E}"/>
              </a:ext>
            </a:extLst>
          </p:cNvPr>
          <p:cNvSpPr>
            <a:spLocks xmlns:a="http://schemas.openxmlformats.org/drawingml/2006/main" noGrp="1"/>
          </p:cNvSpPr>
          <p:nvPr/>
        </p:nvSpPr>
        <p:spPr>
          <a:xfrm xmlns:a="http://schemas.openxmlformats.org/drawingml/2006/main">
            <a:off x="6334125" y="2324100"/>
            <a:ext cx="781050" cy="29527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500" b="1">
                <a:solidFill>
                  <a:srgbClr val="000000"/>
                </a:solidFill>
                <a:latin typeface="Helvetica Neue"/>
                <a:ea typeface="Helvetica Neue"/>
                <a:cs typeface="Helvetica Neue"/>
              </a:defRPr>
            </a:pPr>
            <a:r>
              <a:t>13,11</a:t>
            </a:r>
          </a:p>
        </p:txBody>
      </p:sp>
      <p:sp>
        <p:nvSpPr>
          <p:cNvPr id="7" name="Rectangle 6">
            <a:extLst xmlns:a="http://schemas.openxmlformats.org/drawingml/2006/main">
              <a:ext uri="{FF2B5EF4-FFF2-40B4-BE49-F238E27FC236}">
                <a16:creationId xmlns:a16="http://schemas.microsoft.com/office/drawing/2014/main" id="{9D65842B-5841-482A-A1A4-4082AFB43137}"/>
              </a:ext>
            </a:extLst>
          </p:cNvPr>
          <p:cNvSpPr>
            <a:spLocks xmlns:a="http://schemas.openxmlformats.org/drawingml/2006/main" noGrp="1"/>
          </p:cNvSpPr>
          <p:nvPr/>
        </p:nvSpPr>
        <p:spPr>
          <a:xfrm xmlns:a="http://schemas.openxmlformats.org/drawingml/2006/main">
            <a:off x="390525" y="3038475"/>
            <a:ext cx="1571625"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t>Corrigé</a:t>
            </a:r>
          </a:p>
        </p:txBody>
      </p:sp>
      <p:sp>
        <p:nvSpPr>
          <p:cNvPr id="8" name="bar-corrected">
            <a:extLst xmlns:a="http://schemas.openxmlformats.org/drawingml/2006/main">
              <a:ext uri="{FF2B5EF4-FFF2-40B4-BE49-F238E27FC236}">
                <a16:creationId xmlns:a16="http://schemas.microsoft.com/office/drawing/2014/main" id="{F6C80582-5835-48A4-A52D-E131A414DC9D}"/>
              </a:ext>
            </a:extLst>
          </p:cNvPr>
          <p:cNvSpPr>
            <a:spLocks xmlns:a="http://schemas.openxmlformats.org/drawingml/2006/main" noGrp="1"/>
          </p:cNvSpPr>
          <p:nvPr/>
        </p:nvSpPr>
        <p:spPr>
          <a:xfrm xmlns:a="http://schemas.openxmlformats.org/drawingml/2006/main">
            <a:off x="2095500" y="3019425"/>
            <a:ext cx="3886200" cy="304800"/>
          </a:xfrm>
          <a:prstGeom xmlns:a="http://schemas.openxmlformats.org/drawingml/2006/main" prst="roundRect">
            <a:avLst>
              <a:gd name="adj" fmla="val 25000"/>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66A6BAE2-8B05-484D-AA49-220ADEF378C4}"/>
              </a:ext>
            </a:extLst>
          </p:cNvPr>
          <p:cNvSpPr>
            <a:spLocks xmlns:a="http://schemas.openxmlformats.org/drawingml/2006/main" noGrp="1"/>
          </p:cNvSpPr>
          <p:nvPr/>
        </p:nvSpPr>
        <p:spPr>
          <a:xfrm xmlns:a="http://schemas.openxmlformats.org/drawingml/2006/main">
            <a:off x="6334125" y="3009900"/>
            <a:ext cx="781050" cy="29527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500" b="1">
                <a:solidFill>
                  <a:srgbClr val="3D8DFF"/>
                </a:solidFill>
                <a:latin typeface="Helvetica Neue"/>
                <a:ea typeface="Helvetica Neue"/>
                <a:cs typeface="Helvetica Neue"/>
              </a:defRPr>
            </a:pPr>
            <a:r>
              <a:t>12,44</a:t>
            </a:r>
          </a:p>
        </p:txBody>
      </p:sp>
      <p:sp>
        <p:nvSpPr>
          <p:cNvPr id="10" name="Rectangle 9">
            <a:extLst xmlns:a="http://schemas.openxmlformats.org/drawingml/2006/main">
              <a:ext uri="{FF2B5EF4-FFF2-40B4-BE49-F238E27FC236}">
                <a16:creationId xmlns:a16="http://schemas.microsoft.com/office/drawing/2014/main" id="{6224B779-09E1-4F50-83D5-E3BCF3EB9D6C}"/>
              </a:ext>
            </a:extLst>
          </p:cNvPr>
          <p:cNvSpPr>
            <a:spLocks xmlns:a="http://schemas.openxmlformats.org/drawingml/2006/main" noGrp="1"/>
          </p:cNvSpPr>
          <p:nvPr/>
        </p:nvSpPr>
        <p:spPr>
          <a:xfrm xmlns:a="http://schemas.openxmlformats.org/drawingml/2006/main">
            <a:off x="390525" y="3724275"/>
            <a:ext cx="1571625"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Storm</a:t>
            </a:r>
          </a:p>
        </p:txBody>
      </p:sp>
      <p:sp>
        <p:nvSpPr>
          <p:cNvPr id="11" name="bar-storm">
            <a:extLst xmlns:a="http://schemas.openxmlformats.org/drawingml/2006/main">
              <a:ext uri="{FF2B5EF4-FFF2-40B4-BE49-F238E27FC236}">
                <a16:creationId xmlns:a16="http://schemas.microsoft.com/office/drawing/2014/main" id="{BAB337B3-C39E-4A4D-B98E-521CF4DD4A2B}"/>
              </a:ext>
            </a:extLst>
          </p:cNvPr>
          <p:cNvSpPr>
            <a:spLocks xmlns:a="http://schemas.openxmlformats.org/drawingml/2006/main" noGrp="1"/>
          </p:cNvSpPr>
          <p:nvPr/>
        </p:nvSpPr>
        <p:spPr>
          <a:xfrm xmlns:a="http://schemas.openxmlformats.org/drawingml/2006/main">
            <a:off x="2095500" y="3705225"/>
            <a:ext cx="3648075" cy="304800"/>
          </a:xfrm>
          <a:prstGeom xmlns:a="http://schemas.openxmlformats.org/drawingml/2006/main" prst="roundRect">
            <a:avLst>
              <a:gd name="adj" fmla="val 25000"/>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049829AD-F69D-48D7-AB21-14A46D932FCB}"/>
              </a:ext>
            </a:extLst>
          </p:cNvPr>
          <p:cNvSpPr>
            <a:spLocks xmlns:a="http://schemas.openxmlformats.org/drawingml/2006/main" noGrp="1"/>
          </p:cNvSpPr>
          <p:nvPr/>
        </p:nvSpPr>
        <p:spPr>
          <a:xfrm xmlns:a="http://schemas.openxmlformats.org/drawingml/2006/main">
            <a:off x="6334125" y="3695700"/>
            <a:ext cx="781050" cy="295275"/>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500" b="1">
                <a:solidFill>
                  <a:srgbClr val="000000"/>
                </a:solidFill>
                <a:latin typeface="Helvetica Neue"/>
                <a:ea typeface="Helvetica Neue"/>
                <a:cs typeface="Helvetica Neue"/>
              </a:defRPr>
            </a:pPr>
            <a:r>
              <a:t>11,67</a:t>
            </a:r>
          </a:p>
        </p:txBody>
      </p:sp>
      <p:cxnSp>
        <p:nvCxnSpPr>
          <p:cNvPr id="59" name="evidence-separator"/>
          <p:cNvCxnSpPr/>
          <p:nvPr/>
        </p:nvCxnSpPr>
        <p:spPr>
          <a:xfrm xmlns:a="http://schemas.openxmlformats.org/drawingml/2006/main">
            <a:off x="7524750" y="1752600"/>
            <a:ext cx="286" cy="3057525"/>
          </a:xfrm>
          <a:prstGeom xmlns:a="http://schemas.openxmlformats.org/drawingml/2006/main" prst="straightConnector1">
            <a:avLst/>
          </a:prstGeom>
          <a:ln xmlns:a="http://schemas.openxmlformats.org/drawingml/2006/main" w="9525">
            <a:solidFill>
              <a:srgbClr val="B8BCC4"/>
            </a:solidFill>
            <a:prstDash val="solid"/>
          </a:ln>
        </p:spPr>
      </p:cxnSp>
      <p:sp>
        <p:nvSpPr>
          <p:cNvPr id="14" name="Rectangle 13">
            <a:extLst xmlns:a="http://schemas.openxmlformats.org/drawingml/2006/main">
              <a:ext uri="{FF2B5EF4-FFF2-40B4-BE49-F238E27FC236}">
                <a16:creationId xmlns:a16="http://schemas.microsoft.com/office/drawing/2014/main" id="{7171AF29-7ACF-40D2-A0DE-ABCF1B8F1DAB}"/>
              </a:ext>
            </a:extLst>
          </p:cNvPr>
          <p:cNvSpPr>
            <a:spLocks xmlns:a="http://schemas.openxmlformats.org/drawingml/2006/main" noGrp="1"/>
          </p:cNvSpPr>
          <p:nvPr/>
        </p:nvSpPr>
        <p:spPr>
          <a:xfrm xmlns:a="http://schemas.openxmlformats.org/drawingml/2006/main">
            <a:off x="8010525" y="2000250"/>
            <a:ext cx="3381375" cy="781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4350" b="1">
                <a:solidFill>
                  <a:srgbClr val="3D8DFF"/>
                </a:solidFill>
                <a:latin typeface="Helvetica Neue"/>
                <a:ea typeface="Helvetica Neue"/>
                <a:cs typeface="Helvetica Neue"/>
              </a:defRPr>
            </a:pPr>
            <a:r>
              <a:t>−5,1 %</a:t>
            </a:r>
          </a:p>
        </p:txBody>
      </p:sp>
      <p:sp>
        <p:nvSpPr>
          <p:cNvPr id="15" name="Rectangle 14">
            <a:extLst xmlns:a="http://schemas.openxmlformats.org/drawingml/2006/main">
              <a:ext uri="{FF2B5EF4-FFF2-40B4-BE49-F238E27FC236}">
                <a16:creationId xmlns:a16="http://schemas.microsoft.com/office/drawing/2014/main" id="{0928D047-8028-4AFA-90C1-10C20AF2B043}"/>
              </a:ext>
            </a:extLst>
          </p:cNvPr>
          <p:cNvSpPr>
            <a:spLocks xmlns:a="http://schemas.openxmlformats.org/drawingml/2006/main" noGrp="1"/>
          </p:cNvSpPr>
          <p:nvPr/>
        </p:nvSpPr>
        <p:spPr>
          <a:xfrm xmlns:a="http://schemas.openxmlformats.org/drawingml/2006/main">
            <a:off x="8010525" y="2847975"/>
            <a:ext cx="3381375" cy="5334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de MAE par rapport à Chronos-2 brut</a:t>
            </a:r>
          </a:p>
        </p:txBody>
      </p:sp>
      <p:sp>
        <p:nvSpPr>
          <p:cNvPr id="16" name="Rectangle 15">
            <a:extLst xmlns:a="http://schemas.openxmlformats.org/drawingml/2006/main">
              <a:ext uri="{FF2B5EF4-FFF2-40B4-BE49-F238E27FC236}">
                <a16:creationId xmlns:a16="http://schemas.microsoft.com/office/drawing/2014/main" id="{E631A244-DA59-4353-82B8-11450876F023}"/>
              </a:ext>
            </a:extLst>
          </p:cNvPr>
          <p:cNvSpPr>
            <a:spLocks xmlns:a="http://schemas.openxmlformats.org/drawingml/2006/main" noGrp="1"/>
          </p:cNvSpPr>
          <p:nvPr/>
        </p:nvSpPr>
        <p:spPr>
          <a:xfrm xmlns:a="http://schemas.openxmlformats.org/drawingml/2006/main">
            <a:off x="8010525" y="3638550"/>
            <a:ext cx="3381375"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t>Corrélation : 0,93</a:t>
            </a:r>
          </a:p>
        </p:txBody>
      </p:sp>
    </p:spTree>
    <p:extLst>
      <p:ext uri="{BB962C8B-B14F-4D97-AF65-F5344CB8AC3E}">
        <p14:creationId xmlns:p14="http://schemas.microsoft.com/office/powerpoint/2010/main" val="19196696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ADA08811-0CCF-4DB4-95B5-E1B4717EC723}"/>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Prix moyens et comparaison à l’observé</a:t>
            </a:r>
            <a:endParaRPr/>
          </a:p>
        </p:txBody>
      </p:sp>
      <p:sp>
        <p:nvSpPr>
          <p:cNvPr id="24" name="">
            <a:extLst xmlns:a="http://schemas.openxmlformats.org/drawingml/2006/main">
              <a:ext uri="{FF2B5EF4-FFF2-40B4-BE49-F238E27FC236}">
                <a16:creationId xmlns:a16="http://schemas.microsoft.com/office/drawing/2014/main" id="{404F01F4-704A-4D0D-835D-BC42C9A43817}"/>
              </a:ext>
            </a:extLst>
          </p:cNvPr>
          <p:cNvSpPr>
            <a:spLocks xmlns:a="http://schemas.openxmlformats.org/drawingml/2006/main" noGrp="1"/>
          </p:cNvSpPr>
          <p:nvPr/>
        </p:nvSpPr>
        <p:spPr>
          <a:xfrm xmlns:a="http://schemas.openxmlformats.org/drawingml/2006/main">
            <a:off x="390525" y="1057275"/>
            <a:ext cx="11401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a:solidFill>
                  <a:srgbClr val="545A64"/>
                </a:solidFill>
                <a:latin typeface="Helvetica Neue"/>
                <a:ea typeface="Helvetica Neue"/>
                <a:cs typeface="Helvetica Neue"/>
              </a:defRPr>
            </a:pPr>
            <a:r>
              <a:rPr sz="1500">
                <a:solidFill>
                  <a:srgbClr val="545A64"/>
                </a:solidFill>
                <a:latin typeface="Helvetica Neue"/>
                <a:ea typeface="Helvetica Neue"/>
                <a:cs typeface="Helvetica Neue"/>
              </a:rPr>
              <a:t>Exemple du 9 septembre 2026 avec Chronos-2 + nucléaire + correcteur + Kalman</a:t>
            </a:r>
          </a:p>
        </p:txBody>
      </p:sp>
      <p:sp>
        <p:nvSpPr>
          <p:cNvPr id="25" name="">
            <a:extLst xmlns:a="http://schemas.openxmlformats.org/drawingml/2006/main">
              <a:ext uri="{FF2B5EF4-FFF2-40B4-BE49-F238E27FC236}">
                <a16:creationId xmlns:a16="http://schemas.microsoft.com/office/drawing/2014/main" id="{7B18052D-AA64-42A3-85C4-22F50B6D1A41}"/>
              </a:ext>
            </a:extLst>
          </p:cNvPr>
          <p:cNvSpPr>
            <a:spLocks xmlns:a="http://schemas.openxmlformats.org/drawingml/2006/main" noGrp="1"/>
          </p:cNvSpPr>
          <p:nvPr/>
        </p:nvSpPr>
        <p:spPr>
          <a:xfrm xmlns:a="http://schemas.openxmlformats.org/drawingml/2006/main">
            <a:off x="390525" y="1685925"/>
            <a:ext cx="3571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3D8DFF"/>
                </a:solidFill>
                <a:latin typeface="Helvetica Neue"/>
                <a:ea typeface="Helvetica Neue"/>
                <a:cs typeface="Helvetica Neue"/>
              </a:defRPr>
            </a:pPr>
            <a:r>
              <a:rPr sz="4050" b="1">
                <a:solidFill>
                  <a:srgbClr val="3D8DFF"/>
                </a:solidFill>
                <a:latin typeface="Helvetica Neue"/>
                <a:ea typeface="Helvetica Neue"/>
                <a:cs typeface="Helvetica Neue"/>
              </a:rPr>
              <a:t>163,33</a:t>
            </a:r>
          </a:p>
        </p:txBody>
      </p:sp>
      <p:sp>
        <p:nvSpPr>
          <p:cNvPr id="26" name="">
            <a:extLst xmlns:a="http://schemas.openxmlformats.org/drawingml/2006/main">
              <a:ext uri="{FF2B5EF4-FFF2-40B4-BE49-F238E27FC236}">
                <a16:creationId xmlns:a16="http://schemas.microsoft.com/office/drawing/2014/main" id="{DB1A05AF-B57F-4DD7-B76F-6ACB705C85A4}"/>
              </a:ext>
            </a:extLst>
          </p:cNvPr>
          <p:cNvSpPr>
            <a:spLocks xmlns:a="http://schemas.openxmlformats.org/drawingml/2006/main" noGrp="1"/>
          </p:cNvSpPr>
          <p:nvPr/>
        </p:nvSpPr>
        <p:spPr>
          <a:xfrm xmlns:a="http://schemas.openxmlformats.org/drawingml/2006/main">
            <a:off x="390525" y="2343150"/>
            <a:ext cx="3571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a:solidFill>
                  <a:srgbClr val="545A64"/>
                </a:solidFill>
                <a:latin typeface="Helvetica Neue"/>
                <a:ea typeface="Helvetica Neue"/>
                <a:cs typeface="Helvetica Neue"/>
              </a:defRPr>
            </a:pPr>
            <a:r>
              <a:rPr sz="1350">
                <a:solidFill>
                  <a:srgbClr val="545A64"/>
                </a:solidFill>
                <a:latin typeface="Helvetica Neue"/>
                <a:ea typeface="Helvetica Neue"/>
                <a:cs typeface="Helvetica Neue"/>
              </a:rPr>
              <a:t>Prix moyen modèle P50 (EUR/MWh)</a:t>
            </a:r>
          </a:p>
        </p:txBody>
      </p:sp>
      <p:sp>
        <p:nvSpPr>
          <p:cNvPr id="27" name="">
            <a:extLst xmlns:a="http://schemas.openxmlformats.org/drawingml/2006/main">
              <a:ext uri="{FF2B5EF4-FFF2-40B4-BE49-F238E27FC236}">
                <a16:creationId xmlns:a16="http://schemas.microsoft.com/office/drawing/2014/main" id="{32EF569A-132F-4F55-BCA5-24AB01155B57}"/>
              </a:ext>
            </a:extLst>
          </p:cNvPr>
          <p:cNvSpPr>
            <a:spLocks xmlns:a="http://schemas.openxmlformats.org/drawingml/2006/main" noGrp="1"/>
          </p:cNvSpPr>
          <p:nvPr/>
        </p:nvSpPr>
        <p:spPr>
          <a:xfrm xmlns:a="http://schemas.openxmlformats.org/drawingml/2006/main">
            <a:off x="4238625" y="1685925"/>
            <a:ext cx="3571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000000"/>
                </a:solidFill>
                <a:latin typeface="Helvetica Neue"/>
                <a:ea typeface="Helvetica Neue"/>
                <a:cs typeface="Helvetica Neue"/>
              </a:defRPr>
            </a:pPr>
            <a:r>
              <a:rPr sz="4050" b="1">
                <a:solidFill>
                  <a:srgbClr val="000000"/>
                </a:solidFill>
                <a:latin typeface="Helvetica Neue"/>
                <a:ea typeface="Helvetica Neue"/>
                <a:cs typeface="Helvetica Neue"/>
              </a:rPr>
              <a:t>147,76</a:t>
            </a:r>
          </a:p>
        </p:txBody>
      </p:sp>
      <p:sp>
        <p:nvSpPr>
          <p:cNvPr id="28" name="">
            <a:extLst xmlns:a="http://schemas.openxmlformats.org/drawingml/2006/main">
              <a:ext uri="{FF2B5EF4-FFF2-40B4-BE49-F238E27FC236}">
                <a16:creationId xmlns:a16="http://schemas.microsoft.com/office/drawing/2014/main" id="{6DAE7D58-CC85-4152-8272-5D233A53EDCF}"/>
              </a:ext>
            </a:extLst>
          </p:cNvPr>
          <p:cNvSpPr>
            <a:spLocks xmlns:a="http://schemas.openxmlformats.org/drawingml/2006/main" noGrp="1"/>
          </p:cNvSpPr>
          <p:nvPr/>
        </p:nvSpPr>
        <p:spPr>
          <a:xfrm xmlns:a="http://schemas.openxmlformats.org/drawingml/2006/main">
            <a:off x="4238625" y="2343150"/>
            <a:ext cx="3571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a:solidFill>
                  <a:srgbClr val="545A64"/>
                </a:solidFill>
                <a:latin typeface="Helvetica Neue"/>
                <a:ea typeface="Helvetica Neue"/>
                <a:cs typeface="Helvetica Neue"/>
              </a:defRPr>
            </a:pPr>
            <a:r>
              <a:rPr sz="1350">
                <a:solidFill>
                  <a:srgbClr val="545A64"/>
                </a:solidFill>
                <a:latin typeface="Helvetica Neue"/>
                <a:ea typeface="Helvetica Neue"/>
                <a:cs typeface="Helvetica Neue"/>
              </a:rPr>
              <a:t>Prix moyen Storm (EUR/MWh)</a:t>
            </a:r>
          </a:p>
        </p:txBody>
      </p:sp>
      <p:sp>
        <p:nvSpPr>
          <p:cNvPr id="29" name="">
            <a:extLst xmlns:a="http://schemas.openxmlformats.org/drawingml/2006/main">
              <a:ext uri="{FF2B5EF4-FFF2-40B4-BE49-F238E27FC236}">
                <a16:creationId xmlns:a16="http://schemas.microsoft.com/office/drawing/2014/main" id="{26DDD149-2586-4968-A94A-175CA1B54061}"/>
              </a:ext>
            </a:extLst>
          </p:cNvPr>
          <p:cNvSpPr>
            <a:spLocks xmlns:a="http://schemas.openxmlformats.org/drawingml/2006/main" noGrp="1"/>
          </p:cNvSpPr>
          <p:nvPr/>
        </p:nvSpPr>
        <p:spPr>
          <a:xfrm xmlns:a="http://schemas.openxmlformats.org/drawingml/2006/main">
            <a:off x="8086725" y="1685925"/>
            <a:ext cx="3571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3D8DFF"/>
                </a:solidFill>
                <a:latin typeface="Helvetica Neue"/>
                <a:ea typeface="Helvetica Neue"/>
                <a:cs typeface="Helvetica Neue"/>
              </a:defRPr>
            </a:pPr>
            <a:r>
              <a:rPr sz="4050" b="1">
                <a:solidFill>
                  <a:srgbClr val="3D8DFF"/>
                </a:solidFill>
                <a:latin typeface="Helvetica Neue"/>
                <a:ea typeface="Helvetica Neue"/>
                <a:cs typeface="Helvetica Neue"/>
              </a:rPr>
              <a:t>+15,57</a:t>
            </a:r>
          </a:p>
        </p:txBody>
      </p:sp>
      <p:sp>
        <p:nvSpPr>
          <p:cNvPr id="30" name="">
            <a:extLst xmlns:a="http://schemas.openxmlformats.org/drawingml/2006/main">
              <a:ext uri="{FF2B5EF4-FFF2-40B4-BE49-F238E27FC236}">
                <a16:creationId xmlns:a16="http://schemas.microsoft.com/office/drawing/2014/main" id="{12B83B9B-2071-4FCA-9A29-C5C0AF2708A6}"/>
              </a:ext>
            </a:extLst>
          </p:cNvPr>
          <p:cNvSpPr>
            <a:spLocks xmlns:a="http://schemas.openxmlformats.org/drawingml/2006/main" noGrp="1"/>
          </p:cNvSpPr>
          <p:nvPr/>
        </p:nvSpPr>
        <p:spPr>
          <a:xfrm xmlns:a="http://schemas.openxmlformats.org/drawingml/2006/main">
            <a:off x="8086725" y="2343150"/>
            <a:ext cx="3571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a:solidFill>
                  <a:srgbClr val="545A64"/>
                </a:solidFill>
                <a:latin typeface="Helvetica Neue"/>
                <a:ea typeface="Helvetica Neue"/>
                <a:cs typeface="Helvetica Neue"/>
              </a:defRPr>
            </a:pPr>
            <a:r>
              <a:rPr sz="1350">
                <a:solidFill>
                  <a:srgbClr val="545A64"/>
                </a:solidFill>
                <a:latin typeface="Helvetica Neue"/>
                <a:ea typeface="Helvetica Neue"/>
                <a:cs typeface="Helvetica Neue"/>
              </a:rPr>
              <a:t>Écart modèle − Storm (EUR/MWh)</a:t>
            </a:r>
          </a:p>
        </p:txBody>
      </p:sp>
      <p:sp>
        <p:nvSpPr>
          <p:cNvPr id="31" name="">
            <a:extLst xmlns:a="http://schemas.openxmlformats.org/drawingml/2006/main">
              <a:ext uri="{FF2B5EF4-FFF2-40B4-BE49-F238E27FC236}">
                <a16:creationId xmlns:a16="http://schemas.microsoft.com/office/drawing/2014/main" id="{6FC7207F-CAEC-4135-A850-2C3876446542}"/>
              </a:ext>
            </a:extLst>
          </p:cNvPr>
          <p:cNvSpPr>
            <a:spLocks xmlns:a="http://schemas.openxmlformats.org/drawingml/2006/main" noGrp="1"/>
          </p:cNvSpPr>
          <p:nvPr/>
        </p:nvSpPr>
        <p:spPr>
          <a:xfrm xmlns:a="http://schemas.openxmlformats.org/drawingml/2006/main">
            <a:off x="390525" y="2924175"/>
            <a:ext cx="638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Prix moyens sur les mêmes heures</a:t>
            </a:r>
          </a:p>
        </p:txBody>
      </p:sp>
      <p:graphicFrame>
        <p:nvGraphicFramePr>
          <p:cNvPr id="50" name=""/>
          <p:cNvGraphicFramePr/>
          <p:nvPr/>
        </p:nvGraphicFramePr>
        <p:xfrm>
          <a:off xmlns:a="http://schemas.openxmlformats.org/drawingml/2006/main" x="390525" y="3352800"/>
          <a:ext xmlns:a="http://schemas.openxmlformats.org/drawingml/2006/main" cx="6419850" cy="1333500"/>
        </p:xfrm>
        <a:graphic xmlns:a="http://schemas.openxmlformats.org/drawingml/2006/main">
          <a:graphicData uri="http://schemas.openxmlformats.org/drawingml/2006/table">
            <a:tbl>
              <a:tblPr firstRow="0" firstCol="0" bandRow="0"/>
              <a:tblGrid>
                <a:gridCol w="2133600"/>
                <a:gridCol w="1428750"/>
                <a:gridCol w="1428750"/>
                <a:gridCol w="1428750"/>
              </a:tblGrid>
              <a:tr h="444500">
                <a:tc>
                  <a:txBody>
                    <a:bodyPr anchor="ctr">
                      <a:noAutofit/>
                    </a:bodyPr>
                    <a:lstStyle/>
                    <a:p>
                      <a:pPr algn="ctr">
                        <a:buNone/>
                      </a:pPr>
                      <a:r>
                        <a:rPr sz="1350" b="1">
                          <a:solidFill>
                            <a:srgbClr val="000000"/>
                          </a:solidFill>
                          <a:latin typeface="Helvetica Neue"/>
                          <a:ea typeface="Helvetica Neue"/>
                          <a:cs typeface="Helvetica Neue"/>
                        </a:rPr>
                        <a:t>Période</a:t>
                      </a:r>
                    </a:p>
                  </a:txBody>
                  <a:tcPr marL="47625" marR="47625" marT="47625" marB="47625" anchor="ctr">
                    <a:solidFill>
                      <a:srgbClr val="EDEDED"/>
                    </a:solidFill>
                  </a:tcPr>
                </a:tc>
                <a:tc>
                  <a:txBody>
                    <a:bodyPr anchor="ctr">
                      <a:noAutofit/>
                    </a:bodyPr>
                    <a:lstStyle/>
                    <a:p>
                      <a:pPr algn="ctr">
                        <a:buNone/>
                      </a:pPr>
                      <a:r>
                        <a:rPr sz="1350" b="1">
                          <a:solidFill>
                            <a:srgbClr val="000000"/>
                          </a:solidFill>
                          <a:latin typeface="Helvetica Neue"/>
                          <a:ea typeface="Helvetica Neue"/>
                          <a:cs typeface="Helvetica Neue"/>
                        </a:rPr>
                        <a:t>Observé</a:t>
                      </a:r>
                    </a:p>
                  </a:txBody>
                  <a:tcPr marL="47625" marR="47625" marT="47625" marB="47625" anchor="ctr">
                    <a:solidFill>
                      <a:srgbClr val="EDEDED"/>
                    </a:solidFill>
                  </a:tcPr>
                </a:tc>
                <a:tc>
                  <a:txBody>
                    <a:bodyPr anchor="ctr">
                      <a:noAutofit/>
                    </a:bodyPr>
                    <a:lstStyle/>
                    <a:p>
                      <a:pPr algn="ctr">
                        <a:buNone/>
                      </a:pPr>
                      <a:r>
                        <a:rPr sz="1350" b="1">
                          <a:solidFill>
                            <a:srgbClr val="3D8DFF"/>
                          </a:solidFill>
                          <a:latin typeface="Helvetica Neue"/>
                          <a:ea typeface="Helvetica Neue"/>
                          <a:cs typeface="Helvetica Neue"/>
                        </a:rPr>
                        <a:t>Modèle</a:t>
                      </a:r>
                    </a:p>
                  </a:txBody>
                  <a:tcPr marL="47625" marR="47625" marT="47625" marB="47625" anchor="ctr">
                    <a:solidFill>
                      <a:srgbClr val="EDEDED"/>
                    </a:solidFill>
                  </a:tcPr>
                </a:tc>
                <a:tc>
                  <a:txBody>
                    <a:bodyPr anchor="ctr">
                      <a:noAutofit/>
                    </a:bodyPr>
                    <a:lstStyle/>
                    <a:p>
                      <a:pPr algn="ctr">
                        <a:buNone/>
                      </a:pPr>
                      <a:r>
                        <a:rPr sz="1350" b="1">
                          <a:solidFill>
                            <a:srgbClr val="000000"/>
                          </a:solidFill>
                          <a:latin typeface="Helvetica Neue"/>
                          <a:ea typeface="Helvetica Neue"/>
                          <a:cs typeface="Helvetica Neue"/>
                        </a:rPr>
                        <a:t>Storm</a:t>
                      </a:r>
                    </a:p>
                  </a:txBody>
                  <a:tcPr marL="47625" marR="47625" marT="47625" marB="47625" anchor="ctr">
                    <a:solidFill>
                      <a:srgbClr val="EDEDED"/>
                    </a:solidFill>
                  </a:tcPr>
                </a:tc>
              </a:tr>
              <a:tr h="444500">
                <a:tc>
                  <a:txBody>
                    <a:bodyPr anchor="ctr">
                      <a:noAutofit/>
                    </a:bodyPr>
                    <a:lstStyle/>
                    <a:p>
                      <a:pPr algn="ctr">
                        <a:buNone/>
                      </a:pPr>
                      <a:r>
                        <a:rPr sz="1350">
                          <a:solidFill>
                            <a:srgbClr val="545A64"/>
                          </a:solidFill>
                          <a:latin typeface="Helvetica Neue"/>
                          <a:ea typeface="Helvetica Neue"/>
                          <a:cs typeface="Helvetica Neue"/>
                        </a:rPr>
                        <a:t>09/09/2026</a:t>
                      </a:r>
                    </a:p>
                  </a:txBody>
                  <a:tcPr marL="47625" marR="47625" marT="47625" marB="47625" anchor="ctr">
                    <a:solidFill>
                      <a:srgbClr val="FFFFFF"/>
                    </a:solidFill>
                  </a:tcPr>
                </a:tc>
                <a:tc>
                  <a:txBody>
                    <a:bodyPr anchor="ctr">
                      <a:noAutofit/>
                    </a:bodyPr>
                    <a:lstStyle/>
                    <a:p>
                      <a:pPr algn="ctr">
                        <a:buNone/>
                      </a:pPr>
                      <a:r>
                        <a:rPr sz="1500">
                          <a:solidFill>
                            <a:srgbClr val="000000"/>
                          </a:solidFill>
                          <a:latin typeface="Helvetica Neue"/>
                          <a:ea typeface="Helvetica Neue"/>
                          <a:cs typeface="Helvetica Neue"/>
                        </a:rPr>
                        <a:t>149,47</a:t>
                      </a:r>
                    </a:p>
                  </a:txBody>
                  <a:tcPr marL="47625" marR="47625" marT="47625" marB="47625" anchor="ctr">
                    <a:solidFill>
                      <a:srgbClr val="FFFFFF"/>
                    </a:solidFill>
                  </a:tcPr>
                </a:tc>
                <a:tc>
                  <a:txBody>
                    <a:bodyPr anchor="ctr">
                      <a:noAutofit/>
                    </a:bodyPr>
                    <a:lstStyle/>
                    <a:p>
                      <a:pPr algn="ctr">
                        <a:buNone/>
                      </a:pPr>
                      <a:r>
                        <a:rPr sz="1575" b="1">
                          <a:solidFill>
                            <a:srgbClr val="3D8DFF"/>
                          </a:solidFill>
                          <a:latin typeface="Helvetica Neue"/>
                          <a:ea typeface="Helvetica Neue"/>
                          <a:cs typeface="Helvetica Neue"/>
                        </a:rPr>
                        <a:t>163,33</a:t>
                      </a:r>
                    </a:p>
                  </a:txBody>
                  <a:tcPr marL="47625" marR="47625" marT="47625" marB="47625" anchor="ctr">
                    <a:solidFill>
                      <a:srgbClr val="FFFFFF"/>
                    </a:solidFill>
                  </a:tcPr>
                </a:tc>
                <a:tc>
                  <a:txBody>
                    <a:bodyPr anchor="ctr">
                      <a:noAutofit/>
                    </a:bodyPr>
                    <a:lstStyle/>
                    <a:p>
                      <a:pPr algn="ctr">
                        <a:buNone/>
                      </a:pPr>
                      <a:r>
                        <a:rPr sz="1500">
                          <a:solidFill>
                            <a:srgbClr val="000000"/>
                          </a:solidFill>
                          <a:latin typeface="Helvetica Neue"/>
                          <a:ea typeface="Helvetica Neue"/>
                          <a:cs typeface="Helvetica Neue"/>
                        </a:rPr>
                        <a:t>147,76</a:t>
                      </a:r>
                    </a:p>
                  </a:txBody>
                  <a:tcPr marL="47625" marR="47625" marT="47625" marB="47625" anchor="ctr">
                    <a:solidFill>
                      <a:srgbClr val="FFFFFF"/>
                    </a:solidFill>
                  </a:tcPr>
                </a:tc>
              </a:tr>
              <a:tr h="444500">
                <a:tc>
                  <a:txBody>
                    <a:bodyPr anchor="ctr">
                      <a:noAutofit/>
                    </a:bodyPr>
                    <a:lstStyle/>
                    <a:p>
                      <a:pPr algn="ctr">
                        <a:buNone/>
                      </a:pPr>
                      <a:r>
                        <a:rPr sz="1350">
                          <a:solidFill>
                            <a:srgbClr val="545A64"/>
                          </a:solidFill>
                          <a:latin typeface="Helvetica Neue"/>
                          <a:ea typeface="Helvetica Neue"/>
                          <a:cs typeface="Helvetica Neue"/>
                        </a:rPr>
                        <a:t>365 jours¹</a:t>
                      </a:r>
                    </a:p>
                  </a:txBody>
                  <a:tcPr marL="47625" marR="47625" marT="47625" marB="47625" anchor="ctr">
                    <a:solidFill>
                      <a:srgbClr val="FFFFFF"/>
                    </a:solidFill>
                  </a:tcPr>
                </a:tc>
                <a:tc>
                  <a:txBody>
                    <a:bodyPr anchor="ctr">
                      <a:noAutofit/>
                    </a:bodyPr>
                    <a:lstStyle/>
                    <a:p>
                      <a:pPr algn="ctr">
                        <a:buNone/>
                      </a:pPr>
                      <a:r>
                        <a:rPr sz="1500">
                          <a:solidFill>
                            <a:srgbClr val="000000"/>
                          </a:solidFill>
                          <a:latin typeface="Helvetica Neue"/>
                          <a:ea typeface="Helvetica Neue"/>
                          <a:cs typeface="Helvetica Neue"/>
                        </a:rPr>
                        <a:t>69,95</a:t>
                      </a:r>
                    </a:p>
                  </a:txBody>
                  <a:tcPr marL="47625" marR="47625" marT="47625" marB="47625" anchor="ctr">
                    <a:solidFill>
                      <a:srgbClr val="FFFFFF"/>
                    </a:solidFill>
                  </a:tcPr>
                </a:tc>
                <a:tc>
                  <a:txBody>
                    <a:bodyPr anchor="ctr">
                      <a:noAutofit/>
                    </a:bodyPr>
                    <a:lstStyle/>
                    <a:p>
                      <a:pPr algn="ctr">
                        <a:buNone/>
                      </a:pPr>
                      <a:r>
                        <a:rPr sz="1575" b="1">
                          <a:solidFill>
                            <a:srgbClr val="3D8DFF"/>
                          </a:solidFill>
                          <a:latin typeface="Helvetica Neue"/>
                          <a:ea typeface="Helvetica Neue"/>
                          <a:cs typeface="Helvetica Neue"/>
                        </a:rPr>
                        <a:t>69,98</a:t>
                      </a:r>
                    </a:p>
                  </a:txBody>
                  <a:tcPr marL="47625" marR="47625" marT="47625" marB="47625" anchor="ctr">
                    <a:solidFill>
                      <a:srgbClr val="FFFFFF"/>
                    </a:solidFill>
                  </a:tcPr>
                </a:tc>
                <a:tc>
                  <a:txBody>
                    <a:bodyPr anchor="ctr">
                      <a:noAutofit/>
                    </a:bodyPr>
                    <a:lstStyle/>
                    <a:p>
                      <a:pPr algn="ctr">
                        <a:buNone/>
                      </a:pPr>
                      <a:r>
                        <a:rPr sz="1500">
                          <a:solidFill>
                            <a:srgbClr val="000000"/>
                          </a:solidFill>
                          <a:latin typeface="Helvetica Neue"/>
                          <a:ea typeface="Helvetica Neue"/>
                          <a:cs typeface="Helvetica Neue"/>
                        </a:rPr>
                        <a:t>68,12</a:t>
                      </a:r>
                    </a:p>
                  </a:txBody>
                  <a:tcPr marL="47625" marR="47625" marT="47625" marB="47625" anchor="ctr">
                    <a:solidFill>
                      <a:srgbClr val="FFFFFF"/>
                    </a:solidFill>
                  </a:tcPr>
                </a:tc>
              </a:tr>
            </a:tbl>
          </a:graphicData>
        </a:graphic>
      </p:graphicFrame>
      <p:sp>
        <p:nvSpPr>
          <p:cNvPr id="33" name="">
            <a:extLst xmlns:a="http://schemas.openxmlformats.org/drawingml/2006/main">
              <a:ext uri="{FF2B5EF4-FFF2-40B4-BE49-F238E27FC236}">
                <a16:creationId xmlns:a16="http://schemas.microsoft.com/office/drawing/2014/main" id="{1C418A60-C0F5-4893-BC07-D083995EED3E}"/>
              </a:ext>
            </a:extLst>
          </p:cNvPr>
          <p:cNvSpPr>
            <a:spLocks xmlns:a="http://schemas.openxmlformats.org/drawingml/2006/main" noGrp="1"/>
          </p:cNvSpPr>
          <p:nvPr/>
        </p:nvSpPr>
        <p:spPr>
          <a:xfrm xmlns:a="http://schemas.openxmlformats.org/drawingml/2006/main">
            <a:off x="7210425" y="2924175"/>
            <a:ext cx="4581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Calendrier des écarts quotidiens</a:t>
            </a:r>
          </a:p>
        </p:txBody>
      </p:sp>
      <p:graphicFrame>
        <p:nvGraphicFramePr>
          <p:cNvPr id="52" name=""/>
          <p:cNvGraphicFramePr/>
          <p:nvPr/>
        </p:nvGraphicFramePr>
        <p:xfrm>
          <a:off xmlns:a="http://schemas.openxmlformats.org/drawingml/2006/main" x="7210425" y="3352800"/>
          <a:ext xmlns:a="http://schemas.openxmlformats.org/drawingml/2006/main" cx="4581525" cy="971550"/>
        </p:xfrm>
        <a:graphic xmlns:a="http://schemas.openxmlformats.org/drawingml/2006/main">
          <a:graphicData uri="http://schemas.openxmlformats.org/drawingml/2006/table">
            <a:tbl>
              <a:tblPr firstRow="0" firstCol="0" bandRow="0"/>
              <a:tblGrid>
                <a:gridCol w="654504"/>
                <a:gridCol w="654504"/>
                <a:gridCol w="654504"/>
                <a:gridCol w="654504"/>
                <a:gridCol w="654504"/>
                <a:gridCol w="654504"/>
                <a:gridCol w="654504"/>
              </a:tblGrid>
              <a:tr h="485775">
                <a:tc>
                  <a:txBody>
                    <a:bodyPr anchor="ctr">
                      <a:noAutofit/>
                    </a:bodyPr>
                    <a:lstStyle/>
                    <a:p>
                      <a:pPr algn="ctr">
                        <a:buNone/>
                      </a:pPr>
                      <a:r>
                        <a:rPr sz="1125">
                          <a:solidFill>
                            <a:srgbClr val="545A64"/>
                          </a:solidFill>
                          <a:latin typeface="Helvetica Neue"/>
                          <a:ea typeface="Helvetica Neue"/>
                          <a:cs typeface="Helvetica Neue"/>
                        </a:rPr>
                        <a:t>03/09</a:t>
                      </a:r>
                    </a:p>
                  </a:txBody>
                  <a:tcPr marL="47625" marR="47625" marT="47625" marB="47625" anchor="ctr">
                    <a:solidFill>
                      <a:srgbClr val="FFFFFF"/>
                    </a:solidFill>
                  </a:tcPr>
                </a:tc>
                <a:tc>
                  <a:txBody>
                    <a:bodyPr anchor="ctr">
                      <a:noAutofit/>
                    </a:bodyPr>
                    <a:lstStyle/>
                    <a:p>
                      <a:pPr algn="ctr">
                        <a:buNone/>
                      </a:pPr>
                      <a:r>
                        <a:rPr sz="1125">
                          <a:solidFill>
                            <a:srgbClr val="545A64"/>
                          </a:solidFill>
                          <a:latin typeface="Helvetica Neue"/>
                          <a:ea typeface="Helvetica Neue"/>
                          <a:cs typeface="Helvetica Neue"/>
                        </a:rPr>
                        <a:t>04/09</a:t>
                      </a:r>
                    </a:p>
                  </a:txBody>
                  <a:tcPr marL="47625" marR="47625" marT="47625" marB="47625" anchor="ctr">
                    <a:solidFill>
                      <a:srgbClr val="FFFFFF"/>
                    </a:solidFill>
                  </a:tcPr>
                </a:tc>
                <a:tc>
                  <a:txBody>
                    <a:bodyPr anchor="ctr">
                      <a:noAutofit/>
                    </a:bodyPr>
                    <a:lstStyle/>
                    <a:p>
                      <a:pPr algn="ctr">
                        <a:buNone/>
                      </a:pPr>
                      <a:r>
                        <a:rPr sz="1125">
                          <a:solidFill>
                            <a:srgbClr val="545A64"/>
                          </a:solidFill>
                          <a:latin typeface="Helvetica Neue"/>
                          <a:ea typeface="Helvetica Neue"/>
                          <a:cs typeface="Helvetica Neue"/>
                        </a:rPr>
                        <a:t>05/09</a:t>
                      </a:r>
                    </a:p>
                  </a:txBody>
                  <a:tcPr marL="47625" marR="47625" marT="47625" marB="47625" anchor="ctr">
                    <a:solidFill>
                      <a:srgbClr val="FFFFFF"/>
                    </a:solidFill>
                  </a:tcPr>
                </a:tc>
                <a:tc>
                  <a:txBody>
                    <a:bodyPr anchor="ctr">
                      <a:noAutofit/>
                    </a:bodyPr>
                    <a:lstStyle/>
                    <a:p>
                      <a:pPr algn="ctr">
                        <a:buNone/>
                      </a:pPr>
                      <a:r>
                        <a:rPr sz="1125">
                          <a:solidFill>
                            <a:srgbClr val="545A64"/>
                          </a:solidFill>
                          <a:latin typeface="Helvetica Neue"/>
                          <a:ea typeface="Helvetica Neue"/>
                          <a:cs typeface="Helvetica Neue"/>
                        </a:rPr>
                        <a:t>06/09</a:t>
                      </a:r>
                    </a:p>
                  </a:txBody>
                  <a:tcPr marL="47625" marR="47625" marT="47625" marB="47625" anchor="ctr">
                    <a:solidFill>
                      <a:srgbClr val="FFFFFF"/>
                    </a:solidFill>
                  </a:tcPr>
                </a:tc>
                <a:tc>
                  <a:txBody>
                    <a:bodyPr anchor="ctr">
                      <a:noAutofit/>
                    </a:bodyPr>
                    <a:lstStyle/>
                    <a:p>
                      <a:pPr algn="ctr">
                        <a:buNone/>
                      </a:pPr>
                      <a:r>
                        <a:rPr sz="1125">
                          <a:solidFill>
                            <a:srgbClr val="545A64"/>
                          </a:solidFill>
                          <a:latin typeface="Helvetica Neue"/>
                          <a:ea typeface="Helvetica Neue"/>
                          <a:cs typeface="Helvetica Neue"/>
                        </a:rPr>
                        <a:t>07/09</a:t>
                      </a:r>
                    </a:p>
                  </a:txBody>
                  <a:tcPr marL="47625" marR="47625" marT="47625" marB="47625" anchor="ctr">
                    <a:solidFill>
                      <a:srgbClr val="FFFFFF"/>
                    </a:solidFill>
                  </a:tcPr>
                </a:tc>
                <a:tc>
                  <a:txBody>
                    <a:bodyPr anchor="ctr">
                      <a:noAutofit/>
                    </a:bodyPr>
                    <a:lstStyle/>
                    <a:p>
                      <a:pPr algn="ctr">
                        <a:buNone/>
                      </a:pPr>
                      <a:r>
                        <a:rPr sz="1125">
                          <a:solidFill>
                            <a:srgbClr val="545A64"/>
                          </a:solidFill>
                          <a:latin typeface="Helvetica Neue"/>
                          <a:ea typeface="Helvetica Neue"/>
                          <a:cs typeface="Helvetica Neue"/>
                        </a:rPr>
                        <a:t>08/09</a:t>
                      </a:r>
                    </a:p>
                  </a:txBody>
                  <a:tcPr marL="47625" marR="47625" marT="47625" marB="47625" anchor="ctr">
                    <a:solidFill>
                      <a:srgbClr val="FFFFFF"/>
                    </a:solidFill>
                  </a:tcPr>
                </a:tc>
                <a:tc>
                  <a:txBody>
                    <a:bodyPr anchor="ctr">
                      <a:noAutofit/>
                    </a:bodyPr>
                    <a:lstStyle/>
                    <a:p>
                      <a:pPr algn="ctr">
                        <a:buNone/>
                      </a:pPr>
                      <a:r>
                        <a:rPr sz="1125">
                          <a:solidFill>
                            <a:srgbClr val="545A64"/>
                          </a:solidFill>
                          <a:latin typeface="Helvetica Neue"/>
                          <a:ea typeface="Helvetica Neue"/>
                          <a:cs typeface="Helvetica Neue"/>
                        </a:rPr>
                        <a:t>09/09</a:t>
                      </a:r>
                    </a:p>
                  </a:txBody>
                  <a:tcPr marL="47625" marR="47625" marT="47625" marB="47625" anchor="ctr">
                    <a:solidFill>
                      <a:srgbClr val="FFFFFF"/>
                    </a:solidFill>
                  </a:tcPr>
                </a:tc>
              </a:tr>
              <a:tr h="485775">
                <a:tc>
                  <a:txBody>
                    <a:bodyPr anchor="ctr">
                      <a:noAutofit/>
                    </a:bodyPr>
                    <a:lstStyle/>
                    <a:p>
                      <a:pPr algn="ctr">
                        <a:buNone/>
                      </a:pPr>
                      <a:r>
                        <a:rPr sz="1425" b="1">
                          <a:solidFill>
                            <a:srgbClr val="000000"/>
                          </a:solidFill>
                          <a:latin typeface="Helvetica Neue"/>
                          <a:ea typeface="Helvetica Neue"/>
                          <a:cs typeface="Helvetica Neue"/>
                        </a:rPr>
                        <a:t>3,9</a:t>
                      </a:r>
                    </a:p>
                  </a:txBody>
                  <a:tcPr marL="47625" marR="47625" marT="47625" marB="47625" anchor="ctr">
                    <a:solidFill>
                      <a:srgbClr val="F5D7D5"/>
                    </a:solidFill>
                  </a:tcPr>
                </a:tc>
                <a:tc>
                  <a:txBody>
                    <a:bodyPr anchor="ctr">
                      <a:noAutofit/>
                    </a:bodyPr>
                    <a:lstStyle/>
                    <a:p>
                      <a:pPr algn="ctr">
                        <a:buNone/>
                      </a:pPr>
                      <a:r>
                        <a:rPr sz="1425" b="1">
                          <a:solidFill>
                            <a:srgbClr val="000000"/>
                          </a:solidFill>
                          <a:latin typeface="Helvetica Neue"/>
                          <a:ea typeface="Helvetica Neue"/>
                          <a:cs typeface="Helvetica Neue"/>
                        </a:rPr>
                        <a:t>15,9</a:t>
                      </a:r>
                    </a:p>
                  </a:txBody>
                  <a:tcPr marL="47625" marR="47625" marT="47625" marB="47625" anchor="ctr">
                    <a:solidFill>
                      <a:srgbClr val="D67F87"/>
                    </a:solidFill>
                  </a:tcPr>
                </a:tc>
                <a:tc>
                  <a:txBody>
                    <a:bodyPr anchor="ctr">
                      <a:noAutofit/>
                    </a:bodyPr>
                    <a:lstStyle/>
                    <a:p>
                      <a:pPr algn="ctr">
                        <a:buNone/>
                      </a:pPr>
                      <a:r>
                        <a:rPr sz="1425" b="1">
                          <a:solidFill>
                            <a:srgbClr val="FFFFFF"/>
                          </a:solidFill>
                          <a:latin typeface="Helvetica Neue"/>
                          <a:ea typeface="Helvetica Neue"/>
                          <a:cs typeface="Helvetica Neue"/>
                        </a:rPr>
                        <a:t>25,7</a:t>
                      </a:r>
                    </a:p>
                  </a:txBody>
                  <a:tcPr marL="47625" marR="47625" marT="47625" marB="47625" anchor="ctr">
                    <a:solidFill>
                      <a:srgbClr val="BD3747"/>
                    </a:solidFill>
                  </a:tcPr>
                </a:tc>
                <a:tc>
                  <a:txBody>
                    <a:bodyPr anchor="ctr">
                      <a:noAutofit/>
                    </a:bodyPr>
                    <a:lstStyle/>
                    <a:p>
                      <a:pPr algn="ctr">
                        <a:buNone/>
                      </a:pPr>
                      <a:r>
                        <a:rPr sz="1425" b="1">
                          <a:solidFill>
                            <a:srgbClr val="000000"/>
                          </a:solidFill>
                          <a:latin typeface="Helvetica Neue"/>
                          <a:ea typeface="Helvetica Neue"/>
                          <a:cs typeface="Helvetica Neue"/>
                        </a:rPr>
                        <a:t>1,2</a:t>
                      </a:r>
                    </a:p>
                  </a:txBody>
                  <a:tcPr marL="47625" marR="47625" marT="47625" marB="47625" anchor="ctr">
                    <a:solidFill>
                      <a:srgbClr val="FCEBE7"/>
                    </a:solidFill>
                  </a:tcPr>
                </a:tc>
                <a:tc>
                  <a:txBody>
                    <a:bodyPr anchor="ctr">
                      <a:noAutofit/>
                    </a:bodyPr>
                    <a:lstStyle/>
                    <a:p>
                      <a:pPr algn="ctr">
                        <a:buNone/>
                      </a:pPr>
                      <a:r>
                        <a:rPr sz="1425" b="1">
                          <a:solidFill>
                            <a:srgbClr val="000000"/>
                          </a:solidFill>
                          <a:latin typeface="Helvetica Neue"/>
                          <a:ea typeface="Helvetica Neue"/>
                          <a:cs typeface="Helvetica Neue"/>
                        </a:rPr>
                        <a:t>12,9</a:t>
                      </a:r>
                    </a:p>
                  </a:txBody>
                  <a:tcPr marL="47625" marR="47625" marT="47625" marB="47625" anchor="ctr">
                    <a:solidFill>
                      <a:srgbClr val="DE969B"/>
                    </a:solidFill>
                  </a:tcPr>
                </a:tc>
                <a:tc>
                  <a:txBody>
                    <a:bodyPr anchor="ctr">
                      <a:noAutofit/>
                    </a:bodyPr>
                    <a:lstStyle/>
                    <a:p>
                      <a:pPr algn="ctr">
                        <a:buNone/>
                      </a:pPr>
                      <a:r>
                        <a:rPr sz="1425" b="1">
                          <a:solidFill>
                            <a:srgbClr val="000000"/>
                          </a:solidFill>
                          <a:latin typeface="Helvetica Neue"/>
                          <a:ea typeface="Helvetica Neue"/>
                          <a:cs typeface="Helvetica Neue"/>
                        </a:rPr>
                        <a:t>15,6</a:t>
                      </a:r>
                    </a:p>
                  </a:txBody>
                  <a:tcPr marL="47625" marR="47625" marT="47625" marB="47625" anchor="ctr">
                    <a:solidFill>
                      <a:srgbClr val="D78289"/>
                    </a:solidFill>
                  </a:tcPr>
                </a:tc>
                <a:tc>
                  <a:txBody>
                    <a:bodyPr anchor="ctr">
                      <a:noAutofit/>
                    </a:bodyPr>
                    <a:lstStyle/>
                    <a:p>
                      <a:pPr algn="ctr">
                        <a:buNone/>
                      </a:pPr>
                      <a:r>
                        <a:rPr sz="1425" b="1">
                          <a:solidFill>
                            <a:srgbClr val="000000"/>
                          </a:solidFill>
                          <a:latin typeface="Helvetica Neue"/>
                          <a:ea typeface="Helvetica Neue"/>
                          <a:cs typeface="Helvetica Neue"/>
                        </a:rPr>
                        <a:t>13,9</a:t>
                      </a:r>
                    </a:p>
                  </a:txBody>
                  <a:tcPr marL="47625" marR="47625" marT="47625" marB="47625" anchor="ctr">
                    <a:solidFill>
                      <a:srgbClr val="DB8E94"/>
                    </a:solidFill>
                  </a:tcPr>
                </a:tc>
              </a:tr>
            </a:tbl>
          </a:graphicData>
        </a:graphic>
      </p:graphicFrame>
      <p:sp>
        <p:nvSpPr>
          <p:cNvPr id="35" name="">
            <a:extLst xmlns:a="http://schemas.openxmlformats.org/drawingml/2006/main">
              <a:ext uri="{FF2B5EF4-FFF2-40B4-BE49-F238E27FC236}">
                <a16:creationId xmlns:a16="http://schemas.microsoft.com/office/drawing/2014/main" id="{503BA57D-DAF5-4279-A863-8E5EBE2E27A4}"/>
              </a:ext>
            </a:extLst>
          </p:cNvPr>
          <p:cNvSpPr>
            <a:spLocks xmlns:a="http://schemas.openxmlformats.org/drawingml/2006/main" noGrp="1"/>
          </p:cNvSpPr>
          <p:nvPr/>
        </p:nvSpPr>
        <p:spPr>
          <a:xfrm xmlns:a="http://schemas.openxmlformats.org/drawingml/2006/main">
            <a:off x="7210425" y="4486275"/>
            <a:ext cx="45815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a:solidFill>
                  <a:srgbClr val="545A64"/>
                </a:solidFill>
                <a:latin typeface="Helvetica Neue"/>
                <a:ea typeface="Helvetica Neue"/>
                <a:cs typeface="Helvetica Neue"/>
              </a:defRPr>
            </a:pPr>
            <a:r>
              <a:rPr sz="1350">
                <a:solidFill>
                  <a:srgbClr val="545A64"/>
                </a:solidFill>
                <a:latin typeface="Helvetica Neue"/>
                <a:ea typeface="Helvetica Neue"/>
                <a:cs typeface="Helvetica Neue"/>
              </a:rPr>
              <a:t>Le rouge fonce quand l’écart absolu entre</a:t>
            </a:r>
          </a:p>
          <a:p xmlns:a="http://schemas.openxmlformats.org/drawingml/2006/main">
            <a:pPr>
              <a:buNone/>
              <a:defRPr sz="1350">
                <a:solidFill>
                  <a:srgbClr val="545A64"/>
                </a:solidFill>
                <a:latin typeface="Helvetica Neue"/>
                <a:ea typeface="Helvetica Neue"/>
                <a:cs typeface="Helvetica Neue"/>
              </a:defRPr>
            </a:pPr>
            <a:r>
              <a:rPr sz="1350">
                <a:solidFill>
                  <a:srgbClr val="545A64"/>
                </a:solidFill>
                <a:latin typeface="Helvetica Neue"/>
                <a:ea typeface="Helvetica Neue"/>
                <a:cs typeface="Helvetica Neue"/>
              </a:rPr>
              <a:t>le prix moyen du modèle et l’observé augmente.</a:t>
            </a:r>
          </a:p>
        </p:txBody>
      </p:sp>
      <p:sp>
        <p:nvSpPr>
          <p:cNvPr id="36" name="">
            <a:extLst xmlns:a="http://schemas.openxmlformats.org/drawingml/2006/main">
              <a:ext uri="{FF2B5EF4-FFF2-40B4-BE49-F238E27FC236}">
                <a16:creationId xmlns:a16="http://schemas.microsoft.com/office/drawing/2014/main" id="{2FB356F7-AFC3-4309-B5F6-98C199558BEB}"/>
              </a:ext>
            </a:extLst>
          </p:cNvPr>
          <p:cNvSpPr>
            <a:spLocks xmlns:a="http://schemas.openxmlformats.org/drawingml/2006/main" noGrp="1"/>
          </p:cNvSpPr>
          <p:nvPr/>
        </p:nvSpPr>
        <p:spPr>
          <a:xfrm xmlns:a="http://schemas.openxmlformats.org/drawingml/2006/main">
            <a:off x="390525" y="4848225"/>
            <a:ext cx="64198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Le 09/09 : écart absolu de 13,86 pour le modèle,</a:t>
            </a:r>
          </a:p>
          <a:p xmlns:a="http://schemas.openxmlformats.org/drawingml/2006/main">
            <a:pPr>
              <a:buNone/>
              <a:defRPr sz="15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contre 1,72 pour Storm (EUR/MWh).</a:t>
            </a:r>
          </a:p>
        </p:txBody>
      </p:sp>
      <p:sp>
        <p:nvSpPr>
          <p:cNvPr id="37" name="">
            <a:extLst xmlns:a="http://schemas.openxmlformats.org/drawingml/2006/main">
              <a:ext uri="{FF2B5EF4-FFF2-40B4-BE49-F238E27FC236}">
                <a16:creationId xmlns:a16="http://schemas.microsoft.com/office/drawing/2014/main" id="{C01B08AC-C501-4EB5-8C8F-528009F98BC2}"/>
              </a:ext>
            </a:extLst>
          </p:cNvPr>
          <p:cNvSpPr>
            <a:spLocks xmlns:a="http://schemas.openxmlformats.org/drawingml/2006/main" noGrp="1"/>
          </p:cNvSpPr>
          <p:nvPr/>
        </p:nvSpPr>
        <p:spPr>
          <a:xfrm xmlns:a="http://schemas.openxmlformats.org/drawingml/2006/main">
            <a:off x="390525" y="5648325"/>
            <a:ext cx="114014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75">
                <a:solidFill>
                  <a:srgbClr val="545A64"/>
                </a:solidFill>
                <a:latin typeface="Helvetica Neue"/>
                <a:ea typeface="Helvetica Neue"/>
                <a:cs typeface="Helvetica Neue"/>
              </a:defRPr>
            </a:pPr>
            <a:r>
              <a:rPr sz="1575">
                <a:solidFill>
                  <a:srgbClr val="545A64"/>
                </a:solidFill>
                <a:latin typeface="Helvetica Neue"/>
                <a:ea typeface="Helvetica Neue"/>
                <a:cs typeface="Helvetica Neue"/>
              </a:rPr>
              <a:t>Dans Statistics : filtres jour, semaine et mois, puis classement du forecast le plus proche.</a:t>
            </a:r>
          </a:p>
          <a:p xmlns:a="http://schemas.openxmlformats.org/drawingml/2006/main">
            <a:pPr>
              <a:buNone/>
              <a:defRPr sz="1575">
                <a:solidFill>
                  <a:srgbClr val="545A64"/>
                </a:solidFill>
                <a:latin typeface="Helvetica Neue"/>
                <a:ea typeface="Helvetica Neue"/>
                <a:cs typeface="Helvetica Neue"/>
              </a:defRPr>
            </a:pPr>
            <a:r>
              <a:rPr sz="1575">
                <a:solidFill>
                  <a:srgbClr val="545A64"/>
                </a:solidFill>
                <a:latin typeface="Helvetica Neue"/>
                <a:ea typeface="Helvetica Neue"/>
                <a:cs typeface="Helvetica Neue"/>
              </a:rPr>
              <a:t>Un prix moyen proche peut masquer des erreurs horaires qui se compensent.</a:t>
            </a:r>
          </a:p>
        </p:txBody>
      </p:sp>
      <p:sp>
        <p:nvSpPr>
          <p:cNvPr id="38" name="">
            <a:extLst xmlns:a="http://schemas.openxmlformats.org/drawingml/2006/main">
              <a:ext uri="{FF2B5EF4-FFF2-40B4-BE49-F238E27FC236}">
                <a16:creationId xmlns:a16="http://schemas.microsoft.com/office/drawing/2014/main" id="{787DA4B6-2473-425B-8558-8D57E14684CA}"/>
              </a:ext>
            </a:extLst>
          </p:cNvPr>
          <p:cNvSpPr>
            <a:spLocks xmlns:a="http://schemas.openxmlformats.org/drawingml/2006/main" noGrp="1"/>
          </p:cNvSpPr>
          <p:nvPr/>
        </p:nvSpPr>
        <p:spPr>
          <a:xfrm xmlns:a="http://schemas.openxmlformats.org/drawingml/2006/main">
            <a:off x="390525" y="6400800"/>
            <a:ext cx="11401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975">
                <a:solidFill>
                  <a:srgbClr val="545A64"/>
                </a:solidFill>
                <a:latin typeface="Helvetica Neue"/>
                <a:ea typeface="Helvetica Neue"/>
                <a:cs typeface="Helvetica Neue"/>
              </a:defRPr>
            </a:pPr>
            <a:r>
              <a:rPr sz="975">
                <a:solidFill>
                  <a:srgbClr val="545A64"/>
                </a:solidFill>
                <a:latin typeface="Helvetica Neue"/>
                <a:ea typeface="Helvetica Neue"/>
                <a:cs typeface="Helvetica Neue"/>
              </a:rPr>
              <a:t>¹ Statistics : 10/09/2025 au 09/09/2026, 8 759 heures appariées. Storm sert uniquement à la comparaison.</a:t>
            </a:r>
          </a:p>
        </p:txBody>
      </p:sp>
    </p:spTree>
    <p:extLst>
      <p:ext uri="{BB962C8B-B14F-4D97-AF65-F5344CB8AC3E}">
        <p14:creationId xmlns:p14="http://schemas.microsoft.com/office/powerpoint/2010/main" val="19196696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ADA08811-0CCF-4DB4-95B5-E1B4717EC723}"/>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Performance par heure locale</a:t>
            </a:r>
            <a:endParaRPr/>
          </a:p>
        </p:txBody>
      </p:sp>
      <p:sp>
        <p:nvSpPr>
          <p:cNvPr id="24" name="">
            <a:extLst xmlns:a="http://schemas.openxmlformats.org/drawingml/2006/main">
              <a:ext uri="{FF2B5EF4-FFF2-40B4-BE49-F238E27FC236}">
                <a16:creationId xmlns:a16="http://schemas.microsoft.com/office/drawing/2014/main" id="{AF2849AF-9374-4A9D-860D-9E853962C7D3}"/>
              </a:ext>
            </a:extLst>
          </p:cNvPr>
          <p:cNvSpPr>
            <a:spLocks xmlns:a="http://schemas.openxmlformats.org/drawingml/2006/main" noGrp="1"/>
          </p:cNvSpPr>
          <p:nvPr/>
        </p:nvSpPr>
        <p:spPr>
          <a:xfrm xmlns:a="http://schemas.openxmlformats.org/drawingml/2006/main">
            <a:off x="390525" y="1057275"/>
            <a:ext cx="11401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a:solidFill>
                  <a:srgbClr val="545A64"/>
                </a:solidFill>
                <a:latin typeface="Helvetica Neue"/>
                <a:ea typeface="Helvetica Neue"/>
                <a:cs typeface="Helvetica Neue"/>
              </a:defRPr>
            </a:pPr>
            <a:r>
              <a:rPr sz="1500">
                <a:solidFill>
                  <a:srgbClr val="545A64"/>
                </a:solidFill>
                <a:latin typeface="Helvetica Neue"/>
                <a:ea typeface="Helvetica Neue"/>
                <a:cs typeface="Helvetica Neue"/>
              </a:rPr>
              <a:t>Le menu du rapport propose trois vues : MAE, prix moyens et biais signé</a:t>
            </a:r>
          </a:p>
        </p:txBody>
      </p:sp>
      <p:graphicFrame>
        <p:nvGraphicFramePr>
          <p:cNvPr id="35" name="Chart"/>
          <p:cNvGraphicFramePr/>
          <p:nvPr/>
        </p:nvGraphicFramePr>
        <p:xfrm>
          <a:off xmlns:a="http://schemas.openxmlformats.org/drawingml/2006/main" x="390525" y="1733550"/>
          <a:ext xmlns:a="http://schemas.openxmlformats.org/drawingml/2006/main" cx="5543550" cy="3333750"/>
        </p:xfrm>
        <a:graphic xmlns:a="http://schemas.openxmlformats.org/drawingml/2006/main">
          <a:graphicData uri="http://schemas.openxmlformats.org/drawingml/2006/chart">
            <c:chart xmlns:r="http://schemas.openxmlformats.org/officeDocument/2006/relationships" xmlns:c="http://schemas.openxmlformats.org/drawingml/2006/chart" r:id="R8f71b236f08b4390"/>
          </a:graphicData>
        </a:graphic>
      </p:graphicFrame>
      <p:graphicFrame>
        <p:nvGraphicFramePr>
          <p:cNvPr id="36" name="Chart"/>
          <p:cNvGraphicFramePr/>
          <p:nvPr/>
        </p:nvGraphicFramePr>
        <p:xfrm>
          <a:off xmlns:a="http://schemas.openxmlformats.org/drawingml/2006/main" x="6257925" y="1733550"/>
          <a:ext xmlns:a="http://schemas.openxmlformats.org/drawingml/2006/main" cx="5534025" cy="3333750"/>
        </p:xfrm>
        <a:graphic xmlns:a="http://schemas.openxmlformats.org/drawingml/2006/main">
          <a:graphicData uri="http://schemas.openxmlformats.org/drawingml/2006/chart">
            <c:chart xmlns:r="http://schemas.openxmlformats.org/officeDocument/2006/relationships" xmlns:c="http://schemas.openxmlformats.org/drawingml/2006/chart" r:id="R3651b83c52474e87"/>
          </a:graphicData>
        </a:graphic>
      </p:graphicFrame>
      <p:sp>
        <p:nvSpPr>
          <p:cNvPr id="27" name="">
            <a:extLst xmlns:a="http://schemas.openxmlformats.org/drawingml/2006/main">
              <a:ext uri="{FF2B5EF4-FFF2-40B4-BE49-F238E27FC236}">
                <a16:creationId xmlns:a16="http://schemas.microsoft.com/office/drawing/2014/main" id="{0643AAF6-0527-4610-A969-4CEDCD08F759}"/>
              </a:ext>
            </a:extLst>
          </p:cNvPr>
          <p:cNvSpPr>
            <a:spLocks xmlns:a="http://schemas.openxmlformats.org/drawingml/2006/main" noGrp="1"/>
          </p:cNvSpPr>
          <p:nvPr/>
        </p:nvSpPr>
        <p:spPr>
          <a:xfrm xmlns:a="http://schemas.openxmlformats.org/drawingml/2006/main">
            <a:off x="390525" y="5305425"/>
            <a:ext cx="5543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À 00 h, la MAE du modèle atteint 9,85,</a:t>
            </a:r>
          </a:p>
          <a:p xmlns:a="http://schemas.openxmlformats.org/drawingml/2006/main">
            <a:pPr>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contre 11,69 pour Storm.</a:t>
            </a:r>
          </a:p>
        </p:txBody>
      </p:sp>
      <p:sp>
        <p:nvSpPr>
          <p:cNvPr id="28" name="">
            <a:extLst xmlns:a="http://schemas.openxmlformats.org/drawingml/2006/main">
              <a:ext uri="{FF2B5EF4-FFF2-40B4-BE49-F238E27FC236}">
                <a16:creationId xmlns:a16="http://schemas.microsoft.com/office/drawing/2014/main" id="{2575804D-E051-449F-B707-CE15B8FF3D0F}"/>
              </a:ext>
            </a:extLst>
          </p:cNvPr>
          <p:cNvSpPr>
            <a:spLocks xmlns:a="http://schemas.openxmlformats.org/drawingml/2006/main" noGrp="1"/>
          </p:cNvSpPr>
          <p:nvPr/>
        </p:nvSpPr>
        <p:spPr>
          <a:xfrm xmlns:a="http://schemas.openxmlformats.org/drawingml/2006/main">
            <a:off x="6257925" y="5305425"/>
            <a:ext cx="55340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À 12 h, elle atteint 12,04,</a:t>
            </a:r>
          </a:p>
          <a:p xmlns:a="http://schemas.openxmlformats.org/drawingml/2006/main">
            <a:pPr>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contre 10,71 pour Storm.</a:t>
            </a:r>
          </a:p>
        </p:txBody>
      </p:sp>
      <p:sp>
        <p:nvSpPr>
          <p:cNvPr id="29" name="">
            <a:extLst xmlns:a="http://schemas.openxmlformats.org/drawingml/2006/main">
              <a:ext uri="{FF2B5EF4-FFF2-40B4-BE49-F238E27FC236}">
                <a16:creationId xmlns:a16="http://schemas.microsoft.com/office/drawing/2014/main" id="{8C4982E6-1F78-43F5-9BDA-E54781CB5EF2}"/>
              </a:ext>
            </a:extLst>
          </p:cNvPr>
          <p:cNvSpPr>
            <a:spLocks xmlns:a="http://schemas.openxmlformats.org/drawingml/2006/main" noGrp="1"/>
          </p:cNvSpPr>
          <p:nvPr/>
        </p:nvSpPr>
        <p:spPr>
          <a:xfrm xmlns:a="http://schemas.openxmlformats.org/drawingml/2006/main">
            <a:off x="390525" y="6010275"/>
            <a:ext cx="11401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a:solidFill>
                  <a:srgbClr val="545A64"/>
                </a:solidFill>
                <a:latin typeface="Helvetica Neue"/>
                <a:ea typeface="Helvetica Neue"/>
                <a:cs typeface="Helvetica Neue"/>
              </a:defRPr>
            </a:pPr>
            <a:r>
              <a:rPr sz="1500">
                <a:solidFill>
                  <a:srgbClr val="545A64"/>
                </a:solidFill>
                <a:latin typeface="Helvetica Neue"/>
                <a:ea typeface="Helvetica Neue"/>
                <a:cs typeface="Helvetica Neue"/>
              </a:rPr>
              <a:t>La MAE mesure la taille de l’erreur. Le biais signé indique la tendance à surestimer ou sous-estimer.</a:t>
            </a:r>
          </a:p>
        </p:txBody>
      </p:sp>
      <p:sp>
        <p:nvSpPr>
          <p:cNvPr id="30" name="">
            <a:extLst xmlns:a="http://schemas.openxmlformats.org/drawingml/2006/main">
              <a:ext uri="{FF2B5EF4-FFF2-40B4-BE49-F238E27FC236}">
                <a16:creationId xmlns:a16="http://schemas.microsoft.com/office/drawing/2014/main" id="{9B30CF4B-A929-4854-9E91-B313E99ED076}"/>
              </a:ext>
            </a:extLst>
          </p:cNvPr>
          <p:cNvSpPr>
            <a:spLocks xmlns:a="http://schemas.openxmlformats.org/drawingml/2006/main" noGrp="1"/>
          </p:cNvSpPr>
          <p:nvPr/>
        </p:nvSpPr>
        <p:spPr>
          <a:xfrm xmlns:a="http://schemas.openxmlformats.org/drawingml/2006/main">
            <a:off x="390525" y="6400800"/>
            <a:ext cx="11401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975">
                <a:solidFill>
                  <a:srgbClr val="545A64"/>
                </a:solidFill>
                <a:latin typeface="Helvetica Neue"/>
                <a:ea typeface="Helvetica Neue"/>
                <a:cs typeface="Helvetica Neue"/>
              </a:defRPr>
            </a:pPr>
            <a:r>
              <a:rPr sz="975">
                <a:solidFill>
                  <a:srgbClr val="545A64"/>
                </a:solidFill>
                <a:latin typeface="Helvetica Neue"/>
                <a:ea typeface="Helvetica Neue"/>
                <a:cs typeface="Helvetica Neue"/>
              </a:rPr>
              <a:t>France, 10/09/2025 au 09/09/2026. Chaque courbe utilise les mêmes 8 759 heures physiques appariées.</a:t>
            </a:r>
          </a:p>
        </p:txBody>
      </p:sp>
    </p:spTree>
    <p:extLst>
      <p:ext uri="{BB962C8B-B14F-4D97-AF65-F5344CB8AC3E}">
        <p14:creationId xmlns:p14="http://schemas.microsoft.com/office/powerpoint/2010/main" val="19196696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Rectangle 22">
            <a:extLst xmlns:a="http://schemas.openxmlformats.org/drawingml/2006/main">
              <a:ext uri="{FF2B5EF4-FFF2-40B4-BE49-F238E27FC236}">
                <a16:creationId xmlns:a16="http://schemas.microsoft.com/office/drawing/2014/main" id="{ADA08811-0CCF-4DB4-95B5-E1B4717EC723}"/>
              </a:ext>
            </a:extLst>
          </p:cNvPr>
          <p:cNvSpPr>
            <a:spLocks xmlns:a="http://schemas.openxmlformats.org/drawingml/2006/main" noGrp="1"/>
          </p:cNvSpPr>
          <p:nvPr/>
        </p:nvSpPr>
        <p:spPr>
          <a:xfrm xmlns:a="http://schemas.openxmlformats.org/drawingml/2006/main">
            <a:off x="390525" y="342900"/>
            <a:ext cx="11401425"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Influence des variables dans la prévision amont</a:t>
            </a:r>
            <a:endParaRPr/>
          </a:p>
        </p:txBody>
      </p:sp>
      <p:sp>
        <p:nvSpPr>
          <p:cNvPr id="24" name="">
            <a:extLst xmlns:a="http://schemas.openxmlformats.org/drawingml/2006/main">
              <a:ext uri="{FF2B5EF4-FFF2-40B4-BE49-F238E27FC236}">
                <a16:creationId xmlns:a16="http://schemas.microsoft.com/office/drawing/2014/main" id="{1758A0DB-3D23-48ED-8EB4-D03A7F3E022E}"/>
              </a:ext>
            </a:extLst>
          </p:cNvPr>
          <p:cNvSpPr>
            <a:spLocks xmlns:a="http://schemas.openxmlformats.org/drawingml/2006/main" noGrp="1"/>
          </p:cNvSpPr>
          <p:nvPr/>
        </p:nvSpPr>
        <p:spPr>
          <a:xfrm xmlns:a="http://schemas.openxmlformats.org/drawingml/2006/main">
            <a:off x="390525" y="1057275"/>
            <a:ext cx="11401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a:solidFill>
                  <a:srgbClr val="545A64"/>
                </a:solidFill>
                <a:latin typeface="Helvetica Neue"/>
                <a:ea typeface="Helvetica Neue"/>
                <a:cs typeface="Helvetica Neue"/>
              </a:defRPr>
            </a:pPr>
            <a:r>
              <a:rPr sz="1500">
                <a:solidFill>
                  <a:srgbClr val="545A64"/>
                </a:solidFill>
                <a:latin typeface="Helvetica Neue"/>
                <a:ea typeface="Helvetica Neue"/>
                <a:cs typeface="Helvetica Neue"/>
              </a:rPr>
              <a:t>Shapley groupé sur Chronos-2 + nucléaire + correcteur, avant l’application de Kalman</a:t>
            </a:r>
          </a:p>
        </p:txBody>
      </p:sp>
      <p:graphicFrame>
        <p:nvGraphicFramePr>
          <p:cNvPr id="39" name="Chart"/>
          <p:cNvGraphicFramePr/>
          <p:nvPr/>
        </p:nvGraphicFramePr>
        <p:xfrm>
          <a:off xmlns:a="http://schemas.openxmlformats.org/drawingml/2006/main" x="390525" y="1685925"/>
          <a:ext xmlns:a="http://schemas.openxmlformats.org/drawingml/2006/main" cx="5276850" cy="3314700"/>
        </p:xfrm>
        <a:graphic xmlns:a="http://schemas.openxmlformats.org/drawingml/2006/main">
          <a:graphicData uri="http://schemas.openxmlformats.org/drawingml/2006/chart">
            <c:chart xmlns:r="http://schemas.openxmlformats.org/officeDocument/2006/relationships" xmlns:c="http://schemas.openxmlformats.org/drawingml/2006/chart" r:id="R823e92da19984357"/>
          </a:graphicData>
        </a:graphic>
      </p:graphicFrame>
      <p:sp>
        <p:nvSpPr>
          <p:cNvPr id="26" name="">
            <a:extLst xmlns:a="http://schemas.openxmlformats.org/drawingml/2006/main">
              <a:ext uri="{FF2B5EF4-FFF2-40B4-BE49-F238E27FC236}">
                <a16:creationId xmlns:a16="http://schemas.microsoft.com/office/drawing/2014/main" id="{A2CF852F-BB5F-43B6-9940-81D2A6689D21}"/>
              </a:ext>
            </a:extLst>
          </p:cNvPr>
          <p:cNvSpPr>
            <a:spLocks xmlns:a="http://schemas.openxmlformats.org/drawingml/2006/main" noGrp="1"/>
          </p:cNvSpPr>
          <p:nvPr/>
        </p:nvSpPr>
        <p:spPr>
          <a:xfrm xmlns:a="http://schemas.openxmlformats.org/drawingml/2006/main">
            <a:off x="5962650" y="1714500"/>
            <a:ext cx="582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Contributions par heure (EUR/MWh)</a:t>
            </a:r>
          </a:p>
        </p:txBody>
      </p:sp>
      <p:graphicFrame>
        <p:nvGraphicFramePr>
          <p:cNvPr id="41" name=""/>
          <p:cNvGraphicFramePr/>
          <p:nvPr/>
        </p:nvGraphicFramePr>
        <p:xfrm>
          <a:off xmlns:a="http://schemas.openxmlformats.org/drawingml/2006/main" x="5962650" y="2152650"/>
          <a:ext xmlns:a="http://schemas.openxmlformats.org/drawingml/2006/main" cx="5829300" cy="2600325"/>
        </p:xfrm>
        <a:graphic xmlns:a="http://schemas.openxmlformats.org/drawingml/2006/main">
          <a:graphicData uri="http://schemas.openxmlformats.org/drawingml/2006/table">
            <a:tbl>
              <a:tblPr firstRow="0" firstCol="0" bandRow="0"/>
              <a:tblGrid>
                <a:gridCol w="1485900"/>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gridCol w="180975"/>
              </a:tblGrid>
              <a:tr h="266700">
                <a:tc>
                  <a:txBody>
                    <a:bodyPr anchor="ctr">
                      <a:noAutofit/>
                    </a:bodyPr>
                    <a:lstStyle/>
                    <a:p>
                      <a:pPr algn="l">
                        <a:buNone/>
                      </a:pPr>
                      <a:r>
                        <a:rPr sz="1050">
                          <a:solidFill>
                            <a:srgbClr val="000000"/>
                          </a:solidFill>
                          <a:latin typeface="Helvetica Neue"/>
                          <a:ea typeface="Helvetica Neue"/>
                          <a:cs typeface="Helvetica Neue"/>
                        </a:rPr>
                        <a:t>Heure locale</a:t>
                      </a:r>
                    </a:p>
                  </a:txBody>
                  <a:tcPr marL="47625" marR="47625" marT="47625" marB="47625"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0</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3</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6</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9</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12</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15</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18</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21</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
                      </a:r>
                    </a:p>
                  </a:txBody>
                  <a:tcPr marL="0" marR="0" marT="0" marB="0" anchor="ctr">
                    <a:solidFill>
                      <a:srgbClr val="FFFFFF"/>
                    </a:solidFill>
                  </a:tcPr>
                </a:tc>
                <a:tc>
                  <a:txBody>
                    <a:bodyPr anchor="ctr">
                      <a:noAutofit/>
                    </a:bodyPr>
                    <a:lstStyle/>
                    <a:p>
                      <a:pPr algn="ctr">
                        <a:buNone/>
                      </a:pPr>
                      <a:r>
                        <a:rPr sz="825">
                          <a:solidFill>
                            <a:srgbClr val="545A64"/>
                          </a:solidFill>
                          <a:latin typeface="Helvetica Neue"/>
                          <a:ea typeface="Helvetica Neue"/>
                          <a:cs typeface="Helvetica Neue"/>
                        </a:rPr>
                        <a:t>23</a:t>
                      </a:r>
                    </a:p>
                  </a:txBody>
                  <a:tcPr marL="0" marR="0" marT="0" marB="0" anchor="ctr">
                    <a:solidFill>
                      <a:srgbClr val="FFFFFF"/>
                    </a:solidFill>
                  </a:tcPr>
                </a:tc>
              </a:tr>
              <a:tr h="333375">
                <a:tc>
                  <a:txBody>
                    <a:bodyPr anchor="ctr">
                      <a:noAutofit/>
                    </a:bodyPr>
                    <a:lstStyle/>
                    <a:p>
                      <a:pPr algn="l">
                        <a:buNone/>
                      </a:pPr>
                      <a:r>
                        <a:rPr sz="1050">
                          <a:solidFill>
                            <a:srgbClr val="000000"/>
                          </a:solidFill>
                          <a:latin typeface="Helvetica Neue"/>
                          <a:ea typeface="Helvetica Neue"/>
                          <a:cs typeface="Helvetica Neue"/>
                        </a:rPr>
                        <a:t>Prix passés</a:t>
                      </a:r>
                    </a:p>
                  </a:txBody>
                  <a:tcPr marL="47625" marR="47625" marT="47625" marB="47625" anchor="ctr">
                    <a:solidFill>
                      <a:srgbClr val="FFFFFF"/>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19E7D"/>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B698"/>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ACBB2"/>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BDA1"/>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4A88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B9072"/>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AF172B"/>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910D2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67001F"/>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7D0722"/>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800823"/>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B1182B"/>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D15648"/>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C9374"/>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BD1BB"/>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FF3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5EFF4"/>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B292"/>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D86450"/>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98C6E"/>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D55D4C"/>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B191"/>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DD8C4"/>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B191"/>
                    </a:solidFill>
                  </a:tcPr>
                </a:tc>
              </a:tr>
              <a:tr h="333375">
                <a:tc>
                  <a:txBody>
                    <a:bodyPr anchor="ctr">
                      <a:noAutofit/>
                    </a:bodyPr>
                    <a:lstStyle/>
                    <a:p>
                      <a:pPr algn="l">
                        <a:buNone/>
                      </a:pPr>
                      <a:r>
                        <a:rPr sz="1050">
                          <a:solidFill>
                            <a:srgbClr val="000000"/>
                          </a:solidFill>
                          <a:latin typeface="Helvetica Neue"/>
                          <a:ea typeface="Helvetica Neue"/>
                          <a:cs typeface="Helvetica Neue"/>
                        </a:rPr>
                        <a:t>Charge résid. DE</a:t>
                      </a:r>
                    </a:p>
                  </a:txBody>
                  <a:tcPr marL="47625" marR="47625" marT="47625" marB="47625" anchor="ctr">
                    <a:solidFill>
                      <a:srgbClr val="FFFFFF"/>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FF3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EF3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0F4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0F4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1F4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FF3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F6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F1EC"/>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9EBE3"/>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CE0D0"/>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B192"/>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B9071"/>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5826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A8F71"/>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AB8A"/>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DDDCB"/>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9EDE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F7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0F4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0F4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AF1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DF2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FF3F5"/>
                    </a:solidFill>
                  </a:tcPr>
                </a:tc>
              </a:tr>
              <a:tr h="333375">
                <a:tc>
                  <a:txBody>
                    <a:bodyPr anchor="ctr">
                      <a:noAutofit/>
                    </a:bodyPr>
                    <a:lstStyle/>
                    <a:p>
                      <a:pPr algn="l">
                        <a:buNone/>
                      </a:pPr>
                      <a:r>
                        <a:rPr sz="1050">
                          <a:solidFill>
                            <a:srgbClr val="000000"/>
                          </a:solidFill>
                          <a:latin typeface="Helvetica Neue"/>
                          <a:ea typeface="Helvetica Neue"/>
                          <a:cs typeface="Helvetica Neue"/>
                        </a:rPr>
                        <a:t>Charge résid. FR</a:t>
                      </a:r>
                    </a:p>
                  </a:txBody>
                  <a:tcPr marL="47625" marR="47625" marT="47625" marB="47625" anchor="ctr">
                    <a:solidFill>
                      <a:srgbClr val="FFFFFF"/>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F6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F2EE"/>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FF3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3F5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F3F0"/>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F3F1"/>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F3EF"/>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9EFEA"/>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9ECE4"/>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CE0D0"/>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CD8C3"/>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B192"/>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B293"/>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BB9E"/>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9C2A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DD9C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AE8DD"/>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AEBE3"/>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9EFE9"/>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9EFE9"/>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F3F1"/>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F4F2"/>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F5F3"/>
                    </a:solidFill>
                  </a:tcPr>
                </a:tc>
              </a:tr>
              <a:tr h="333375">
                <a:tc>
                  <a:txBody>
                    <a:bodyPr anchor="ctr">
                      <a:noAutofit/>
                    </a:bodyPr>
                    <a:lstStyle/>
                    <a:p>
                      <a:pPr algn="l">
                        <a:buNone/>
                      </a:pPr>
                      <a:r>
                        <a:rPr sz="1050">
                          <a:solidFill>
                            <a:srgbClr val="000000"/>
                          </a:solidFill>
                          <a:latin typeface="Helvetica Neue"/>
                          <a:ea typeface="Helvetica Neue"/>
                          <a:cs typeface="Helvetica Neue"/>
                        </a:rPr>
                        <a:t>Charge résid. ES</a:t>
                      </a:r>
                    </a:p>
                  </a:txBody>
                  <a:tcPr marL="47625" marR="47625" marT="47625" marB="47625" anchor="ctr">
                    <a:solidFill>
                      <a:srgbClr val="FFFFFF"/>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BF1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BF1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BF1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BF1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AF1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8F0F4"/>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5EFF4"/>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7EFF4"/>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AF1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CF2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DF2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FF3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4F6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F7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0F4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BF1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AF1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AF1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CF2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BF2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BF1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CF2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DF2F5"/>
                    </a:solidFill>
                  </a:tcPr>
                </a:tc>
              </a:tr>
              <a:tr h="333375">
                <a:tc>
                  <a:txBody>
                    <a:bodyPr anchor="ctr">
                      <a:noAutofit/>
                    </a:bodyPr>
                    <a:lstStyle/>
                    <a:p>
                      <a:pPr algn="l">
                        <a:buNone/>
                      </a:pPr>
                      <a:r>
                        <a:rPr sz="1050">
                          <a:solidFill>
                            <a:srgbClr val="000000"/>
                          </a:solidFill>
                          <a:latin typeface="Helvetica Neue"/>
                          <a:ea typeface="Helvetica Neue"/>
                          <a:cs typeface="Helvetica Neue"/>
                        </a:rPr>
                        <a:t>Charge résid. BE</a:t>
                      </a:r>
                    </a:p>
                  </a:txBody>
                  <a:tcPr marL="47625" marR="47625" marT="47625" marB="47625" anchor="ctr">
                    <a:solidFill>
                      <a:srgbClr val="FFFFFF"/>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2F5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1F4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FF3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EF3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0F4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CF2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1F4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4F5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2F5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BF1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ECF2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3F5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F6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F3F1"/>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F3F0"/>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F3F0"/>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9EEE8"/>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AEBE2"/>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AE9DF"/>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AEAE1"/>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AE8DE"/>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AE9DF"/>
                    </a:solidFill>
                  </a:tcPr>
                </a:tc>
              </a:tr>
              <a:tr h="333375">
                <a:tc>
                  <a:txBody>
                    <a:bodyPr anchor="ctr">
                      <a:noAutofit/>
                    </a:bodyPr>
                    <a:lstStyle/>
                    <a:p>
                      <a:pPr algn="l">
                        <a:buNone/>
                      </a:pPr>
                      <a:r>
                        <a:rPr sz="1050">
                          <a:solidFill>
                            <a:srgbClr val="000000"/>
                          </a:solidFill>
                          <a:latin typeface="Helvetica Neue"/>
                          <a:ea typeface="Helvetica Neue"/>
                          <a:cs typeface="Helvetica Neue"/>
                        </a:rPr>
                        <a:t>Charge résid. NL</a:t>
                      </a:r>
                    </a:p>
                  </a:txBody>
                  <a:tcPr marL="47625" marR="47625" marT="47625" marB="47625" anchor="ctr">
                    <a:solidFill>
                      <a:srgbClr val="FFFFFF"/>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F7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F7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F6F5"/>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F5F4"/>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F4F2"/>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F5F4"/>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F5F3"/>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F1EE"/>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9F0EB"/>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9EFE9"/>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8F1EC"/>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3F5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1F4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3F5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2F5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4F6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r>
              <a:tr h="333375">
                <a:tc>
                  <a:txBody>
                    <a:bodyPr anchor="ctr">
                      <a:noAutofit/>
                    </a:bodyPr>
                    <a:lstStyle/>
                    <a:p>
                      <a:pPr algn="l">
                        <a:buNone/>
                      </a:pPr>
                      <a:r>
                        <a:rPr sz="1050">
                          <a:solidFill>
                            <a:srgbClr val="000000"/>
                          </a:solidFill>
                          <a:latin typeface="Helvetica Neue"/>
                          <a:ea typeface="Helvetica Neue"/>
                          <a:cs typeface="Helvetica Neue"/>
                        </a:rPr>
                        <a:t>Nucléaire FR</a:t>
                      </a:r>
                    </a:p>
                  </a:txBody>
                  <a:tcPr marL="47625" marR="47625" marT="47625" marB="47625" anchor="ctr">
                    <a:solidFill>
                      <a:srgbClr val="FFFFFF"/>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4F5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4F6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4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4F6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F7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7F6F4"/>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3F5F6"/>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F7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5F6F7"/>
                    </a:solidFill>
                  </a:tcPr>
                </a:tc>
                <a:tc>
                  <a:txBody>
                    <a:bodyPr anchor="ctr">
                      <a:noAutofit/>
                    </a:bodyPr>
                    <a:lstStyle/>
                    <a:p>
                      <a:pPr algn="ctr">
                        <a:buNone/>
                      </a:pPr>
                      <a:r>
                        <a:rPr sz="1050">
                          <a:solidFill>
                            <a:srgbClr val="000000"/>
                          </a:solidFill>
                          <a:latin typeface="Helvetica Neue"/>
                          <a:ea typeface="Helvetica Neue"/>
                          <a:cs typeface="Helvetica Neue"/>
                        </a:rPr>
                        <a:t/>
                      </a:r>
                    </a:p>
                  </a:txBody>
                  <a:tcPr marL="47625" marR="47625" marT="47625" marB="47625" anchor="ctr">
                    <a:solidFill>
                      <a:srgbClr val="F6F7F7"/>
                    </a:solidFill>
                  </a:tcPr>
                </a:tc>
              </a:tr>
            </a:tbl>
          </a:graphicData>
        </a:graphic>
      </p:graphicFrame>
      <p:sp>
        <p:nvSpPr>
          <p:cNvPr id="28" name="">
            <a:extLst xmlns:a="http://schemas.openxmlformats.org/drawingml/2006/main">
              <a:ext uri="{FF2B5EF4-FFF2-40B4-BE49-F238E27FC236}">
                <a16:creationId xmlns:a16="http://schemas.microsoft.com/office/drawing/2014/main" id="{9725574E-CFCA-4B84-A93A-F5FE70446BED}"/>
              </a:ext>
            </a:extLst>
          </p:cNvPr>
          <p:cNvSpPr>
            <a:spLocks xmlns:a="http://schemas.openxmlformats.org/drawingml/2006/main" noGrp="1"/>
          </p:cNvSpPr>
          <p:nvPr/>
        </p:nvSpPr>
        <p:spPr>
          <a:xfrm xmlns:a="http://schemas.openxmlformats.org/drawingml/2006/main">
            <a:off x="7448550" y="4819650"/>
            <a:ext cx="219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a:solidFill>
                  <a:srgbClr val="2166AC"/>
                </a:solidFill>
                <a:latin typeface="Helvetica Neue"/>
                <a:ea typeface="Helvetica Neue"/>
                <a:cs typeface="Helvetica Neue"/>
              </a:defRPr>
            </a:pPr>
            <a:r>
              <a:rPr sz="1200">
                <a:solidFill>
                  <a:srgbClr val="2166AC"/>
                </a:solidFill>
                <a:latin typeface="Helvetica Neue"/>
                <a:ea typeface="Helvetica Neue"/>
                <a:cs typeface="Helvetica Neue"/>
              </a:rPr>
              <a:t>Bleu : baisse de la P50</a:t>
            </a:r>
          </a:p>
        </p:txBody>
      </p:sp>
      <p:sp>
        <p:nvSpPr>
          <p:cNvPr id="29" name="">
            <a:extLst xmlns:a="http://schemas.openxmlformats.org/drawingml/2006/main">
              <a:ext uri="{FF2B5EF4-FFF2-40B4-BE49-F238E27FC236}">
                <a16:creationId xmlns:a16="http://schemas.microsoft.com/office/drawing/2014/main" id="{CB61B72B-20E0-4B73-9EF9-0AD1F066CB6F}"/>
              </a:ext>
            </a:extLst>
          </p:cNvPr>
          <p:cNvSpPr>
            <a:spLocks xmlns:a="http://schemas.openxmlformats.org/drawingml/2006/main" noGrp="1"/>
          </p:cNvSpPr>
          <p:nvPr/>
        </p:nvSpPr>
        <p:spPr>
          <a:xfrm xmlns:a="http://schemas.openxmlformats.org/drawingml/2006/main">
            <a:off x="9677400" y="4819650"/>
            <a:ext cx="2114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a:solidFill>
                  <a:srgbClr val="B2182B"/>
                </a:solidFill>
                <a:latin typeface="Helvetica Neue"/>
                <a:ea typeface="Helvetica Neue"/>
                <a:cs typeface="Helvetica Neue"/>
              </a:defRPr>
            </a:pPr>
            <a:r>
              <a:rPr sz="1200">
                <a:solidFill>
                  <a:srgbClr val="B2182B"/>
                </a:solidFill>
                <a:latin typeface="Helvetica Neue"/>
                <a:ea typeface="Helvetica Neue"/>
                <a:cs typeface="Helvetica Neue"/>
              </a:rPr>
              <a:t>Rouge : hausse de la P50</a:t>
            </a:r>
          </a:p>
        </p:txBody>
      </p:sp>
      <p:sp>
        <p:nvSpPr>
          <p:cNvPr id="30" name="">
            <a:extLst xmlns:a="http://schemas.openxmlformats.org/drawingml/2006/main">
              <a:ext uri="{FF2B5EF4-FFF2-40B4-BE49-F238E27FC236}">
                <a16:creationId xmlns:a16="http://schemas.microsoft.com/office/drawing/2014/main" id="{2B440D0D-CFD8-47EE-9AC9-2E0BBD35E36A}"/>
              </a:ext>
            </a:extLst>
          </p:cNvPr>
          <p:cNvSpPr>
            <a:spLocks xmlns:a="http://schemas.openxmlformats.org/drawingml/2006/main" noGrp="1"/>
          </p:cNvSpPr>
          <p:nvPr/>
        </p:nvSpPr>
        <p:spPr>
          <a:xfrm xmlns:a="http://schemas.openxmlformats.org/drawingml/2006/main">
            <a:off x="7448550" y="5067300"/>
            <a:ext cx="4343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050">
                <a:solidFill>
                  <a:srgbClr val="545A64"/>
                </a:solidFill>
                <a:latin typeface="Helvetica Neue"/>
                <a:ea typeface="Helvetica Neue"/>
                <a:cs typeface="Helvetica Neue"/>
              </a:defRPr>
            </a:pPr>
            <a:r>
              <a:rPr sz="1050">
                <a:solidFill>
                  <a:srgbClr val="545A64"/>
                </a:solidFill>
                <a:latin typeface="Helvetica Neue"/>
                <a:ea typeface="Helvetica Neue"/>
                <a:cs typeface="Helvetica Neue"/>
              </a:rPr>
              <a:t>Échelle symétrique : −43,2 à +43,2 EUR/MWh</a:t>
            </a:r>
          </a:p>
        </p:txBody>
      </p:sp>
      <p:sp>
        <p:nvSpPr>
          <p:cNvPr id="31" name="">
            <a:extLst xmlns:a="http://schemas.openxmlformats.org/drawingml/2006/main">
              <a:ext uri="{FF2B5EF4-FFF2-40B4-BE49-F238E27FC236}">
                <a16:creationId xmlns:a16="http://schemas.microsoft.com/office/drawing/2014/main" id="{98452658-B0D7-4313-977A-1B12D6F1B215}"/>
              </a:ext>
            </a:extLst>
          </p:cNvPr>
          <p:cNvSpPr>
            <a:spLocks xmlns:a="http://schemas.openxmlformats.org/drawingml/2006/main" noGrp="1"/>
          </p:cNvSpPr>
          <p:nvPr/>
        </p:nvSpPr>
        <p:spPr>
          <a:xfrm xmlns:a="http://schemas.openxmlformats.org/drawingml/2006/main">
            <a:off x="390525" y="5286375"/>
            <a:ext cx="11401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136,24 + 27,09 = 163,33 EUR/MWh</a:t>
            </a:r>
          </a:p>
        </p:txBody>
      </p:sp>
      <p:sp>
        <p:nvSpPr>
          <p:cNvPr id="32" name="">
            <a:extLst xmlns:a="http://schemas.openxmlformats.org/drawingml/2006/main">
              <a:ext uri="{FF2B5EF4-FFF2-40B4-BE49-F238E27FC236}">
                <a16:creationId xmlns:a16="http://schemas.microsoft.com/office/drawing/2014/main" id="{6A19E7FA-22B9-4659-80D9-90A7DFC7D60F}"/>
              </a:ext>
            </a:extLst>
          </p:cNvPr>
          <p:cNvSpPr>
            <a:spLocks xmlns:a="http://schemas.openxmlformats.org/drawingml/2006/main" noGrp="1"/>
          </p:cNvSpPr>
          <p:nvPr/>
        </p:nvSpPr>
        <p:spPr>
          <a:xfrm xmlns:a="http://schemas.openxmlformats.org/drawingml/2006/main">
            <a:off x="390525" y="5791200"/>
            <a:ext cx="11401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Référence historique + somme des contributions moyennes = P50 amont moyenne du jour</a:t>
            </a:r>
          </a:p>
        </p:txBody>
      </p:sp>
      <p:sp>
        <p:nvSpPr>
          <p:cNvPr id="33" name="">
            <a:extLst xmlns:a="http://schemas.openxmlformats.org/drawingml/2006/main">
              <a:ext uri="{FF2B5EF4-FFF2-40B4-BE49-F238E27FC236}">
                <a16:creationId xmlns:a16="http://schemas.microsoft.com/office/drawing/2014/main" id="{0C52E502-F708-4B43-9D6F-5A5470A49C60}"/>
              </a:ext>
            </a:extLst>
          </p:cNvPr>
          <p:cNvSpPr>
            <a:spLocks xmlns:a="http://schemas.openxmlformats.org/drawingml/2006/main" noGrp="1"/>
          </p:cNvSpPr>
          <p:nvPr/>
        </p:nvSpPr>
        <p:spPr>
          <a:xfrm xmlns:a="http://schemas.openxmlformats.org/drawingml/2006/main">
            <a:off x="390525" y="6124575"/>
            <a:ext cx="11401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a:solidFill>
                  <a:srgbClr val="545A64"/>
                </a:solidFill>
                <a:latin typeface="Helvetica Neue"/>
                <a:ea typeface="Helvetica Neue"/>
                <a:cs typeface="Helvetica Neue"/>
              </a:defRPr>
            </a:pPr>
            <a:r>
              <a:rPr sz="1425">
                <a:solidFill>
                  <a:srgbClr val="545A64"/>
                </a:solidFill>
                <a:latin typeface="Helvetica Neue"/>
                <a:ea typeface="Helvetica Neue"/>
                <a:cs typeface="Helvetica Neue"/>
              </a:rPr>
              <a:t>Les % répartissent l’influence absolue. La carte montre le sens et l’intensité de chaque contribution.</a:t>
            </a:r>
          </a:p>
        </p:txBody>
      </p:sp>
      <p:sp>
        <p:nvSpPr>
          <p:cNvPr id="34" name="">
            <a:extLst xmlns:a="http://schemas.openxmlformats.org/drawingml/2006/main">
              <a:ext uri="{FF2B5EF4-FFF2-40B4-BE49-F238E27FC236}">
                <a16:creationId xmlns:a16="http://schemas.microsoft.com/office/drawing/2014/main" id="{CAE1E116-3D79-4E2C-BE7B-9B0B6549E87C}"/>
              </a:ext>
            </a:extLst>
          </p:cNvPr>
          <p:cNvSpPr>
            <a:spLocks xmlns:a="http://schemas.openxmlformats.org/drawingml/2006/main" noGrp="1"/>
          </p:cNvSpPr>
          <p:nvPr/>
        </p:nvSpPr>
        <p:spPr>
          <a:xfrm xmlns:a="http://schemas.openxmlformats.org/drawingml/2006/main">
            <a:off x="390525" y="6400800"/>
            <a:ext cx="11401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975">
                <a:solidFill>
                  <a:srgbClr val="545A64"/>
                </a:solidFill>
                <a:latin typeface="Helvetica Neue"/>
                <a:ea typeface="Helvetica Neue"/>
                <a:cs typeface="Helvetica Neue"/>
              </a:defRPr>
            </a:pPr>
            <a:r>
              <a:rPr sz="975">
                <a:solidFill>
                  <a:srgbClr val="545A64"/>
                </a:solidFill>
                <a:latin typeface="Helvetica Neue"/>
                <a:ea typeface="Helvetica Neue"/>
                <a:cs typeface="Helvetica Neue"/>
              </a:rPr>
              <a:t>Sensibilité locale du 09/09/2026, relative à une médiane historique sur 56 jours. Ces influences ne mesurent pas un effet causal de marché.</a:t>
            </a:r>
          </a:p>
        </p:txBody>
      </p:sp>
    </p:spTree>
    <p:extLst>
      <p:ext uri="{BB962C8B-B14F-4D97-AF65-F5344CB8AC3E}">
        <p14:creationId xmlns:p14="http://schemas.microsoft.com/office/powerpoint/2010/main" val="19196696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2026-09-08T16:12:53.6980000Z</dcterms:created>
  <dcterms:modified xsi:type="dcterms:W3CDTF">2026-09-08T16:12:53.6980000Z</dcterms:modified>
</coreProperties>
</file>