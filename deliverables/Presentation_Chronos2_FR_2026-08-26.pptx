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Dérouler la chaîne de gauche à droite. Insister sur la causalité : aucune information connue après l’heure du forecast n’est utilisée. Storm est un benchmark ex-post, jamais une variable d’entrée.</a:t>
            </a:r>
          </a:p>
          <a:p>
            <a:endParaRPr/>
          </a:p>
          <a:p>
            <a:r>
              <a:t>[Sources]</a:t>
            </a:r>
          </a:p>
          <a:p>
            <a:r>
              <a:t>- C:/Users/BQ6757/Downloads/Présentation courte — Forecast Fran.txt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Chronos-2 apporte une base probabiliste générale. Le correcteur ne re-prédit pas directement le prix : il prédit le résidu. Les deux algorithmes sont des ensembles d’arbres construits séquentiellement. CatBoost capte bien les interactions complexes ; HistGradientBoosting regroupe les valeurs en intervalles pour apprendre efficacement. Leurs sorties sont moyennées. À chaque forecast, les modèles sont recréés sur le même historique figé : il s’agit d’un réentraînement technique, pas d’un recalibrage avec les toutes dernières observations. Le même déplacement est ajouté à P10, P50 et P90, donc la largeur de la bande reste inchangée.</a:t>
            </a:r>
          </a:p>
          <a:p>
            <a:endParaRPr/>
          </a:p>
          <a:p>
            <a:r>
              <a:t>[Sources]</a:t>
            </a:r>
          </a:p>
          <a:p>
            <a:r>
              <a:t>- C:/Users/BQ6757/Downloads/Présentation courte — Forecast Fran.txt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Le </a:t>
            </a:r>
            <a:r>
              <a:rPr dirty="0" err="1"/>
              <a:t>correcteur</a:t>
            </a:r>
            <a:r>
              <a:rPr dirty="0"/>
              <a:t> </a:t>
            </a:r>
            <a:r>
              <a:rPr dirty="0" err="1"/>
              <a:t>réduit</a:t>
            </a:r>
            <a:r>
              <a:rPr dirty="0"/>
              <a:t> la MAE de Chronos-2 </a:t>
            </a:r>
            <a:r>
              <a:rPr dirty="0" err="1"/>
              <a:t>d’environ</a:t>
            </a:r>
            <a:r>
              <a:rPr dirty="0"/>
              <a:t> 5 %, à 12,44 €/MWh, avec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corrélation</a:t>
            </a:r>
            <a:r>
              <a:rPr dirty="0"/>
              <a:t> de 0,93. Storm conserve </a:t>
            </a:r>
            <a:r>
              <a:rPr dirty="0" err="1"/>
              <a:t>une</a:t>
            </a:r>
            <a:r>
              <a:rPr dirty="0"/>
              <a:t> MAE plus </a:t>
            </a:r>
            <a:r>
              <a:rPr dirty="0" err="1"/>
              <a:t>basse</a:t>
            </a:r>
            <a:r>
              <a:rPr dirty="0"/>
              <a:t>, à 11,67 €/MWh, et le </a:t>
            </a:r>
            <a:r>
              <a:rPr dirty="0" err="1"/>
              <a:t>modèle</a:t>
            </a:r>
            <a:r>
              <a:rPr dirty="0"/>
              <a:t> </a:t>
            </a:r>
            <a:r>
              <a:rPr dirty="0" err="1"/>
              <a:t>gagne</a:t>
            </a:r>
            <a:r>
              <a:rPr dirty="0"/>
              <a:t> 47,56 % des </a:t>
            </a:r>
            <a:r>
              <a:rPr dirty="0" err="1"/>
              <a:t>heures</a:t>
            </a:r>
            <a:r>
              <a:rPr dirty="0"/>
              <a:t> face à </a:t>
            </a:r>
            <a:r>
              <a:rPr dirty="0" err="1"/>
              <a:t>lui</a:t>
            </a:r>
            <a:r>
              <a:rPr dirty="0"/>
              <a:t>. Le message final est </a:t>
            </a:r>
            <a:r>
              <a:rPr dirty="0" err="1"/>
              <a:t>donc</a:t>
            </a:r>
            <a:r>
              <a:rPr dirty="0"/>
              <a:t> </a:t>
            </a:r>
            <a:r>
              <a:rPr dirty="0" err="1"/>
              <a:t>équilibré</a:t>
            </a:r>
            <a:r>
              <a:rPr dirty="0"/>
              <a:t> : gain </a:t>
            </a:r>
            <a:r>
              <a:rPr dirty="0" err="1"/>
              <a:t>réel</a:t>
            </a:r>
            <a:r>
              <a:rPr dirty="0"/>
              <a:t> par rapport à la base, </a:t>
            </a:r>
            <a:r>
              <a:rPr dirty="0" err="1"/>
              <a:t>mais</a:t>
            </a:r>
            <a:r>
              <a:rPr dirty="0"/>
              <a:t> marge </a:t>
            </a:r>
            <a:r>
              <a:rPr dirty="0" err="1"/>
              <a:t>d’amélioration</a:t>
            </a:r>
            <a:r>
              <a:rPr dirty="0"/>
              <a:t> encore visible face au benchmark.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C:/Users/BQ6757/chronos2_v1/runs/exports/2026-08-26/fr/autonomous/forecast_fr_2026-08-26_autonomous.html</a:t>
            </a:r>
          </a:p>
          <a:p>
            <a:r>
              <a:rPr dirty="0"/>
              <a:t>- C:/Users/BQ6757/Downloads/Présentation </a:t>
            </a:r>
            <a:r>
              <a:rPr dirty="0" err="1"/>
              <a:t>courte</a:t>
            </a:r>
            <a:r>
              <a:rPr dirty="0"/>
              <a:t> — Forecast Fran.txt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pipeline-line"/>
          <p:cNvCxnSpPr/>
          <p:nvPr/>
        </p:nvCxnSpPr>
        <p:spPr>
          <a:xfrm>
            <a:off x="742950" y="2924175"/>
            <a:ext cx="10410825" cy="286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F35C8BCF-B89D-4DAB-9AD5-B9A7EAE76FDC}"/>
              </a:ext>
            </a:extLst>
          </p:cNvPr>
          <p:cNvSpPr>
            <a:spLocks noGrp="1"/>
          </p:cNvSpPr>
          <p:nvPr/>
        </p:nvSpPr>
        <p:spPr>
          <a:xfrm>
            <a:off x="742950" y="2143125"/>
            <a:ext cx="1714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D−1</a:t>
            </a:r>
          </a:p>
        </p:txBody>
      </p:sp>
      <p:sp>
        <p:nvSpPr>
          <p:cNvPr id="5" name="node-0">
            <a:extLst>
              <a:ext uri="{FF2B5EF4-FFF2-40B4-BE49-F238E27FC236}">
                <a16:creationId xmlns:a16="http://schemas.microsoft.com/office/drawing/2014/main" id="{1CAD7742-B40A-4FFD-85FC-91883BD342B6}"/>
              </a:ext>
            </a:extLst>
          </p:cNvPr>
          <p:cNvSpPr>
            <a:spLocks noGrp="1"/>
          </p:cNvSpPr>
          <p:nvPr/>
        </p:nvSpPr>
        <p:spPr>
          <a:xfrm>
            <a:off x="742950" y="2800350"/>
            <a:ext cx="247650" cy="24765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0E061F-272F-4058-8CE8-ED422DBAF0D7}"/>
              </a:ext>
            </a:extLst>
          </p:cNvPr>
          <p:cNvSpPr>
            <a:spLocks noGrp="1"/>
          </p:cNvSpPr>
          <p:nvPr/>
        </p:nvSpPr>
        <p:spPr>
          <a:xfrm>
            <a:off x="742950" y="3371850"/>
            <a:ext cx="18097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Entrées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11D0B5-DB25-4DC5-994D-B44D64608346}"/>
              </a:ext>
            </a:extLst>
          </p:cNvPr>
          <p:cNvSpPr>
            <a:spLocks noGrp="1"/>
          </p:cNvSpPr>
          <p:nvPr/>
        </p:nvSpPr>
        <p:spPr>
          <a:xfrm>
            <a:off x="742950" y="3848100"/>
            <a:ext cx="1733550" cy="11906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33363B"/>
                </a:solidFill>
                <a:latin typeface="Helvetica Neue"/>
                <a:ea typeface="Helvetica Neue"/>
                <a:cs typeface="Helvetica Neue"/>
              </a:defRPr>
            </a:pPr>
            <a:r>
              <a:t>Prix récents
Calendrier
Charges résiduelles
FR, DE, BE, NL, 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69B013-C86B-454C-AAF6-EB0506A39480}"/>
              </a:ext>
            </a:extLst>
          </p:cNvPr>
          <p:cNvSpPr>
            <a:spLocks noGrp="1"/>
          </p:cNvSpPr>
          <p:nvPr/>
        </p:nvSpPr>
        <p:spPr>
          <a:xfrm>
            <a:off x="2943225" y="2143125"/>
            <a:ext cx="1714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BASE</a:t>
            </a:r>
          </a:p>
        </p:txBody>
      </p:sp>
      <p:sp>
        <p:nvSpPr>
          <p:cNvPr id="9" name="node-1">
            <a:extLst>
              <a:ext uri="{FF2B5EF4-FFF2-40B4-BE49-F238E27FC236}">
                <a16:creationId xmlns:a16="http://schemas.microsoft.com/office/drawing/2014/main" id="{8735B57C-9C73-4DD8-BAA0-FA51DA012AC5}"/>
              </a:ext>
            </a:extLst>
          </p:cNvPr>
          <p:cNvSpPr>
            <a:spLocks noGrp="1"/>
          </p:cNvSpPr>
          <p:nvPr/>
        </p:nvSpPr>
        <p:spPr>
          <a:xfrm>
            <a:off x="2943225" y="2800350"/>
            <a:ext cx="247650" cy="2476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4B5182-1A16-440B-A11B-344220DE1ABA}"/>
              </a:ext>
            </a:extLst>
          </p:cNvPr>
          <p:cNvSpPr>
            <a:spLocks noGrp="1"/>
          </p:cNvSpPr>
          <p:nvPr/>
        </p:nvSpPr>
        <p:spPr>
          <a:xfrm>
            <a:off x="2943225" y="3371850"/>
            <a:ext cx="18097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Chronos-2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9FE012-5EAD-4BA6-A2AA-646E4764DD27}"/>
              </a:ext>
            </a:extLst>
          </p:cNvPr>
          <p:cNvSpPr>
            <a:spLocks noGrp="1"/>
          </p:cNvSpPr>
          <p:nvPr/>
        </p:nvSpPr>
        <p:spPr>
          <a:xfrm>
            <a:off x="2943225" y="3848100"/>
            <a:ext cx="1733550" cy="11906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33363B"/>
                </a:solidFill>
                <a:latin typeface="Helvetica Neue"/>
                <a:ea typeface="Helvetica Neue"/>
                <a:cs typeface="Helvetica Neue"/>
              </a:defRPr>
            </a:pPr>
            <a:r>
              <a:t>Construit la forme
de la journée et
produit P10, P50, P90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9C7203-255C-4718-98C2-4596D99845F1}"/>
              </a:ext>
            </a:extLst>
          </p:cNvPr>
          <p:cNvSpPr>
            <a:spLocks noGrp="1"/>
          </p:cNvSpPr>
          <p:nvPr/>
        </p:nvSpPr>
        <p:spPr>
          <a:xfrm>
            <a:off x="5143500" y="2143125"/>
            <a:ext cx="1714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AJUST.</a:t>
            </a:r>
          </a:p>
        </p:txBody>
      </p:sp>
      <p:sp>
        <p:nvSpPr>
          <p:cNvPr id="13" name="node-2">
            <a:extLst>
              <a:ext uri="{FF2B5EF4-FFF2-40B4-BE49-F238E27FC236}">
                <a16:creationId xmlns:a16="http://schemas.microsoft.com/office/drawing/2014/main" id="{22E272CC-3963-43AC-8B12-EF6C4727AE9D}"/>
              </a:ext>
            </a:extLst>
          </p:cNvPr>
          <p:cNvSpPr>
            <a:spLocks noGrp="1"/>
          </p:cNvSpPr>
          <p:nvPr/>
        </p:nvSpPr>
        <p:spPr>
          <a:xfrm>
            <a:off x="5143500" y="2800350"/>
            <a:ext cx="247650" cy="247650"/>
          </a:xfrm>
          <a:prstGeom prst="ellipse">
            <a:avLst/>
          </a:prstGeom>
          <a:solidFill>
            <a:srgbClr val="6DCBF4"/>
          </a:solidFill>
          <a:ln w="0">
            <a:solidFill>
              <a:srgbClr val="6DCB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58EAF4-0C53-4DED-92E9-97E728A0E858}"/>
              </a:ext>
            </a:extLst>
          </p:cNvPr>
          <p:cNvSpPr>
            <a:spLocks noGrp="1"/>
          </p:cNvSpPr>
          <p:nvPr/>
        </p:nvSpPr>
        <p:spPr>
          <a:xfrm>
            <a:off x="5143500" y="3371850"/>
            <a:ext cx="18097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Correcteur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A2A9E2-CA39-42EA-A114-2E7411A28598}"/>
              </a:ext>
            </a:extLst>
          </p:cNvPr>
          <p:cNvSpPr>
            <a:spLocks noGrp="1"/>
          </p:cNvSpPr>
          <p:nvPr/>
        </p:nvSpPr>
        <p:spPr>
          <a:xfrm>
            <a:off x="5143500" y="3848100"/>
            <a:ext cx="1733550" cy="11906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33363B"/>
                </a:solidFill>
                <a:latin typeface="Helvetica Neue"/>
                <a:ea typeface="Helvetica Neue"/>
                <a:cs typeface="Helvetica Neue"/>
              </a:defRPr>
            </a:pPr>
            <a:r>
              <a:t>Anticipe l’erreur
récurrente et déplace
les trois quantiles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6A89EC-F143-4CA4-B2E6-7BC7EA36E95F}"/>
              </a:ext>
            </a:extLst>
          </p:cNvPr>
          <p:cNvSpPr>
            <a:spLocks noGrp="1"/>
          </p:cNvSpPr>
          <p:nvPr/>
        </p:nvSpPr>
        <p:spPr>
          <a:xfrm>
            <a:off x="7343775" y="2143125"/>
            <a:ext cx="1714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GEL</a:t>
            </a:r>
          </a:p>
        </p:txBody>
      </p:sp>
      <p:sp>
        <p:nvSpPr>
          <p:cNvPr id="17" name="node-3">
            <a:extLst>
              <a:ext uri="{FF2B5EF4-FFF2-40B4-BE49-F238E27FC236}">
                <a16:creationId xmlns:a16="http://schemas.microsoft.com/office/drawing/2014/main" id="{F43E8C3C-E908-4138-A27B-54C640160517}"/>
              </a:ext>
            </a:extLst>
          </p:cNvPr>
          <p:cNvSpPr>
            <a:spLocks noGrp="1"/>
          </p:cNvSpPr>
          <p:nvPr/>
        </p:nvSpPr>
        <p:spPr>
          <a:xfrm>
            <a:off x="7343775" y="2800350"/>
            <a:ext cx="247650" cy="24765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0DE633-E0B5-48E0-9EBA-4B54914012C9}"/>
              </a:ext>
            </a:extLst>
          </p:cNvPr>
          <p:cNvSpPr>
            <a:spLocks noGrp="1"/>
          </p:cNvSpPr>
          <p:nvPr/>
        </p:nvSpPr>
        <p:spPr>
          <a:xfrm>
            <a:off x="7343775" y="3371850"/>
            <a:ext cx="18097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Contrôles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C67745-7E43-49D8-893C-F0078532FBBF}"/>
              </a:ext>
            </a:extLst>
          </p:cNvPr>
          <p:cNvSpPr>
            <a:spLocks noGrp="1"/>
          </p:cNvSpPr>
          <p:nvPr/>
        </p:nvSpPr>
        <p:spPr>
          <a:xfrm>
            <a:off x="7343775" y="3848100"/>
            <a:ext cx="1733550" cy="11906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33363B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/>
              <a:t>24 </a:t>
            </a:r>
            <a:r>
              <a:rPr dirty="0" err="1"/>
              <a:t>heures</a:t>
            </a:r>
            <a:r>
              <a:rPr dirty="0"/>
              <a:t>
P10 ≤ P50 ≤ P90
Absence de </a:t>
            </a:r>
            <a:r>
              <a:rPr dirty="0" err="1"/>
              <a:t>fuite</a:t>
            </a:r>
            <a:r>
              <a:rPr dirty="0"/>
              <a:t> future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1858A03-F067-4C37-822B-C016CA9D8D96}"/>
              </a:ext>
            </a:extLst>
          </p:cNvPr>
          <p:cNvSpPr>
            <a:spLocks noGrp="1"/>
          </p:cNvSpPr>
          <p:nvPr/>
        </p:nvSpPr>
        <p:spPr>
          <a:xfrm>
            <a:off x="9544050" y="2143125"/>
            <a:ext cx="1714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APRÈS</a:t>
            </a:r>
          </a:p>
        </p:txBody>
      </p:sp>
      <p:sp>
        <p:nvSpPr>
          <p:cNvPr id="21" name="node-4">
            <a:extLst>
              <a:ext uri="{FF2B5EF4-FFF2-40B4-BE49-F238E27FC236}">
                <a16:creationId xmlns:a16="http://schemas.microsoft.com/office/drawing/2014/main" id="{60212B1A-1073-4272-9F68-7D33A2CC238D}"/>
              </a:ext>
            </a:extLst>
          </p:cNvPr>
          <p:cNvSpPr>
            <a:spLocks noGrp="1"/>
          </p:cNvSpPr>
          <p:nvPr/>
        </p:nvSpPr>
        <p:spPr>
          <a:xfrm>
            <a:off x="9544050" y="2800350"/>
            <a:ext cx="247650" cy="24765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303BA9-BD25-4764-BF47-020EF1D1B383}"/>
              </a:ext>
            </a:extLst>
          </p:cNvPr>
          <p:cNvSpPr>
            <a:spLocks noGrp="1"/>
          </p:cNvSpPr>
          <p:nvPr/>
        </p:nvSpPr>
        <p:spPr>
          <a:xfrm>
            <a:off x="9544050" y="3371850"/>
            <a:ext cx="18097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Évaluation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DC1D61-85F5-4FE5-BB9D-C4AE16BCAC6C}"/>
              </a:ext>
            </a:extLst>
          </p:cNvPr>
          <p:cNvSpPr>
            <a:spLocks noGrp="1"/>
          </p:cNvSpPr>
          <p:nvPr/>
        </p:nvSpPr>
        <p:spPr>
          <a:xfrm>
            <a:off x="9544050" y="3848100"/>
            <a:ext cx="1733550" cy="11906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33363B"/>
                </a:solidFill>
                <a:latin typeface="Helvetica Neue"/>
                <a:ea typeface="Helvetica Neue"/>
                <a:cs typeface="Helvetica Neue"/>
              </a:defRPr>
            </a:pPr>
            <a:r>
              <a:t>Prix réels, métriques
et comparaison à Storm
uniquement après coup</a:t>
            </a:r>
          </a:p>
        </p:txBody>
      </p:sp>
    </p:spTree>
    <p:extLst>
      <p:ext uri="{BB962C8B-B14F-4D97-AF65-F5344CB8AC3E}">
        <p14:creationId xmlns:p14="http://schemas.microsoft.com/office/powerpoint/2010/main" val="2119224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5FB4E6-77B9-44C2-A423-FA6CD477C642}"/>
              </a:ext>
            </a:extLst>
          </p:cNvPr>
          <p:cNvSpPr>
            <a:spLocks noGrp="1"/>
          </p:cNvSpPr>
          <p:nvPr/>
        </p:nvSpPr>
        <p:spPr>
          <a:xfrm>
            <a:off x="390525" y="1047750"/>
            <a:ext cx="11401425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4D5158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/>
              <a:t>Chronos-2 </a:t>
            </a:r>
            <a:r>
              <a:rPr dirty="0" err="1"/>
              <a:t>construit</a:t>
            </a:r>
            <a:r>
              <a:rPr dirty="0"/>
              <a:t> la </a:t>
            </a:r>
            <a:r>
              <a:rPr dirty="0" err="1"/>
              <a:t>prévision</a:t>
            </a:r>
            <a:r>
              <a:rPr dirty="0"/>
              <a:t> de base ; le </a:t>
            </a:r>
            <a:r>
              <a:rPr dirty="0" err="1"/>
              <a:t>correcteur</a:t>
            </a:r>
            <a:r>
              <a:rPr dirty="0"/>
              <a:t> </a:t>
            </a:r>
            <a:r>
              <a:rPr dirty="0" err="1"/>
              <a:t>apprend</a:t>
            </a:r>
            <a:r>
              <a:rPr dirty="0"/>
              <a:t> </a:t>
            </a:r>
            <a:r>
              <a:rPr dirty="0" err="1"/>
              <a:t>quand</a:t>
            </a:r>
            <a:r>
              <a:rPr dirty="0"/>
              <a:t> </a:t>
            </a:r>
            <a:r>
              <a:rPr dirty="0" err="1"/>
              <a:t>cette</a:t>
            </a:r>
            <a:r>
              <a:rPr dirty="0"/>
              <a:t> base se trompe.</a:t>
            </a:r>
          </a:p>
        </p:txBody>
      </p:sp>
      <p:sp>
        <p:nvSpPr>
          <p:cNvPr id="3" name="chronos-card">
            <a:extLst>
              <a:ext uri="{FF2B5EF4-FFF2-40B4-BE49-F238E27FC236}">
                <a16:creationId xmlns:a16="http://schemas.microsoft.com/office/drawing/2014/main" id="{771C84A8-3E39-4B61-81B5-E56E9B6623E3}"/>
              </a:ext>
            </a:extLst>
          </p:cNvPr>
          <p:cNvSpPr>
            <a:spLocks noGrp="1"/>
          </p:cNvSpPr>
          <p:nvPr/>
        </p:nvSpPr>
        <p:spPr>
          <a:xfrm>
            <a:off x="390525" y="1724025"/>
            <a:ext cx="5534025" cy="4105275"/>
          </a:xfrm>
          <a:prstGeom prst="roundRect">
            <a:avLst>
              <a:gd name="adj" fmla="val 1856"/>
            </a:avLst>
          </a:prstGeom>
          <a:solidFill>
            <a:srgbClr val="F2F2F2"/>
          </a:solidFill>
          <a:ln w="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corrector-card">
            <a:extLst>
              <a:ext uri="{FF2B5EF4-FFF2-40B4-BE49-F238E27FC236}">
                <a16:creationId xmlns:a16="http://schemas.microsoft.com/office/drawing/2014/main" id="{FDAC1C5A-6FE0-4230-9924-6388765D6478}"/>
              </a:ext>
            </a:extLst>
          </p:cNvPr>
          <p:cNvSpPr>
            <a:spLocks noGrp="1"/>
          </p:cNvSpPr>
          <p:nvPr/>
        </p:nvSpPr>
        <p:spPr>
          <a:xfrm>
            <a:off x="6257925" y="1724025"/>
            <a:ext cx="5534025" cy="4105275"/>
          </a:xfrm>
          <a:prstGeom prst="roundRect">
            <a:avLst>
              <a:gd name="adj" fmla="val 1856"/>
            </a:avLst>
          </a:prstGeom>
          <a:solidFill>
            <a:srgbClr val="F2F2F2"/>
          </a:solidFill>
          <a:ln w="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tage-one">
            <a:extLst>
              <a:ext uri="{FF2B5EF4-FFF2-40B4-BE49-F238E27FC236}">
                <a16:creationId xmlns:a16="http://schemas.microsoft.com/office/drawing/2014/main" id="{1AC672EE-A12B-4DEC-9EE3-A3F668C53005}"/>
              </a:ext>
            </a:extLst>
          </p:cNvPr>
          <p:cNvSpPr>
            <a:spLocks noGrp="1"/>
          </p:cNvSpPr>
          <p:nvPr/>
        </p:nvSpPr>
        <p:spPr>
          <a:xfrm>
            <a:off x="685800" y="2009775"/>
            <a:ext cx="342900" cy="34290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43A6EC-D5F1-4805-B716-C9A71CEBBEEF}"/>
              </a:ext>
            </a:extLst>
          </p:cNvPr>
          <p:cNvSpPr>
            <a:spLocks noGrp="1"/>
          </p:cNvSpPr>
          <p:nvPr/>
        </p:nvSpPr>
        <p:spPr>
          <a:xfrm>
            <a:off x="781050" y="2066925"/>
            <a:ext cx="1524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A83A88-CCE1-46AF-8AFB-7468C3D91FB1}"/>
              </a:ext>
            </a:extLst>
          </p:cNvPr>
          <p:cNvSpPr>
            <a:spLocks noGrp="1"/>
          </p:cNvSpPr>
          <p:nvPr/>
        </p:nvSpPr>
        <p:spPr>
          <a:xfrm>
            <a:off x="1190625" y="1971675"/>
            <a:ext cx="381000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Chronos-2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78DF05-50E5-43D6-BAED-56BA531FB5F8}"/>
              </a:ext>
            </a:extLst>
          </p:cNvPr>
          <p:cNvSpPr>
            <a:spLocks noGrp="1"/>
          </p:cNvSpPr>
          <p:nvPr/>
        </p:nvSpPr>
        <p:spPr>
          <a:xfrm>
            <a:off x="685800" y="2581275"/>
            <a:ext cx="4762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Modèle pré-entraîné de séries temporelles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1B3045-75AE-41A3-91B3-BC4894148697}"/>
              </a:ext>
            </a:extLst>
          </p:cNvPr>
          <p:cNvSpPr>
            <a:spLocks noGrp="1"/>
          </p:cNvSpPr>
          <p:nvPr/>
        </p:nvSpPr>
        <p:spPr>
          <a:xfrm>
            <a:off x="685800" y="3086100"/>
            <a:ext cx="4714875" cy="1352550"/>
          </a:xfrm>
          <a:prstGeom prst="rect">
            <a:avLst/>
          </a:prstGeom>
        </p:spPr>
        <p:txBody>
          <a:bodyPr wrap="square" lIns="0" tIns="0" rIns="0" bIns="0" anchor="t">
            <a:normAutofit fontScale="92500" lnSpcReduction="10000"/>
          </a:bodyPr>
          <a:lstStyle/>
          <a:p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/>
              <a:t>• </a:t>
            </a:r>
            <a:r>
              <a:rPr dirty="0" err="1"/>
              <a:t>Jusqu’à</a:t>
            </a:r>
            <a:r>
              <a:rPr dirty="0"/>
              <a:t> 2 048 </a:t>
            </a:r>
            <a:r>
              <a:rPr dirty="0" err="1"/>
              <a:t>heures</a:t>
            </a:r>
            <a:r>
              <a:rPr dirty="0"/>
              <a:t> de prix </a:t>
            </a:r>
            <a:r>
              <a:rPr dirty="0" err="1"/>
              <a:t>récent</a:t>
            </a:r>
            <a:r>
              <a:rPr dirty="0"/>
              <a:t>
• </a:t>
            </a:r>
            <a:r>
              <a:rPr lang="fr-FR" dirty="0"/>
              <a:t>le calendrier : heure, jour de la semaine, week-end et jours fériés ;</a:t>
            </a:r>
          </a:p>
          <a:p>
            <a:pPr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GB" dirty="0"/>
              <a:t>• </a:t>
            </a:r>
            <a:r>
              <a:rPr lang="fr-FR" dirty="0"/>
              <a:t>Les prévisions de charge résiduelle des cinq pays, déjà connues pour le lendemain.</a:t>
            </a:r>
          </a:p>
          <a:p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/>
              <a:t>
• </a:t>
            </a:r>
            <a:r>
              <a:rPr dirty="0" err="1"/>
              <a:t>Produit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distribution, pas un point unique</a:t>
            </a:r>
          </a:p>
        </p:txBody>
      </p:sp>
      <p:cxnSp>
        <p:nvCxnSpPr>
          <p:cNvPr id="36" name="quantile-rule"/>
          <p:cNvCxnSpPr/>
          <p:nvPr/>
        </p:nvCxnSpPr>
        <p:spPr>
          <a:xfrm>
            <a:off x="685800" y="4686300"/>
            <a:ext cx="4705350" cy="286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71372222-2CE9-4EA9-B32C-1E5CEB651B43}"/>
              </a:ext>
            </a:extLst>
          </p:cNvPr>
          <p:cNvSpPr>
            <a:spLocks noGrp="1"/>
          </p:cNvSpPr>
          <p:nvPr/>
        </p:nvSpPr>
        <p:spPr>
          <a:xfrm>
            <a:off x="742950" y="4943475"/>
            <a:ext cx="7429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479AC0"/>
                </a:solidFill>
                <a:latin typeface="Helvetica Neue"/>
                <a:ea typeface="Helvetica Neue"/>
                <a:cs typeface="Helvetica Neue"/>
              </a:defRPr>
            </a:pPr>
            <a:r>
              <a:t>P10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DA79E1-8A13-49A0-8D0F-423E70350528}"/>
              </a:ext>
            </a:extLst>
          </p:cNvPr>
          <p:cNvSpPr>
            <a:spLocks noGrp="1"/>
          </p:cNvSpPr>
          <p:nvPr/>
        </p:nvSpPr>
        <p:spPr>
          <a:xfrm>
            <a:off x="2428875" y="4943475"/>
            <a:ext cx="7429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P50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B8D01C-C14C-4C35-9CD1-AC1E9478E2AD}"/>
              </a:ext>
            </a:extLst>
          </p:cNvPr>
          <p:cNvSpPr>
            <a:spLocks noGrp="1"/>
          </p:cNvSpPr>
          <p:nvPr/>
        </p:nvSpPr>
        <p:spPr>
          <a:xfrm>
            <a:off x="4114800" y="4943475"/>
            <a:ext cx="7429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479AC0"/>
                </a:solidFill>
                <a:latin typeface="Helvetica Neue"/>
                <a:ea typeface="Helvetica Neue"/>
                <a:cs typeface="Helvetica Neue"/>
              </a:defRPr>
            </a:pPr>
            <a:r>
              <a:t>P90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DD204E-DCC7-4BC6-B289-01C0467ED531}"/>
              </a:ext>
            </a:extLst>
          </p:cNvPr>
          <p:cNvSpPr>
            <a:spLocks noGrp="1"/>
          </p:cNvSpPr>
          <p:nvPr/>
        </p:nvSpPr>
        <p:spPr>
          <a:xfrm>
            <a:off x="742950" y="5248275"/>
            <a:ext cx="1047750" cy="238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55585E"/>
                </a:solidFill>
                <a:latin typeface="Helvetica Neue"/>
                <a:ea typeface="Helvetica Neue"/>
                <a:cs typeface="Helvetica Neue"/>
              </a:defRPr>
            </a:pPr>
            <a:r>
              <a:t>scénario bas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E7DF7A-EBC5-4FC1-B583-A955EB9F585A}"/>
              </a:ext>
            </a:extLst>
          </p:cNvPr>
          <p:cNvSpPr>
            <a:spLocks noGrp="1"/>
          </p:cNvSpPr>
          <p:nvPr/>
        </p:nvSpPr>
        <p:spPr>
          <a:xfrm>
            <a:off x="2428875" y="5248275"/>
            <a:ext cx="1047750" cy="238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55585E"/>
                </a:solidFill>
                <a:latin typeface="Helvetica Neue"/>
                <a:ea typeface="Helvetica Neue"/>
                <a:cs typeface="Helvetica Neue"/>
              </a:defRPr>
            </a:pPr>
            <a:r>
              <a:t>central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AB16CA-53CB-42B4-B41A-E607FEFC2FB0}"/>
              </a:ext>
            </a:extLst>
          </p:cNvPr>
          <p:cNvSpPr>
            <a:spLocks noGrp="1"/>
          </p:cNvSpPr>
          <p:nvPr/>
        </p:nvSpPr>
        <p:spPr>
          <a:xfrm>
            <a:off x="4114800" y="5248275"/>
            <a:ext cx="1143000" cy="238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55585E"/>
                </a:solidFill>
                <a:latin typeface="Helvetica Neue"/>
                <a:ea typeface="Helvetica Neue"/>
                <a:cs typeface="Helvetica Neue"/>
              </a:defRPr>
            </a:pPr>
            <a:r>
              <a:t>scénario haut</a:t>
            </a:r>
          </a:p>
        </p:txBody>
      </p:sp>
      <p:sp>
        <p:nvSpPr>
          <p:cNvPr id="17" name="stage-two">
            <a:extLst>
              <a:ext uri="{FF2B5EF4-FFF2-40B4-BE49-F238E27FC236}">
                <a16:creationId xmlns:a16="http://schemas.microsoft.com/office/drawing/2014/main" id="{51F65ACF-45F4-415D-8801-CCA738B9BAA5}"/>
              </a:ext>
            </a:extLst>
          </p:cNvPr>
          <p:cNvSpPr>
            <a:spLocks noGrp="1"/>
          </p:cNvSpPr>
          <p:nvPr/>
        </p:nvSpPr>
        <p:spPr>
          <a:xfrm>
            <a:off x="6553200" y="2009775"/>
            <a:ext cx="342900" cy="342900"/>
          </a:xfrm>
          <a:prstGeom prst="ellipse">
            <a:avLst/>
          </a:prstGeom>
          <a:solidFill>
            <a:srgbClr val="6DCBF4"/>
          </a:solidFill>
          <a:ln w="0">
            <a:solidFill>
              <a:srgbClr val="6DCB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C42936-13D6-4489-9F21-2D6BC06FCC09}"/>
              </a:ext>
            </a:extLst>
          </p:cNvPr>
          <p:cNvSpPr>
            <a:spLocks noGrp="1"/>
          </p:cNvSpPr>
          <p:nvPr/>
        </p:nvSpPr>
        <p:spPr>
          <a:xfrm>
            <a:off x="6648450" y="2066925"/>
            <a:ext cx="1524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A35411-3F66-4C6B-B6FD-55C7AF430DC5}"/>
              </a:ext>
            </a:extLst>
          </p:cNvPr>
          <p:cNvSpPr>
            <a:spLocks noGrp="1"/>
          </p:cNvSpPr>
          <p:nvPr/>
        </p:nvSpPr>
        <p:spPr>
          <a:xfrm>
            <a:off x="7058025" y="1971675"/>
            <a:ext cx="419100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Correcteur résiduel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0985D4-24B3-4B63-B434-730073134A8A}"/>
              </a:ext>
            </a:extLst>
          </p:cNvPr>
          <p:cNvSpPr>
            <a:spLocks noGrp="1"/>
          </p:cNvSpPr>
          <p:nvPr/>
        </p:nvSpPr>
        <p:spPr>
          <a:xfrm>
            <a:off x="6553200" y="2581275"/>
            <a:ext cx="4762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Cible : prix réel − P50 Chronos-2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D6D32F-D8B1-403D-8C5C-0A064D7F99DD}"/>
              </a:ext>
            </a:extLst>
          </p:cNvPr>
          <p:cNvSpPr>
            <a:spLocks noGrp="1"/>
          </p:cNvSpPr>
          <p:nvPr/>
        </p:nvSpPr>
        <p:spPr>
          <a:xfrm>
            <a:off x="6553200" y="3048000"/>
            <a:ext cx="4762500" cy="800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CatBoost et HistGradientBoosting ajoutent des arbres successifs : chaque arbre corrige une partie de l’erreur laissée par les précédents.</a:t>
            </a:r>
          </a:p>
        </p:txBody>
      </p:sp>
      <p:sp>
        <p:nvSpPr>
          <p:cNvPr id="22" name="blend">
            <a:extLst>
              <a:ext uri="{FF2B5EF4-FFF2-40B4-BE49-F238E27FC236}">
                <a16:creationId xmlns:a16="http://schemas.microsoft.com/office/drawing/2014/main" id="{85CD00FF-1A4F-4B14-859D-2F357EC310D8}"/>
              </a:ext>
            </a:extLst>
          </p:cNvPr>
          <p:cNvSpPr>
            <a:spLocks noGrp="1"/>
          </p:cNvSpPr>
          <p:nvPr/>
        </p:nvSpPr>
        <p:spPr>
          <a:xfrm>
            <a:off x="6553200" y="4029075"/>
            <a:ext cx="4762500" cy="581025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E13508-A8E7-438E-B246-517CBBFD2115}"/>
              </a:ext>
            </a:extLst>
          </p:cNvPr>
          <p:cNvSpPr>
            <a:spLocks noGrp="1"/>
          </p:cNvSpPr>
          <p:nvPr/>
        </p:nvSpPr>
        <p:spPr>
          <a:xfrm>
            <a:off x="6762750" y="4200525"/>
            <a:ext cx="4352925" cy="238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CatBoost  50 %   +   HistGradientBoosting  50 %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4B5104C-6075-4DB5-8C8D-77EE47170B7C}"/>
              </a:ext>
            </a:extLst>
          </p:cNvPr>
          <p:cNvSpPr>
            <a:spLocks noGrp="1"/>
          </p:cNvSpPr>
          <p:nvPr/>
        </p:nvSpPr>
        <p:spPr>
          <a:xfrm>
            <a:off x="6553200" y="5372100"/>
            <a:ext cx="4762500" cy="2952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Exemple   150 + 8 = 158 €/MWh</a:t>
            </a:r>
          </a:p>
        </p:txBody>
      </p:sp>
    </p:spTree>
    <p:extLst>
      <p:ext uri="{BB962C8B-B14F-4D97-AF65-F5344CB8AC3E}">
        <p14:creationId xmlns:p14="http://schemas.microsoft.com/office/powerpoint/2010/main" val="1814664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DA08811-0CCF-4DB4-95B5-E1B4717EC723}"/>
              </a:ext>
            </a:extLst>
          </p:cNvPr>
          <p:cNvSpPr>
            <a:spLocks noGrp="1"/>
          </p:cNvSpPr>
          <p:nvPr/>
        </p:nvSpPr>
        <p:spPr>
          <a:xfrm>
            <a:off x="390525" y="342900"/>
            <a:ext cx="11401425" cy="628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GB" dirty="0" err="1"/>
              <a:t>Histo</a:t>
            </a:r>
            <a:endParaRPr lang="en-GB" dirty="0"/>
          </a:p>
          <a:p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B859A4-4F28-4B85-9E43-FA903256B8C0}"/>
              </a:ext>
            </a:extLst>
          </p:cNvPr>
          <p:cNvSpPr>
            <a:spLocks noGrp="1"/>
          </p:cNvSpPr>
          <p:nvPr/>
        </p:nvSpPr>
        <p:spPr>
          <a:xfrm>
            <a:off x="390525" y="1752600"/>
            <a:ext cx="4762500" cy="2952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/>
              <a:t>MAE 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322D0E-23BD-45CA-8549-642802CE4A82}"/>
              </a:ext>
            </a:extLst>
          </p:cNvPr>
          <p:cNvSpPr>
            <a:spLocks noGrp="1"/>
          </p:cNvSpPr>
          <p:nvPr/>
        </p:nvSpPr>
        <p:spPr>
          <a:xfrm>
            <a:off x="390525" y="2352675"/>
            <a:ext cx="1571625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Chronos-2</a:t>
            </a:r>
          </a:p>
        </p:txBody>
      </p:sp>
      <p:sp>
        <p:nvSpPr>
          <p:cNvPr id="5" name="bar-chronos">
            <a:extLst>
              <a:ext uri="{FF2B5EF4-FFF2-40B4-BE49-F238E27FC236}">
                <a16:creationId xmlns:a16="http://schemas.microsoft.com/office/drawing/2014/main" id="{841C0D73-48ED-4652-908F-7A951BA41591}"/>
              </a:ext>
            </a:extLst>
          </p:cNvPr>
          <p:cNvSpPr>
            <a:spLocks noGrp="1"/>
          </p:cNvSpPr>
          <p:nvPr/>
        </p:nvSpPr>
        <p:spPr>
          <a:xfrm>
            <a:off x="2095500" y="2333625"/>
            <a:ext cx="4095750" cy="304800"/>
          </a:xfrm>
          <a:prstGeom prst="roundRect">
            <a:avLst>
              <a:gd name="adj" fmla="val 25000"/>
            </a:avLst>
          </a:prstGeom>
          <a:solidFill>
            <a:srgbClr val="D7D9DE"/>
          </a:solidFill>
          <a:ln w="0">
            <a:solidFill>
              <a:srgbClr val="D7D9D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9C04F3-8B6B-4ECA-818B-C938B153C19E}"/>
              </a:ext>
            </a:extLst>
          </p:cNvPr>
          <p:cNvSpPr>
            <a:spLocks noGrp="1"/>
          </p:cNvSpPr>
          <p:nvPr/>
        </p:nvSpPr>
        <p:spPr>
          <a:xfrm>
            <a:off x="6334125" y="2324100"/>
            <a:ext cx="781050" cy="2952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13,11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65842B-5841-482A-A1A4-4082AFB43137}"/>
              </a:ext>
            </a:extLst>
          </p:cNvPr>
          <p:cNvSpPr>
            <a:spLocks noGrp="1"/>
          </p:cNvSpPr>
          <p:nvPr/>
        </p:nvSpPr>
        <p:spPr>
          <a:xfrm>
            <a:off x="390525" y="3038475"/>
            <a:ext cx="1571625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Corrigé</a:t>
            </a:r>
          </a:p>
        </p:txBody>
      </p:sp>
      <p:sp>
        <p:nvSpPr>
          <p:cNvPr id="8" name="bar-corrected">
            <a:extLst>
              <a:ext uri="{FF2B5EF4-FFF2-40B4-BE49-F238E27FC236}">
                <a16:creationId xmlns:a16="http://schemas.microsoft.com/office/drawing/2014/main" id="{F6C80582-5835-48A4-A52D-E131A414DC9D}"/>
              </a:ext>
            </a:extLst>
          </p:cNvPr>
          <p:cNvSpPr>
            <a:spLocks noGrp="1"/>
          </p:cNvSpPr>
          <p:nvPr/>
        </p:nvSpPr>
        <p:spPr>
          <a:xfrm>
            <a:off x="2095500" y="3019425"/>
            <a:ext cx="3886200" cy="304800"/>
          </a:xfrm>
          <a:prstGeom prst="roundRect">
            <a:avLst>
              <a:gd name="adj" fmla="val 25000"/>
            </a:avLst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A6BAE2-8B05-484D-AA49-220ADEF378C4}"/>
              </a:ext>
            </a:extLst>
          </p:cNvPr>
          <p:cNvSpPr>
            <a:spLocks noGrp="1"/>
          </p:cNvSpPr>
          <p:nvPr/>
        </p:nvSpPr>
        <p:spPr>
          <a:xfrm>
            <a:off x="6334125" y="3009900"/>
            <a:ext cx="781050" cy="2952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12,44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24B779-09E1-4F50-83D5-E3BCF3EB9D6C}"/>
              </a:ext>
            </a:extLst>
          </p:cNvPr>
          <p:cNvSpPr>
            <a:spLocks noGrp="1"/>
          </p:cNvSpPr>
          <p:nvPr/>
        </p:nvSpPr>
        <p:spPr>
          <a:xfrm>
            <a:off x="390525" y="3724275"/>
            <a:ext cx="1571625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Storm</a:t>
            </a:r>
          </a:p>
        </p:txBody>
      </p:sp>
      <p:sp>
        <p:nvSpPr>
          <p:cNvPr id="11" name="bar-storm">
            <a:extLst>
              <a:ext uri="{FF2B5EF4-FFF2-40B4-BE49-F238E27FC236}">
                <a16:creationId xmlns:a16="http://schemas.microsoft.com/office/drawing/2014/main" id="{BAB337B3-C39E-4A4D-B98E-521CF4DD4A2B}"/>
              </a:ext>
            </a:extLst>
          </p:cNvPr>
          <p:cNvSpPr>
            <a:spLocks noGrp="1"/>
          </p:cNvSpPr>
          <p:nvPr/>
        </p:nvSpPr>
        <p:spPr>
          <a:xfrm>
            <a:off x="2095500" y="3705225"/>
            <a:ext cx="3648075" cy="30480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9829AD-F69D-48D7-AB21-14A46D932FCB}"/>
              </a:ext>
            </a:extLst>
          </p:cNvPr>
          <p:cNvSpPr>
            <a:spLocks noGrp="1"/>
          </p:cNvSpPr>
          <p:nvPr/>
        </p:nvSpPr>
        <p:spPr>
          <a:xfrm>
            <a:off x="6334125" y="3695700"/>
            <a:ext cx="781050" cy="2952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11,67</a:t>
            </a:r>
          </a:p>
        </p:txBody>
      </p:sp>
      <p:cxnSp>
        <p:nvCxnSpPr>
          <p:cNvPr id="35" name="evidence-separator"/>
          <p:cNvCxnSpPr/>
          <p:nvPr/>
        </p:nvCxnSpPr>
        <p:spPr>
          <a:xfrm>
            <a:off x="7524750" y="1752600"/>
            <a:ext cx="286" cy="3057525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7171AF29-7ACF-40D2-A0DE-ABCF1B8F1DAB}"/>
              </a:ext>
            </a:extLst>
          </p:cNvPr>
          <p:cNvSpPr>
            <a:spLocks noGrp="1"/>
          </p:cNvSpPr>
          <p:nvPr/>
        </p:nvSpPr>
        <p:spPr>
          <a:xfrm>
            <a:off x="8010525" y="2000250"/>
            <a:ext cx="3381375" cy="781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4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−5,1 %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28D047-8028-4AFA-90C1-10C20AF2B043}"/>
              </a:ext>
            </a:extLst>
          </p:cNvPr>
          <p:cNvSpPr>
            <a:spLocks noGrp="1"/>
          </p:cNvSpPr>
          <p:nvPr/>
        </p:nvSpPr>
        <p:spPr>
          <a:xfrm>
            <a:off x="8010525" y="2847975"/>
            <a:ext cx="3381375" cy="533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 MAE par rapport à Chronos-2 brut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31A244-DA59-4353-82B8-11450876F023}"/>
              </a:ext>
            </a:extLst>
          </p:cNvPr>
          <p:cNvSpPr>
            <a:spLocks noGrp="1"/>
          </p:cNvSpPr>
          <p:nvPr/>
        </p:nvSpPr>
        <p:spPr>
          <a:xfrm>
            <a:off x="8010525" y="3638550"/>
            <a:ext cx="3381375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Corrélation : 0,93</a:t>
            </a:r>
          </a:p>
        </p:txBody>
      </p:sp>
    </p:spTree>
    <p:extLst>
      <p:ext uri="{BB962C8B-B14F-4D97-AF65-F5344CB8AC3E}">
        <p14:creationId xmlns:p14="http://schemas.microsoft.com/office/powerpoint/2010/main" val="191966966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0a9b9e15-83d2-4075-9282-a04e05c6580a}" enabled="1" method="Standard" siteId="{24139d14-c62c-4c47-8bdd-ce71ea1d50c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534</Words>
  <Application>Microsoft Office PowerPoint</Application>
  <DocSecurity>0</DocSecurity>
  <PresentationFormat>Widescreen</PresentationFormat>
  <Paragraphs>61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Calibri</vt:lpstr>
      <vt:lpstr>ChatGPT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KESRAOUI Yoan (ENGIE Global Markets SAS)</cp:lastModifiedBy>
  <cp:revision>6</cp:revision>
  <dcterms:created xsi:type="dcterms:W3CDTF">2026-08-26T07:49:08Z</dcterms:created>
  <dcterms:modified xsi:type="dcterms:W3CDTF">2026-08-26T08:28:57Z</dcterms:modified>
</cp:coreProperties>
</file>