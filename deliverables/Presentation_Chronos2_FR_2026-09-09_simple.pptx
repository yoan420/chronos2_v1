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65e5d5b7554462" /><Relationship Type="http://schemas.openxmlformats.org/officeDocument/2006/relationships/extended-properties" Target="/docProps/app.xml" Id="R18e13b142c854d6c" /><Relationship Type="http://schemas.openxmlformats.org/officeDocument/2006/relationships/officeDocument" Target="/ppt/presentation.xml" Id="R841a732d4ce9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e9f2e00a64923"/>
  </p:sldMasterIdLst>
  <p:notesMasterIdLst>
    <p:notesMasterId xmlns:r="http://schemas.openxmlformats.org/officeDocument/2006/relationships" r:id="R30c9fbb0c91f41f5"/>
  </p:notesMasterIdLst>
  <p:sldIdLst>
    <p:sldId xmlns:r="http://schemas.openxmlformats.org/officeDocument/2006/relationships" id="256" r:id="R8e33af1af7d24e67"/>
    <p:sldId xmlns:r="http://schemas.openxmlformats.org/officeDocument/2006/relationships" id="257" r:id="R2033f8c1ad964907"/>
    <p:sldId xmlns:r="http://schemas.openxmlformats.org/officeDocument/2006/relationships" id="258" r:id="R7b8bb2f4c03c4f60"/>
    <p:sldId xmlns:r="http://schemas.openxmlformats.org/officeDocument/2006/relationships" id="259" r:id="Rf9d4f8433d744f76"/>
    <p:sldId xmlns:r="http://schemas.openxmlformats.org/officeDocument/2006/relationships" id="260" r:id="R469081f6b9334533"/>
    <p:sldId xmlns:r="http://schemas.openxmlformats.org/officeDocument/2006/relationships" id="261" r:id="R0b3dcab232cc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ee5b1ece04fb0" /><Relationship Type="http://schemas.openxmlformats.org/officeDocument/2006/relationships/slideMaster" Target="/ppt/slideMasters/slideMaster1.xml" Id="Rc01e9f2e00a64923" /><Relationship Type="http://schemas.openxmlformats.org/officeDocument/2006/relationships/notesMaster" Target="/ppt/notesMasters/notesMaster1.xml" Id="R30c9fbb0c91f41f5" /><Relationship Type="http://schemas.openxmlformats.org/officeDocument/2006/relationships/presProps" Target="/ppt/presProps.xml" Id="Re7eb73bef9ab4f14" /><Relationship Type="http://schemas.openxmlformats.org/officeDocument/2006/relationships/viewProps" Target="/ppt/viewProps.xml" Id="R61a86203352c4a03" /><Relationship Type="http://schemas.openxmlformats.org/officeDocument/2006/relationships/tableStyles" Target="/ppt/tableStyles.xml" Id="R838813137b1d48ce" /><Relationship Type="http://schemas.openxmlformats.org/officeDocument/2006/relationships/slide" Target="/ppt/slides/slide1.xml" Id="R8e33af1af7d24e67" /><Relationship Type="http://schemas.openxmlformats.org/officeDocument/2006/relationships/slide" Target="/ppt/slides/slide2.xml" Id="R2033f8c1ad964907" /><Relationship Type="http://schemas.openxmlformats.org/officeDocument/2006/relationships/slide" Target="/ppt/slides/slide3.xml" Id="R7b8bb2f4c03c4f60" /><Relationship Type="http://schemas.openxmlformats.org/officeDocument/2006/relationships/slide" Target="/ppt/slides/slide4.xml" Id="Rf9d4f8433d744f76" /><Relationship Type="http://schemas.openxmlformats.org/officeDocument/2006/relationships/slide" Target="/ppt/slides/slide5.xml" Id="R469081f6b9334533" /><Relationship Type="http://schemas.openxmlformats.org/officeDocument/2006/relationships/slide" Target="/ppt/slides/slide6.xml" Id="R0b3dcab232cc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fcab6285dd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d560beaa14011" /><Relationship Type="http://schemas.openxmlformats.org/officeDocument/2006/relationships/notesMaster" Target="/ppt/notesMasters/notesMaster1.xml" Id="R046e4208356a4c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fdb3d3f70544d4" /><Relationship Type="http://schemas.openxmlformats.org/officeDocument/2006/relationships/notesMaster" Target="/ppt/notesMasters/notesMaster1.xml" Id="R45041dae13824f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d393bcca944074" /><Relationship Type="http://schemas.openxmlformats.org/officeDocument/2006/relationships/notesMaster" Target="/ppt/notesMasters/notesMaster1.xml" Id="R91b9150a1a8a44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31f196c644cac" /><Relationship Type="http://schemas.openxmlformats.org/officeDocument/2006/relationships/notesMaster" Target="/ppt/notesMasters/notesMaster1.xml" Id="Reaaa86b29751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788f178104b85" /><Relationship Type="http://schemas.openxmlformats.org/officeDocument/2006/relationships/notesMaster" Target="/ppt/notesMasters/notesMaster1.xml" Id="Ra55202116ccf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f61fe33184b01" /><Relationship Type="http://schemas.openxmlformats.org/officeDocument/2006/relationships/notesMaster" Target="/ppt/notesMasters/notesMaster1.xml" Id="R332575d34e7f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oral : présenter en quelques minutes le fonctionnement du modèle et les principaux résultats du rapport France.</a:t>
            </a:r>
            <a:endParaRPr/>
          </a:p>
          <a:p xmlns:a="http://schemas.openxmlformats.org/drawingml/2006/main">
            <a:r>
              <a:t>Sources : C:\Users\BQ6757\chronos2_v1\runs\exports\2026-09-09\fr\kalman\forecast_fr_2026-09-09_kalman.csv</a:t>
            </a:r>
            <a:endParaRPr/>
          </a:p>
          <a:p xmlns:a="http://schemas.openxmlformats.org/drawingml/2006/main">
            <a:r>
              <a:t>Rapport associé : runs/exports/2026-09-09/fr/kalman/forecast_fr_2026-09-09_kalman.html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Message clé : le modèle est un pipeline causal. Au moment de prévoir une journée, seules les informations déjà disponibles sont utilisées.</a:t>
            </a:r>
          </a:p>
          <a:p xmlns:a="http://schemas.openxmlformats.org/drawingml/2006/main">
            <a:r>
              <a:t>L’absence de fuite future signifie qu’aucune observation postérieure à la date de prévision n’entre dans l’entraînement, la sélection ou la correction appliquée à cette prévision.</a:t>
            </a:r>
          </a:p>
          <a:p xmlns:a="http://schemas.openxmlformats.org/drawingml/2006/main">
            <a:r>
              <a:t>Sources : Forecast.ps1, chronos2_hourly/kalman_residual.py, deliverables/Note_explicative_Kalman.txt.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Chronos-2 est un transformer encodeur-only pour séries temporelles. Il encode le contexte historique et les covariables, puis une tête de prédiction produit l’horizon futur sous forme de quantiles.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correcteur résiduel apprend la quantité observée moins la médiane Chronos-2. CatBoost et HistGradientBoosting construisent chacun une suite d’arbres qui corrige progressivement les erreurs du modèle précédent. Leurs prédictions sont moyennées à parts égales.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filtre de Kalman assimile ensuite uniquement les erreurs déjà observées. La gouvernance compare plusieurs filtres à une identité sans correction et n’applique un filtre que s’il apporte un gain récent.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https://huggingface.co/amazon/chronos-2 ; https://github.com/amazon-science/chronos-forecasting/blob/main/src/chronos/chronos2/model.py ; chronos2_hourly/kalman_residual.py ; deliverables/Note_explicative_Kalman.txt.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P50 est la trajectoire centrale. P10 et P90 encadrent l’incertitude du modèle : la valeur réalisée est attendue entre ces deux bornes dans environ 80 % des cas si le modèle est bien calibré.</a:t>
            </a:r>
          </a:p>
          <a:p xmlns:a="http://schemas.openxmlformats.org/drawingml/2006/main">
            <a:r>
              <a:t>Chiffres du jour : moyenne P50 152,81 EUR/MWh ; minimum 78,60 EUR/MWh à 13 h ; maximum 222,89 EUR/MWh à 19 h ; largeur maximale P10–P90 68,65 EUR/MWh à 16 h.</a:t>
            </a:r>
          </a:p>
          <a:p xmlns:a="http://schemas.openxmlformats.org/drawingml/2006/main">
            <a:r>
              <a:t>Source : C:\Users\BQ6757\chronos2_v1\runs\exports\2026-09-09\fr\kalman\forecast_fr_2026-09-09_kalman.csv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MAE est la taille moyenne des erreurs, sans tenir compte du signe. Le biais est la moyenne signée : un biais proche de zéro indique qu’il n’y a pas de surestimation ou de sous-estimation systématique.</a:t>
            </a:r>
          </a:p>
          <a:p xmlns:a="http://schemas.openxmlformats.org/drawingml/2006/main">
            <a:r>
              <a:t>Résultats : MAE 12,5521 contre 12,7050, gain 1,2034 % ; RMSE 20,0488 contre 20,3742, gain 1,5974 % ; biais −0,5590 contre −1,2297 ; corrélation 0,9320 contre 0,9299.</a:t>
            </a:r>
          </a:p>
          <a:p xmlns:a="http://schemas.openxmlformats.org/drawingml/2006/main">
            <a:r>
              <a:t>Point de vigilance : ramp MAE 7,2255 contre 7,2052. Le Kalman améliore le niveau de prix moyen, mais pas toutes les transitions horaires.</a:t>
            </a:r>
          </a:p>
          <a:p xmlns:a="http://schemas.openxmlformats.org/drawingml/2006/main">
            <a:r>
              <a:t>Source : runs/exports/2026-09-09/fr/kalman/forecast_fr_2026-09-09_kalman.html et kalman_filter_audit.json.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proposée : Chronos-2 fournit la structure principale, le correcteur résiduel retire les erreurs récurrentes et le Kalman adapte prudemment la prévision au régime récent.</a:t>
            </a:r>
            <a:endParaRPr/>
          </a:p>
          <a:p xmlns:a="http://schemas.openxmlformats.org/drawingml/2006/main">
            <a:r>
              <a:t>Pour lire le rapport, commencer par P50, regarder ensuite la largeur P10–P90, puis mettre la prévision en perspective avec les métriques historiques.</a:t>
            </a:r>
            <a:endParaRPr/>
          </a:p>
          <a:p xmlns:a="http://schemas.openxmlformats.org/drawingml/2006/main">
            <a:r>
              <a:t>Le benchmark Storm sert à comparer les résultats après coup. Il n’entre pas dans le filtre de Kalman.</a:t>
            </a:r>
            <a:endParaRPr/>
          </a:p>
          <a:p xmlns:a="http://schemas.openxmlformats.org/drawingml/2006/main">
            <a:r>
              <a:t>Source : runs/exports/2026-09-09/fr/kalman/forecast_fr_2026-09-09_kalman.html et kalman_filter_audit.json.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ff3aee76048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1a3f875a746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52883a85e4c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c1cd8ea0743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381a442054b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28d2c2aac4d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950c0a3ef45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7c3dbf9524b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ee3e71ba547c5" /><Relationship Type="http://schemas.openxmlformats.org/officeDocument/2006/relationships/image" Target="/ppt/media/image.png" Id="R8452503173e241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f0543f88d41a9" /><Relationship Type="http://schemas.openxmlformats.org/officeDocument/2006/relationships/image" Target="/ppt/media/image2.png" Id="Rfd82d317af71469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452503173e241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fd82d317af71469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22426568846b5" /><Relationship Type="http://schemas.openxmlformats.org/officeDocument/2006/relationships/slideLayout" Target="/ppt/slideLayouts/slideLayout1.xml" Id="R791064a888f54a99" /><Relationship Type="http://schemas.openxmlformats.org/officeDocument/2006/relationships/slideLayout" Target="/ppt/slideLayouts/slideLayout2.xml" Id="R521861cd83364b92" /><Relationship Type="http://schemas.openxmlformats.org/officeDocument/2006/relationships/slideLayout" Target="/ppt/slideLayouts/slideLayout3.xml" Id="Rd3c891d29bf44441" /><Relationship Type="http://schemas.openxmlformats.org/officeDocument/2006/relationships/slideLayout" Target="/ppt/slideLayouts/slideLayout4.xml" Id="Rc10dfb91ad454420" /><Relationship Type="http://schemas.openxmlformats.org/officeDocument/2006/relationships/slideLayout" Target="/ppt/slideLayouts/slideLayout5.xml" Id="Rd7213db016574991" /><Relationship Type="http://schemas.openxmlformats.org/officeDocument/2006/relationships/slideLayout" Target="/ppt/slideLayouts/slideLayout6.xml" Id="R73ca678384c14c0f" /><Relationship Type="http://schemas.openxmlformats.org/officeDocument/2006/relationships/slideLayout" Target="/ppt/slideLayouts/slideLayout7.xml" Id="R0c178fd3919c4188" /><Relationship Type="http://schemas.openxmlformats.org/officeDocument/2006/relationships/slideLayout" Target="/ppt/slideLayouts/slideLayout8.xml" Id="Re4855f68fd344801" /><Relationship Type="http://schemas.openxmlformats.org/officeDocument/2006/relationships/slideLayout" Target="/ppt/slideLayouts/slideLayout9.xml" Id="R65ef5cd913ec4114" /><Relationship Type="http://schemas.openxmlformats.org/officeDocument/2006/relationships/slideLayout" Target="/ppt/slideLayouts/slideLayout10.xml" Id="R3a1eaa3d78144c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064a888f54a99"/>
    <p:sldLayoutId xmlns:r="http://schemas.openxmlformats.org/officeDocument/2006/relationships" id="2147483650" r:id="R521861cd83364b92"/>
    <p:sldLayoutId xmlns:r="http://schemas.openxmlformats.org/officeDocument/2006/relationships" id="2147483651" r:id="Rd3c891d29bf44441"/>
    <p:sldLayoutId xmlns:r="http://schemas.openxmlformats.org/officeDocument/2006/relationships" id="2147483652" r:id="Rc10dfb91ad454420"/>
    <p:sldLayoutId xmlns:r="http://schemas.openxmlformats.org/officeDocument/2006/relationships" id="2147483653" r:id="Rd7213db016574991"/>
    <p:sldLayoutId xmlns:r="http://schemas.openxmlformats.org/officeDocument/2006/relationships" id="2147483654" r:id="R73ca678384c14c0f"/>
    <p:sldLayoutId xmlns:r="http://schemas.openxmlformats.org/officeDocument/2006/relationships" id="2147483655" r:id="R0c178fd3919c4188"/>
    <p:sldLayoutId xmlns:r="http://schemas.openxmlformats.org/officeDocument/2006/relationships" id="2147483656" r:id="Re4855f68fd344801"/>
    <p:sldLayoutId xmlns:r="http://schemas.openxmlformats.org/officeDocument/2006/relationships" id="2147483657" r:id="R65ef5cd913ec4114"/>
    <p:sldLayoutId xmlns:r="http://schemas.openxmlformats.org/officeDocument/2006/relationships" id="2147483658" r:id="R3a1eaa3d78144c6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0dd1a2f64771" /><Relationship Type="http://schemas.openxmlformats.org/officeDocument/2006/relationships/notesSlide" Target="/ppt/notesSlides/notesSlide1.xml" Id="R0e3be49b208046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024e63190147f7" /><Relationship Type="http://schemas.openxmlformats.org/officeDocument/2006/relationships/notesSlide" Target="/ppt/notesSlides/notesSlide2.xml" Id="Rceb04887982f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588dde05bbb4a06" /><Relationship Type="http://schemas.openxmlformats.org/officeDocument/2006/relationships/notesSlide" Target="/ppt/notesSlides/notesSlide3.xml" Id="Rc3e62cefc6ba4a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5a10fbbea470b" /><Relationship Type="http://schemas.openxmlformats.org/officeDocument/2006/relationships/chart" Target="/ppt/slides/charts/chart1.xml" Id="R684fb8ae6fca436d" /><Relationship Type="http://schemas.openxmlformats.org/officeDocument/2006/relationships/notesSlide" Target="/ppt/notesSlides/notesSlide4.xml" Id="Rc197f074c8de45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21f240c584ca5" /><Relationship Type="http://schemas.openxmlformats.org/officeDocument/2006/relationships/chart" Target="/ppt/slides/charts/chart2.xml" Id="R8b438c1fb82c4708" /><Relationship Type="http://schemas.openxmlformats.org/officeDocument/2006/relationships/notesSlide" Target="/ppt/notesSlides/notesSlide5.xml" Id="R27b0f97a8b1e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c045e58c440b0" /><Relationship Type="http://schemas.openxmlformats.org/officeDocument/2006/relationships/notesSlide" Target="/ppt/notesSlides/notesSlide6.xml" Id="R13a750d33d454a8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Prix horaire prévu,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P10</c:v>
          </c:tx>
          <c:spPr>
            <a:ln xmlns:a="http://schemas.openxmlformats.org/drawingml/2006/main" w="19050">
              <a:solidFill>
                <a:srgbClr val="84B9F3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149.95876707045437</c:v>
              </c:pt>
              <c:pt idx="1">
                <c:v>137.7572453188675</c:v>
              </c:pt>
              <c:pt idx="2">
                <c:v>127.81762860557828</c:v>
              </c:pt>
              <c:pt idx="3">
                <c:v>121.36857639829064</c:v>
              </c:pt>
              <c:pt idx="4">
                <c:v>124.41282872865486</c:v>
              </c:pt>
              <c:pt idx="5">
                <c:v>137.5155774568129</c:v>
              </c:pt>
              <c:pt idx="6">
                <c:v>165.04243973063143</c:v>
              </c:pt>
              <c:pt idx="7">
                <c:v>184.68246175483785</c:v>
              </c:pt>
              <c:pt idx="8">
                <c:v>174.53279072186422</c:v>
              </c:pt>
              <c:pt idx="9">
                <c:v>146.54629785883168</c:v>
              </c:pt>
              <c:pt idx="10">
                <c:v>118.57166762693495</c:v>
              </c:pt>
              <c:pt idx="11">
                <c:v>83.31875854807797</c:v>
              </c:pt>
              <c:pt idx="12">
                <c:v>60.61183925716215</c:v>
              </c:pt>
              <c:pt idx="13">
                <c:v>48.07922751650044</c:v>
              </c:pt>
              <c:pt idx="14">
                <c:v>55.33070009108191</c:v>
              </c:pt>
              <c:pt idx="15">
                <c:v>61.5314879905328</c:v>
              </c:pt>
              <c:pt idx="16">
                <c:v>78.67469074860519</c:v>
              </c:pt>
              <c:pt idx="17">
                <c:v>130.1890976204014</c:v>
              </c:pt>
              <c:pt idx="18">
                <c:v>171.15081744940318</c:v>
              </c:pt>
              <c:pt idx="19">
                <c:v>202.60330087862977</c:v>
              </c:pt>
              <c:pt idx="20">
                <c:v>201.9018407426704</c:v>
              </c:pt>
              <c:pt idx="21">
                <c:v>187.9454664795016</c:v>
              </c:pt>
              <c:pt idx="22">
                <c:v>176.8143141306665</c:v>
              </c:pt>
              <c:pt idx="23">
                <c:v>164.29861130777311</c:v>
              </c:pt>
            </c:numLit>
          </c:val>
          <c:smooth val="0"/>
        </c:ser>
        <c:ser>
          <c:idx val="1"/>
          <c:order val="1"/>
          <c:tx>
            <c:v>P90</c:v>
          </c:tx>
          <c:spPr>
            <a:ln xmlns:a="http://schemas.openxmlformats.org/drawingml/2006/main" w="19050">
              <a:solidFill>
                <a:srgbClr val="4D8FE7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162.25065244643093</c:v>
              </c:pt>
              <c:pt idx="1">
                <c:v>154.65757490871124</c:v>
              </c:pt>
              <c:pt idx="2">
                <c:v>147.65831158897672</c:v>
              </c:pt>
              <c:pt idx="3">
                <c:v>145.39463841000938</c:v>
              </c:pt>
              <c:pt idx="4">
                <c:v>149.8417532892017</c:v>
              </c:pt>
              <c:pt idx="5">
                <c:v>163.18820013747697</c:v>
              </c:pt>
              <c:pt idx="6">
                <c:v>191.8681233243814</c:v>
              </c:pt>
              <c:pt idx="7">
                <c:v>213.22176839546285</c:v>
              </c:pt>
              <c:pt idx="8">
                <c:v>204.5584254874892</c:v>
              </c:pt>
              <c:pt idx="9">
                <c:v>180.61232263910512</c:v>
              </c:pt>
              <c:pt idx="10">
                <c:v>157.04244704588027</c:v>
              </c:pt>
              <c:pt idx="11">
                <c:v>135.0407205231756</c:v>
              </c:pt>
              <c:pt idx="12">
                <c:v>122.21332546321682</c:v>
              </c:pt>
              <c:pt idx="13">
                <c:v>109.03237158998678</c:v>
              </c:pt>
              <c:pt idx="14">
                <c:v>115.45225160475376</c:v>
              </c:pt>
              <c:pt idx="15">
                <c:v>123.3432555686578</c:v>
              </c:pt>
              <c:pt idx="16">
                <c:v>147.3235402359099</c:v>
              </c:pt>
              <c:pt idx="17">
                <c:v>180.91176912919047</c:v>
              </c:pt>
              <c:pt idx="18">
                <c:v>219.01373248846568</c:v>
              </c:pt>
              <c:pt idx="19">
                <c:v>251.7794483395673</c:v>
              </c:pt>
              <c:pt idx="20">
                <c:v>253.1616521440376</c:v>
              </c:pt>
              <c:pt idx="21">
                <c:v>229.34405656739216</c:v>
              </c:pt>
              <c:pt idx="22">
                <c:v>208.23032975566647</c:v>
              </c:pt>
              <c:pt idx="23">
                <c:v>193.13164963785124</c:v>
              </c:pt>
            </c:numLit>
          </c:val>
          <c:smooth val="0"/>
        </c:ser>
        <c:ser>
          <c:idx val="2"/>
          <c:order val="2"/>
          <c:tx>
            <c:v>P50</c:v>
          </c:tx>
          <c:spPr>
            <a:ln xmlns:a="http://schemas.openxmlformats.org/drawingml/2006/main" w="38100">
              <a:solidFill>
                <a:srgbClr val="08284F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157.38476194350125</c:v>
              </c:pt>
              <c:pt idx="1">
                <c:v>146.90362288234405</c:v>
              </c:pt>
              <c:pt idx="2">
                <c:v>138.93303082725797</c:v>
              </c:pt>
              <c:pt idx="3">
                <c:v>133.1241611150875</c:v>
              </c:pt>
              <c:pt idx="4">
                <c:v>137.29474096010014</c:v>
              </c:pt>
              <c:pt idx="5">
                <c:v>151.26104559646134</c:v>
              </c:pt>
              <c:pt idx="6">
                <c:v>178.43045547770174</c:v>
              </c:pt>
              <c:pt idx="7">
                <c:v>197.84766866401756</c:v>
              </c:pt>
              <c:pt idx="8">
                <c:v>189.5328059806533</c:v>
              </c:pt>
              <c:pt idx="9">
                <c:v>163.85341150629262</c:v>
              </c:pt>
              <c:pt idx="10">
                <c:v>137.86422438963027</c:v>
              </c:pt>
              <c:pt idx="11">
                <c:v>110.42359405833186</c:v>
              </c:pt>
              <c:pt idx="12">
                <c:v>92.83637233821683</c:v>
              </c:pt>
              <c:pt idx="13">
                <c:v>78.59606177553364</c:v>
              </c:pt>
              <c:pt idx="14">
                <c:v>86.03741853590611</c:v>
              </c:pt>
              <c:pt idx="15">
                <c:v>91.78334956279842</c:v>
              </c:pt>
              <c:pt idx="16">
                <c:v>109.0994954361052</c:v>
              </c:pt>
              <c:pt idx="17">
                <c:v>153.06563875809672</c:v>
              </c:pt>
              <c:pt idx="18">
                <c:v>193.07891803534068</c:v>
              </c:pt>
              <c:pt idx="19">
                <c:v>222.88499338351255</c:v>
              </c:pt>
              <c:pt idx="20">
                <c:v>222.70439201220165</c:v>
              </c:pt>
              <c:pt idx="21">
                <c:v>205.13008256836875</c:v>
              </c:pt>
              <c:pt idx="22">
                <c:v>191.21890092265872</c:v>
              </c:pt>
              <c:pt idx="23">
                <c:v>178.08001389566374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Erreur historique,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Correcteur résiduel</c:v>
          </c:tx>
          <c:spPr>
            <a:solidFill xmlns:a="http://schemas.openxmlformats.org/drawingml/2006/main">
              <a:srgbClr val="7E91A8"/>
            </a:solidFill>
            <a:ln xmlns:a="http://schemas.openxmlformats.org/drawingml/2006/main" w="9525">
              <a:solidFill>
                <a:srgbClr val="7E91A8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12.705</c:v>
              </c:pt>
              <c:pt idx="1">
                <c:v>20.3742</c:v>
              </c:pt>
            </c:numLit>
          </c:val>
        </c:ser>
        <c:ser>
          <c:idx val="1"/>
          <c:order val="1"/>
          <c:tx>
            <c:v>Après Kalman</c:v>
          </c:tx>
          <c:spPr>
            <a:solidFill xmlns:a="http://schemas.openxmlformats.org/drawingml/2006/main">
              <a:srgbClr val="175CD4"/>
            </a:solidFill>
            <a:ln xmlns:a="http://schemas.openxmlformats.org/drawingml/2006/main" w="9525">
              <a:solidFill>
                <a:srgbClr val="175CD4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12.5521</c:v>
              </c:pt>
              <c:pt idx="1">
                <c:v>20.0488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284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EDF5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EDF5FE"/>
    </a:solidFill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day-ahead France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Chronos-2 et ses correcteurs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du 9 septembre 2026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Rapport France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Présentation simple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Modèle et résultats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 SEPT.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C2E42E3-57B8-41BC-8B56-BEC8924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wrap="square" anchor="t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Données disponibles à D−1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récents, calendrier et prévisions de charge résiduelle sur cinq pays.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Du signal brut au rapport publié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wrap="square" anchor="t">
            <a:normAutofit fontScale="8997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Prévision et correction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 produit P10, P50 et P90. Le correcteur résiduel apprend les erreurs récurrentes.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wrap="square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Kalman et publication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filtre admissible le plus performant est retenu, puis les contrôles produisent le CSV et le rapport HTML.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 · ENTRÉES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2 · MODÈLE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3 · SORTIE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Transformer préentraîné de type encodeur-only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Lit l’historique et les variables connues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Produit directement P10, P50 et P90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Moyenne de CatBoost et HistGradientBoosting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Prévoit l’erreur restante de 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Décale les trois quantiles de façon identique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Filtre de Kalman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Suit le biais récent au fil des jours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Teste plusieurs dynamiques sans fuite future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Peut conserver la prévision inchangée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Trois étages, trois rôles complémentaires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Chaque étage traite une source d’erreur différente, du signal de fond jusqu’aux écarts les plus récents.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spc="100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FONCTIONNEMENT DU MODÈLE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La prévision du 9 septembre 2026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152,8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moyen P50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68,7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2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Largeur maximale P10–P90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à 16 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creux intervient à 13 h, puis la courbe remonte rapidement vers un pic à 19 h.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4fb8ae6fca436d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Le Kalman améliore la précision moyenne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1,2 %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784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Gain de MAE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par rapport au correcteur résiduel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−0,56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Biais moyen après Kalman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Évaluation causale sur 365 jours et 8 760 heures. La correction de Kalman réduit la MAE et la RMSE, tout en rapprochant le biais de zéro. La MAE des variations horaires est légèrement moins bonne.</a:t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438c1fb82c4708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À retenir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Une prévision, une fourchette, des garde-fous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 wrap="square">
            <a:normAutofit fontScale="7829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Présenter ensemble la courbe P50,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l’intervalle P10–P90 et la performance historique.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 · 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2026-09-08T15:25:34.1600000Z</dcterms:created>
  <dcterms:modified xsi:type="dcterms:W3CDTF">2026-09-08T15:25:34.1600000Z</dcterms:modified>
</coreProperties>
</file>