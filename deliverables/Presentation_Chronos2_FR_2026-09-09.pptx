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15595ffc10486d" /><Relationship Type="http://schemas.openxmlformats.org/officeDocument/2006/relationships/extended-properties" Target="/docProps/app.xml" Id="Rae40737184cf4147" /><Relationship Type="http://schemas.openxmlformats.org/officeDocument/2006/relationships/officeDocument" Target="/ppt/presentation.xml" Id="R360d15b6761e43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5fed2dff974748"/>
  </p:sldMasterIdLst>
  <p:notesMasterIdLst>
    <p:notesMasterId xmlns:r="http://schemas.openxmlformats.org/officeDocument/2006/relationships" r:id="R5d8c965d6d424b1f"/>
  </p:notesMasterIdLst>
  <p:sldIdLst>
    <p:sldId xmlns:r="http://schemas.openxmlformats.org/officeDocument/2006/relationships" id="256" r:id="R43874db692b94868"/>
    <p:sldId xmlns:r="http://schemas.openxmlformats.org/officeDocument/2006/relationships" id="257" r:id="R0af9c4e6f0ca45b1"/>
    <p:sldId xmlns:r="http://schemas.openxmlformats.org/officeDocument/2006/relationships" id="258" r:id="R2e9a680a60954a7f"/>
    <p:sldId xmlns:r="http://schemas.openxmlformats.org/officeDocument/2006/relationships" id="259" r:id="Rc65c55f434934c43"/>
    <p:sldId xmlns:r="http://schemas.openxmlformats.org/officeDocument/2006/relationships" id="260" r:id="Rff33dd291cac4757"/>
    <p:sldId xmlns:r="http://schemas.openxmlformats.org/officeDocument/2006/relationships" id="261" r:id="R7d25c9bd992b49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94a850647a4bc9" /><Relationship Type="http://schemas.openxmlformats.org/officeDocument/2006/relationships/slideMaster" Target="/ppt/slideMasters/slideMaster1.xml" Id="Reb5fed2dff974748" /><Relationship Type="http://schemas.openxmlformats.org/officeDocument/2006/relationships/notesMaster" Target="/ppt/notesMasters/notesMaster1.xml" Id="R5d8c965d6d424b1f" /><Relationship Type="http://schemas.openxmlformats.org/officeDocument/2006/relationships/presProps" Target="/ppt/presProps.xml" Id="Rdbfc4bfdd57e4feb" /><Relationship Type="http://schemas.openxmlformats.org/officeDocument/2006/relationships/viewProps" Target="/ppt/viewProps.xml" Id="Rba99d80e8b4842aa" /><Relationship Type="http://schemas.openxmlformats.org/officeDocument/2006/relationships/tableStyles" Target="/ppt/tableStyles.xml" Id="R348aae4c07cc4975" /><Relationship Type="http://schemas.openxmlformats.org/officeDocument/2006/relationships/slide" Target="/ppt/slides/slide1.xml" Id="R43874db692b94868" /><Relationship Type="http://schemas.openxmlformats.org/officeDocument/2006/relationships/slide" Target="/ppt/slides/slide2.xml" Id="R0af9c4e6f0ca45b1" /><Relationship Type="http://schemas.openxmlformats.org/officeDocument/2006/relationships/slide" Target="/ppt/slides/slide3.xml" Id="R2e9a680a60954a7f" /><Relationship Type="http://schemas.openxmlformats.org/officeDocument/2006/relationships/slide" Target="/ppt/slides/slide4.xml" Id="Rc65c55f434934c43" /><Relationship Type="http://schemas.openxmlformats.org/officeDocument/2006/relationships/slide" Target="/ppt/slides/slide5.xml" Id="Rff33dd291cac4757" /><Relationship Type="http://schemas.openxmlformats.org/officeDocument/2006/relationships/slide" Target="/ppt/slides/slide6.xml" Id="R7d25c9bd992b49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4af1179c484f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9fa103edc04374" /><Relationship Type="http://schemas.openxmlformats.org/officeDocument/2006/relationships/notesMaster" Target="/ppt/notesMasters/notesMaster1.xml" Id="Radb53f9370334e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9630b167294176" /><Relationship Type="http://schemas.openxmlformats.org/officeDocument/2006/relationships/notesMaster" Target="/ppt/notesMasters/notesMaster1.xml" Id="Rf003dd8a86c640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d7cc3bae8a4162" /><Relationship Type="http://schemas.openxmlformats.org/officeDocument/2006/relationships/notesMaster" Target="/ppt/notesMasters/notesMaster1.xml" Id="R1f1e381d68724b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903a0f2593416b" /><Relationship Type="http://schemas.openxmlformats.org/officeDocument/2006/relationships/notesMaster" Target="/ppt/notesMasters/notesMaster1.xml" Id="R9bd309c04de643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cf5f83a4094306" /><Relationship Type="http://schemas.openxmlformats.org/officeDocument/2006/relationships/notesMaster" Target="/ppt/notesMasters/notesMaster1.xml" Id="R4f2667a0d35443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ef0f9f52e64dc3" /><Relationship Type="http://schemas.openxmlformats.org/officeDocument/2006/relationships/notesMaster" Target="/ppt/notesMasters/notesMaster1.xml" Id="R0acf1b567cc143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oral : présenter en quelques minutes le fonctionnement du modèle et les principaux résultats du rapport France.</a:t>
            </a:r>
            <a:endParaRPr/>
          </a:p>
          <a:p xmlns:a="http://schemas.openxmlformats.org/drawingml/2006/main">
            <a:r>
              <a:t>Sources : C:\Users\BQ6757\chronos2_v1\runs\exports\2026-09-09\fr\kalman\forecast_fr_2026-09-09_kalman.csv</a:t>
            </a:r>
            <a:endParaRPr/>
          </a:p>
          <a:p xmlns:a="http://schemas.openxmlformats.org/drawingml/2006/main">
            <a:r>
              <a:t>Rapport associé : runs/exports/2026-09-09/fr/kalman/forecast_fr_2026-09-09_kalman.html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Message clé : le modèle est un pipeline causal. Au moment de prévoir une journée, seules les informations déjà disponibles sont utilisées.</a:t>
            </a:r>
          </a:p>
          <a:p xmlns:a="http://schemas.openxmlformats.org/drawingml/2006/main">
            <a:r>
              <a:t>L’absence de fuite future signifie qu’aucune observation postérieure à la date de prévision n’entre dans l’entraînement, la sélection ou la correction appliquée à cette prévision.</a:t>
            </a:r>
          </a:p>
          <a:p xmlns:a="http://schemas.openxmlformats.org/drawingml/2006/main">
            <a:r>
              <a:t>Sources : Forecast.ps1, chronos2_hourly/kalman_residual.py, deliverables/Note_explicative_Kalman.txt.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Chronos-2 est un transformer encodeur-only pour séries temporelles. Il encode le contexte historique et les covariables, puis une tête de prédiction produit l’horizon futur sous forme de quantiles.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 correcteur résiduel apprend la quantité observée moins la médiane Chronos-2. CatBoost et HistGradientBoosting construisent chacun une suite d’arbres qui corrige progressivement les erreurs du modèle précédent. Leurs prédictions sont moyennées à parts égales.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 filtre de Kalman assimile ensuite uniquement les erreurs déjà observées. La gouvernance compare plusieurs filtres à une identité sans correction et n’applique un filtre que s’il apporte un gain récent.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https://huggingface.co/amazon/chronos-2 ; https://github.com/amazon-science/chronos-forecasting/blob/main/src/chronos/chronos2/model.py ; chronos2_hourly/kalman_residual.py ; deliverables/Note_explicative_Kalman.txt.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P50 est la trajectoire centrale. P10 et P90 encadrent l’incertitude du modèle : la valeur réalisée est attendue entre ces deux bornes dans environ 80 % des cas si le modèle est bien calibré.</a:t>
            </a:r>
          </a:p>
          <a:p xmlns:a="http://schemas.openxmlformats.org/drawingml/2006/main">
            <a:r>
              <a:t>Chiffres du jour : moyenne P50 152,81 EUR/MWh ; minimum 78,60 EUR/MWh à 13 h ; maximum 222,89 EUR/MWh à 19 h ; largeur maximale P10–P90 68,65 EUR/MWh à 16 h.</a:t>
            </a:r>
          </a:p>
          <a:p xmlns:a="http://schemas.openxmlformats.org/drawingml/2006/main">
            <a:r>
              <a:t>Source : C:\Users\BQ6757\chronos2_v1\runs\exports\2026-09-09\fr\kalman\forecast_fr_2026-09-09_kalman.csv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MAE est la taille moyenne des erreurs, sans tenir compte du signe. Le biais est la moyenne signée : un biais proche de zéro indique qu’il n’y a pas de surestimation ou de sous-estimation systématique.</a:t>
            </a:r>
          </a:p>
          <a:p xmlns:a="http://schemas.openxmlformats.org/drawingml/2006/main">
            <a:r>
              <a:t>Résultats : MAE 12,5521 contre 12,7050, gain 1,2034 % ; RMSE 20,0488 contre 20,3742, gain 1,5974 % ; biais −0,5590 contre −1,2297 ; corrélation 0,9320 contre 0,9299.</a:t>
            </a:r>
          </a:p>
          <a:p xmlns:a="http://schemas.openxmlformats.org/drawingml/2006/main">
            <a:r>
              <a:t>Point de vigilance : ramp MAE 7,2255 contre 7,2052. Le Kalman améliore le niveau de prix moyen, mais pas toutes les transitions horaires.</a:t>
            </a:r>
          </a:p>
          <a:p xmlns:a="http://schemas.openxmlformats.org/drawingml/2006/main">
            <a:r>
              <a:t>Source : runs/exports/2026-09-09/fr/kalman/forecast_fr_2026-09-09_kalman.html et kalman_filter_audit.json.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proposée : Chronos-2 fournit la structure principale, le correcteur résiduel retire les erreurs récurrentes et le Kalman adapte prudemment la prévision au régime récent.</a:t>
            </a:r>
            <a:endParaRPr/>
          </a:p>
          <a:p xmlns:a="http://schemas.openxmlformats.org/drawingml/2006/main">
            <a:r>
              <a:t>Pour lire le rapport, commencer par P50, regarder ensuite la largeur P10–P90, puis mettre la prévision en perspective avec les métriques historiques.</a:t>
            </a:r>
            <a:endParaRPr/>
          </a:p>
          <a:p xmlns:a="http://schemas.openxmlformats.org/drawingml/2006/main">
            <a:r>
              <a:t>Le benchmark Storm sert à comparer les résultats après coup. Il n’entre pas dans le filtre de Kalman.</a:t>
            </a:r>
            <a:endParaRPr/>
          </a:p>
          <a:p xmlns:a="http://schemas.openxmlformats.org/drawingml/2006/main">
            <a:r>
              <a:t>Source : runs/exports/2026-09-09/fr/kalman/forecast_fr_2026-09-09_kalman.html et kalman_filter_audit.json.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e0e059bad47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f55af1b1e4f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5ac5e47574e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185d4938e4a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12e24e9fd4d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746b3f8d94e5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c38f27d67442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b672d9d3b43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3cb0755164df3" /><Relationship Type="http://schemas.openxmlformats.org/officeDocument/2006/relationships/image" Target="/ppt/media/image.png" Id="Rc1c06b3f8564463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e060e18db46a3" /><Relationship Type="http://schemas.openxmlformats.org/officeDocument/2006/relationships/image" Target="/ppt/media/image2.png" Id="Rb8e6e1de54fb45a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c1c06b3f8564463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b8e6e1de54fb45a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5057d7d85c46f2" /><Relationship Type="http://schemas.openxmlformats.org/officeDocument/2006/relationships/slideLayout" Target="/ppt/slideLayouts/slideLayout1.xml" Id="Rd361bd83c9174040" /><Relationship Type="http://schemas.openxmlformats.org/officeDocument/2006/relationships/slideLayout" Target="/ppt/slideLayouts/slideLayout2.xml" Id="R620393fd73574a6f" /><Relationship Type="http://schemas.openxmlformats.org/officeDocument/2006/relationships/slideLayout" Target="/ppt/slideLayouts/slideLayout3.xml" Id="Rfc5dbc9175fe42c0" /><Relationship Type="http://schemas.openxmlformats.org/officeDocument/2006/relationships/slideLayout" Target="/ppt/slideLayouts/slideLayout4.xml" Id="Rd3d5110c4fba48d6" /><Relationship Type="http://schemas.openxmlformats.org/officeDocument/2006/relationships/slideLayout" Target="/ppt/slideLayouts/slideLayout5.xml" Id="R07e24bfc7e0842d0" /><Relationship Type="http://schemas.openxmlformats.org/officeDocument/2006/relationships/slideLayout" Target="/ppt/slideLayouts/slideLayout6.xml" Id="R6fc60a256dac4800" /><Relationship Type="http://schemas.openxmlformats.org/officeDocument/2006/relationships/slideLayout" Target="/ppt/slideLayouts/slideLayout7.xml" Id="Rb1abe90c225b4eab" /><Relationship Type="http://schemas.openxmlformats.org/officeDocument/2006/relationships/slideLayout" Target="/ppt/slideLayouts/slideLayout8.xml" Id="Rd7a9427ee3fa433e" /><Relationship Type="http://schemas.openxmlformats.org/officeDocument/2006/relationships/slideLayout" Target="/ppt/slideLayouts/slideLayout9.xml" Id="R9e5c06cbf6764e84" /><Relationship Type="http://schemas.openxmlformats.org/officeDocument/2006/relationships/slideLayout" Target="/ppt/slideLayouts/slideLayout10.xml" Id="R3045e62d79e14b7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61bd83c9174040"/>
    <p:sldLayoutId xmlns:r="http://schemas.openxmlformats.org/officeDocument/2006/relationships" id="2147483650" r:id="R620393fd73574a6f"/>
    <p:sldLayoutId xmlns:r="http://schemas.openxmlformats.org/officeDocument/2006/relationships" id="2147483651" r:id="Rfc5dbc9175fe42c0"/>
    <p:sldLayoutId xmlns:r="http://schemas.openxmlformats.org/officeDocument/2006/relationships" id="2147483652" r:id="Rd3d5110c4fba48d6"/>
    <p:sldLayoutId xmlns:r="http://schemas.openxmlformats.org/officeDocument/2006/relationships" id="2147483653" r:id="R07e24bfc7e0842d0"/>
    <p:sldLayoutId xmlns:r="http://schemas.openxmlformats.org/officeDocument/2006/relationships" id="2147483654" r:id="R6fc60a256dac4800"/>
    <p:sldLayoutId xmlns:r="http://schemas.openxmlformats.org/officeDocument/2006/relationships" id="2147483655" r:id="Rb1abe90c225b4eab"/>
    <p:sldLayoutId xmlns:r="http://schemas.openxmlformats.org/officeDocument/2006/relationships" id="2147483656" r:id="Rd7a9427ee3fa433e"/>
    <p:sldLayoutId xmlns:r="http://schemas.openxmlformats.org/officeDocument/2006/relationships" id="2147483657" r:id="R9e5c06cbf6764e84"/>
    <p:sldLayoutId xmlns:r="http://schemas.openxmlformats.org/officeDocument/2006/relationships" id="2147483658" r:id="R3045e62d79e14b7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c61a380334d36" /><Relationship Type="http://schemas.openxmlformats.org/officeDocument/2006/relationships/notesSlide" Target="/ppt/notesSlides/notesSlide1.xml" Id="R191fa8be6b5b41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b4a59df52084a5c" /><Relationship Type="http://schemas.openxmlformats.org/officeDocument/2006/relationships/notesSlide" Target="/ppt/notesSlides/notesSlide2.xml" Id="Ra285c196221e47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37e2cfe180a4775" /><Relationship Type="http://schemas.openxmlformats.org/officeDocument/2006/relationships/notesSlide" Target="/ppt/notesSlides/notesSlide3.xml" Id="R9f2fd2364db64b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cd6e524a5f4aa4" /><Relationship Type="http://schemas.openxmlformats.org/officeDocument/2006/relationships/chart" Target="/ppt/slides/charts/chart1.xml" Id="Rdbf2ce1a58864962" /><Relationship Type="http://schemas.openxmlformats.org/officeDocument/2006/relationships/notesSlide" Target="/ppt/notesSlides/notesSlide4.xml" Id="Rd1e7781fe09440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5efd073874361" /><Relationship Type="http://schemas.openxmlformats.org/officeDocument/2006/relationships/chart" Target="/ppt/slides/charts/chart2.xml" Id="R305803f5857140da" /><Relationship Type="http://schemas.openxmlformats.org/officeDocument/2006/relationships/notesSlide" Target="/ppt/notesSlides/notesSlide5.xml" Id="Re4c3be3831a94d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0659370794df6" /><Relationship Type="http://schemas.openxmlformats.org/officeDocument/2006/relationships/notesSlide" Target="/ppt/notesSlides/notesSlide6.xml" Id="Raddd9dd1648441ce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Prix horaire prévu, EUR/MWh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8284F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P10</c:v>
          </c:tx>
          <c:spPr>
            <a:ln xmlns:a="http://schemas.openxmlformats.org/drawingml/2006/main" w="19050">
              <a:solidFill>
                <a:srgbClr val="84B9F3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149.95876707045437</c:v>
              </c:pt>
              <c:pt idx="1">
                <c:v>137.7572453188675</c:v>
              </c:pt>
              <c:pt idx="2">
                <c:v>127.81762860557828</c:v>
              </c:pt>
              <c:pt idx="3">
                <c:v>121.36857639829064</c:v>
              </c:pt>
              <c:pt idx="4">
                <c:v>124.41282872865486</c:v>
              </c:pt>
              <c:pt idx="5">
                <c:v>137.5155774568129</c:v>
              </c:pt>
              <c:pt idx="6">
                <c:v>165.04243973063143</c:v>
              </c:pt>
              <c:pt idx="7">
                <c:v>184.68246175483785</c:v>
              </c:pt>
              <c:pt idx="8">
                <c:v>174.53279072186422</c:v>
              </c:pt>
              <c:pt idx="9">
                <c:v>146.54629785883168</c:v>
              </c:pt>
              <c:pt idx="10">
                <c:v>118.57166762693495</c:v>
              </c:pt>
              <c:pt idx="11">
                <c:v>83.31875854807797</c:v>
              </c:pt>
              <c:pt idx="12">
                <c:v>60.61183925716215</c:v>
              </c:pt>
              <c:pt idx="13">
                <c:v>48.07922751650044</c:v>
              </c:pt>
              <c:pt idx="14">
                <c:v>55.33070009108191</c:v>
              </c:pt>
              <c:pt idx="15">
                <c:v>61.5314879905328</c:v>
              </c:pt>
              <c:pt idx="16">
                <c:v>78.67469074860519</c:v>
              </c:pt>
              <c:pt idx="17">
                <c:v>130.1890976204014</c:v>
              </c:pt>
              <c:pt idx="18">
                <c:v>171.15081744940318</c:v>
              </c:pt>
              <c:pt idx="19">
                <c:v>202.60330087862977</c:v>
              </c:pt>
              <c:pt idx="20">
                <c:v>201.9018407426704</c:v>
              </c:pt>
              <c:pt idx="21">
                <c:v>187.9454664795016</c:v>
              </c:pt>
              <c:pt idx="22">
                <c:v>176.8143141306665</c:v>
              </c:pt>
              <c:pt idx="23">
                <c:v>164.29861130777311</c:v>
              </c:pt>
            </c:numLit>
          </c:val>
          <c:smooth val="0"/>
        </c:ser>
        <c:ser>
          <c:idx val="1"/>
          <c:order val="1"/>
          <c:tx>
            <c:v>P90</c:v>
          </c:tx>
          <c:spPr>
            <a:ln xmlns:a="http://schemas.openxmlformats.org/drawingml/2006/main" w="19050">
              <a:solidFill>
                <a:srgbClr val="4D8FE7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162.25065244643093</c:v>
              </c:pt>
              <c:pt idx="1">
                <c:v>154.65757490871124</c:v>
              </c:pt>
              <c:pt idx="2">
                <c:v>147.65831158897672</c:v>
              </c:pt>
              <c:pt idx="3">
                <c:v>145.39463841000938</c:v>
              </c:pt>
              <c:pt idx="4">
                <c:v>149.8417532892017</c:v>
              </c:pt>
              <c:pt idx="5">
                <c:v>163.18820013747697</c:v>
              </c:pt>
              <c:pt idx="6">
                <c:v>191.8681233243814</c:v>
              </c:pt>
              <c:pt idx="7">
                <c:v>213.22176839546285</c:v>
              </c:pt>
              <c:pt idx="8">
                <c:v>204.5584254874892</c:v>
              </c:pt>
              <c:pt idx="9">
                <c:v>180.61232263910512</c:v>
              </c:pt>
              <c:pt idx="10">
                <c:v>157.04244704588027</c:v>
              </c:pt>
              <c:pt idx="11">
                <c:v>135.0407205231756</c:v>
              </c:pt>
              <c:pt idx="12">
                <c:v>122.21332546321682</c:v>
              </c:pt>
              <c:pt idx="13">
                <c:v>109.03237158998678</c:v>
              </c:pt>
              <c:pt idx="14">
                <c:v>115.45225160475376</c:v>
              </c:pt>
              <c:pt idx="15">
                <c:v>123.3432555686578</c:v>
              </c:pt>
              <c:pt idx="16">
                <c:v>147.3235402359099</c:v>
              </c:pt>
              <c:pt idx="17">
                <c:v>180.91176912919047</c:v>
              </c:pt>
              <c:pt idx="18">
                <c:v>219.01373248846568</c:v>
              </c:pt>
              <c:pt idx="19">
                <c:v>251.7794483395673</c:v>
              </c:pt>
              <c:pt idx="20">
                <c:v>253.1616521440376</c:v>
              </c:pt>
              <c:pt idx="21">
                <c:v>229.34405656739216</c:v>
              </c:pt>
              <c:pt idx="22">
                <c:v>208.23032975566647</c:v>
              </c:pt>
              <c:pt idx="23">
                <c:v>193.13164963785124</c:v>
              </c:pt>
            </c:numLit>
          </c:val>
          <c:smooth val="0"/>
        </c:ser>
        <c:ser>
          <c:idx val="2"/>
          <c:order val="2"/>
          <c:tx>
            <c:v>P50</c:v>
          </c:tx>
          <c:spPr>
            <a:ln xmlns:a="http://schemas.openxmlformats.org/drawingml/2006/main" w="38100">
              <a:solidFill>
                <a:srgbClr val="08284F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157.38476194350125</c:v>
              </c:pt>
              <c:pt idx="1">
                <c:v>146.90362288234405</c:v>
              </c:pt>
              <c:pt idx="2">
                <c:v>138.93303082725797</c:v>
              </c:pt>
              <c:pt idx="3">
                <c:v>133.1241611150875</c:v>
              </c:pt>
              <c:pt idx="4">
                <c:v>137.29474096010014</c:v>
              </c:pt>
              <c:pt idx="5">
                <c:v>151.26104559646134</c:v>
              </c:pt>
              <c:pt idx="6">
                <c:v>178.43045547770174</c:v>
              </c:pt>
              <c:pt idx="7">
                <c:v>197.84766866401756</c:v>
              </c:pt>
              <c:pt idx="8">
                <c:v>189.5328059806533</c:v>
              </c:pt>
              <c:pt idx="9">
                <c:v>163.85341150629262</c:v>
              </c:pt>
              <c:pt idx="10">
                <c:v>137.86422438963027</c:v>
              </c:pt>
              <c:pt idx="11">
                <c:v>110.42359405833186</c:v>
              </c:pt>
              <c:pt idx="12">
                <c:v>92.83637233821683</c:v>
              </c:pt>
              <c:pt idx="13">
                <c:v>78.59606177553364</c:v>
              </c:pt>
              <c:pt idx="14">
                <c:v>86.03741853590611</c:v>
              </c:pt>
              <c:pt idx="15">
                <c:v>91.78334956279842</c:v>
              </c:pt>
              <c:pt idx="16">
                <c:v>109.0994954361052</c:v>
              </c:pt>
              <c:pt idx="17">
                <c:v>153.06563875809672</c:v>
              </c:pt>
              <c:pt idx="18">
                <c:v>193.07891803534068</c:v>
              </c:pt>
              <c:pt idx="19">
                <c:v>222.88499338351255</c:v>
              </c:pt>
              <c:pt idx="20">
                <c:v>222.70439201220165</c:v>
              </c:pt>
              <c:pt idx="21">
                <c:v>205.13008256836875</c:v>
              </c:pt>
              <c:pt idx="22">
                <c:v>191.21890092265872</c:v>
              </c:pt>
              <c:pt idx="23">
                <c:v>178.08001389566374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6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4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43B5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Erreur historique, EUR/MWh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8284F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Correcteur résiduel</c:v>
          </c:tx>
          <c:spPr>
            <a:solidFill xmlns:a="http://schemas.openxmlformats.org/drawingml/2006/main">
              <a:srgbClr val="7E91A8"/>
            </a:solidFill>
            <a:ln xmlns:a="http://schemas.openxmlformats.org/drawingml/2006/main" w="9525">
              <a:solidFill>
                <a:srgbClr val="7E91A8"/>
              </a:solidFill>
              <a:prstDash val="solid"/>
            </a:ln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0.0</c:formatCode>
              <c:ptCount val="2"/>
              <c:pt idx="0">
                <c:v>12.705</c:v>
              </c:pt>
              <c:pt idx="1">
                <c:v>20.3742</c:v>
              </c:pt>
            </c:numLit>
          </c:val>
        </c:ser>
        <c:ser>
          <c:idx val="1"/>
          <c:order val="1"/>
          <c:tx>
            <c:v>Après Kalman</c:v>
          </c:tx>
          <c:spPr>
            <a:solidFill xmlns:a="http://schemas.openxmlformats.org/drawingml/2006/main">
              <a:srgbClr val="175CD4"/>
            </a:solidFill>
            <a:ln xmlns:a="http://schemas.openxmlformats.org/drawingml/2006/main" w="9525">
              <a:solidFill>
                <a:srgbClr val="175CD4"/>
              </a:solidFill>
              <a:prstDash val="solid"/>
            </a:ln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0.0</c:formatCode>
              <c:ptCount val="2"/>
              <c:pt idx="0">
                <c:v>12.5521</c:v>
              </c:pt>
              <c:pt idx="1">
                <c:v>20.0488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8284F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4F0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EDF5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43B5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EDF5FE"/>
    </a:solidFill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Prévision day-ahead France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Chronos-2 et ses correcteurs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Prévision du 9 septembre 2026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Rapport France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Présentation simple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Modèle et résultats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 SEPT.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FORECAST FRANCE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1C6BFCB-EC3A-4BF2-824A-25FC3D35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 wrap="square" anchor="t">
            <a:normAutofit fontScale="9860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Données disponibles à D−1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Prix récents, calendrier et prévisions de charge résiduelle sur cinq pays.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Du signal brut au rapport publié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 wrap="square" anchor="t">
            <a:normAutofit fontScale="8997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Prévision et correction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Chronos-2 produit P10, P50 et P90. Le correcteur résiduel apprend les erreurs récurrentes.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 wrap="square" anchor="t">
            <a:normAutofit fontScale="793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Kalman et publication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Le filtre admissible le plus performant est retenu, puis les contrôles produisent le CSV et le rapport HTML.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146048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 · ENTRÉES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2 · MODÈLE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3 · SORTIE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Chronos-2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Transformer préentraîné de type encodeur-only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Lit l’historique et les variables connues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Produit directement P10, P50 et P90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Correcteur résiduel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Moyenne de CatBoost et HistGradientBoosting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Prévoit l’erreur restante de Chronos-2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Décale les trois quantiles de façon identique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Filtre de Kalman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Suit le biais récent au fil des jours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Teste plusieurs dynamiques sans fuite future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Peut conserver la prévision inchangée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Trois étages, trois rôles complémentaires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Chaque étage traite une source d’erreur différente, du signal de fond jusqu’aux écarts les plus récents.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spc="100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FONCTIONNEMENT DU MODÈLE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697392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La prévision du 9 septembre 2026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152,8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68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Prix moyen P50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EUR/MWh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68,7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27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Largeur maximale P10–P90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à 16 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Le creux intervient à 13 h, puis la courbe remonte rapidement vers un pic à 19 h.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EC22377-6A13-05D7-1E02-074A373A36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100"/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385834" y="1254715"/>
          <a:ext xmlns:a="http://schemas.openxmlformats.org/drawingml/2006/main" cx="5534180" cy="52592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f2ce1a58864962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05247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Le Kalman améliore la précision moyenne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1,2 %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7844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Gain de MAE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par rapport au correcteur résiduel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−0,56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68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Biais moyen après Kalman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EUR/MWh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Évaluation causale sur 365 jours et 8 760 heures. La correction de Kalman réduit la MAE et la RMSE, tout en rapprochant le biais de zéro. La MAE des variations horaires est légèrement moins bonne.</a:t>
            </a:r>
          </a:p>
        </p:txBody>
      </p:sp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15985" y="6056248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6A191F-219A-DB9E-DC19-FDD1658D91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 sz="1100"/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5803f5857140da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À retenir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Une prévision, une fourchette, des garde-fous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 wrap="square">
            <a:normAutofit fontScale="7829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Présenter ensemble la courbe P50,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l’intervalle P10–P90 et la performance historique.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FORECAST FRANCE · 9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2026-09-08T15:30:02.8470000Z</dcterms:created>
  <dcterms:modified xsi:type="dcterms:W3CDTF">2026-09-08T15:30:02.8470000Z</dcterms:modified>
</coreProperties>
</file>