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5666a7e3e6499a" /><Relationship Type="http://schemas.openxmlformats.org/officeDocument/2006/relationships/extended-properties" Target="/docProps/app.xml" Id="R34becbc8345c4594" /><Relationship Type="http://schemas.openxmlformats.org/officeDocument/2006/relationships/officeDocument" Target="/ppt/presentation.xml" Id="Re8e692d7beee4d38" /></Relationships>
</file>

<file path=ppt/presentation.xml><?xml version="1.0" encoding="utf-8"?>
<p:presentation xmlns:p="http://schemas.openxmlformats.org/presentationml/2006/main">
  <p:sldMasterIdLst>
    <p:sldMasterId xmlns:r="http://schemas.openxmlformats.org/officeDocument/2006/relationships" id="2147483648" r:id="Rcc5214e242364ded"/>
  </p:sldMasterIdLst>
  <p:notesMasterIdLst>
    <p:notesMasterId xmlns:r="http://schemas.openxmlformats.org/officeDocument/2006/relationships" r:id="R5cfc8a5ed70648cb"/>
  </p:notesMasterIdLst>
  <p:sldIdLst>
    <p:sldId xmlns:r="http://schemas.openxmlformats.org/officeDocument/2006/relationships" id="256" r:id="R3bcff5dfde0d44f2"/>
    <p:sldId xmlns:r="http://schemas.openxmlformats.org/officeDocument/2006/relationships" id="257" r:id="R45d103d0d09547e4"/>
    <p:sldId xmlns:r="http://schemas.openxmlformats.org/officeDocument/2006/relationships" id="258" r:id="Rbb5c242c54d54f40"/>
    <p:sldId xmlns:r="http://schemas.openxmlformats.org/officeDocument/2006/relationships" id="259" r:id="R08782766400d4994"/>
    <p:sldId xmlns:r="http://schemas.openxmlformats.org/officeDocument/2006/relationships" id="260" r:id="R081200a28d0748e5"/>
    <p:sldId xmlns:r="http://schemas.openxmlformats.org/officeDocument/2006/relationships" id="261" r:id="R37e3a200564946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57d328955d54169" /><Relationship Type="http://schemas.openxmlformats.org/officeDocument/2006/relationships/slideMaster" Target="/ppt/slideMasters/slideMaster1.xml" Id="Rcc5214e242364ded" /><Relationship Type="http://schemas.openxmlformats.org/officeDocument/2006/relationships/notesMaster" Target="/ppt/notesMasters/notesMaster1.xml" Id="R5cfc8a5ed70648cb" /><Relationship Type="http://schemas.openxmlformats.org/officeDocument/2006/relationships/presProps" Target="/ppt/presProps.xml" Id="R8b231af3220e4b97" /><Relationship Type="http://schemas.openxmlformats.org/officeDocument/2006/relationships/viewProps" Target="/ppt/viewProps.xml" Id="R3564420de9b243ee" /><Relationship Type="http://schemas.openxmlformats.org/officeDocument/2006/relationships/tableStyles" Target="/ppt/tableStyles.xml" Id="Rb91bbfbebcb94621" /><Relationship Type="http://schemas.openxmlformats.org/officeDocument/2006/relationships/slide" Target="/ppt/slides/slide1.xml" Id="R3bcff5dfde0d44f2" /><Relationship Type="http://schemas.openxmlformats.org/officeDocument/2006/relationships/slide" Target="/ppt/slides/slide2.xml" Id="R45d103d0d09547e4" /><Relationship Type="http://schemas.openxmlformats.org/officeDocument/2006/relationships/slide" Target="/ppt/slides/slide3.xml" Id="Rbb5c242c54d54f40" /><Relationship Type="http://schemas.openxmlformats.org/officeDocument/2006/relationships/slide" Target="/ppt/slides/slide4.xml" Id="R08782766400d4994" /><Relationship Type="http://schemas.openxmlformats.org/officeDocument/2006/relationships/slide" Target="/ppt/slides/slide5.xml" Id="R081200a28d0748e5" /><Relationship Type="http://schemas.openxmlformats.org/officeDocument/2006/relationships/slide" Target="/ppt/slides/slide6.xml" Id="R37e3a200564946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0e1be7e97b45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4b789b5db74ce0" /><Relationship Type="http://schemas.openxmlformats.org/officeDocument/2006/relationships/notesMaster" Target="/ppt/notesMasters/notesMaster1.xml" Id="R0e1f22cf745c4f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659f8b63b34403" /><Relationship Type="http://schemas.openxmlformats.org/officeDocument/2006/relationships/notesMaster" Target="/ppt/notesMasters/notesMaster1.xml" Id="R678b74c8d83a48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5b698f3bca41ce" /><Relationship Type="http://schemas.openxmlformats.org/officeDocument/2006/relationships/notesMaster" Target="/ppt/notesMasters/notesMaster1.xml" Id="Rebb8217ec43642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3c6f6c05624eab" /><Relationship Type="http://schemas.openxmlformats.org/officeDocument/2006/relationships/notesMaster" Target="/ppt/notesMasters/notesMaster1.xml" Id="R88802aef0ff949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1927bbf1544697" /><Relationship Type="http://schemas.openxmlformats.org/officeDocument/2006/relationships/notesMaster" Target="/ppt/notesMasters/notesMaster1.xml" Id="R2970b82d380e41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db546c4f9748aa" /><Relationship Type="http://schemas.openxmlformats.org/officeDocument/2006/relationships/notesMaster" Target="/ppt/notesMasters/notesMaster1.xml" Id="Rf8d85ca31acc4c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
            </a:r>
            <a:endParaRPr/>
          </a:p>
          <a:p xmlns:a="http://schemas.openxmlformats.org/drawingml/2006/main">
            <a:r>
              <a:t>Périmètre de ce support : variante nucléaire FR du rapport du 09/09/2026. La production nucléaire prévue enrichit les entrées de Chronos-2, du correcteur CatBoost et du candidat Kalman linear_market. Le pipeline standard Both n’active pas automatiquement ce parcours expérimental. Sources : NUCLEAR_FORECAST.md, config/nuclear_forecast.yaml.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support décrit ici la variante nucléaire FR illustrée par le rapport du 09/09/2026. La configuration résolue utilise residual_correction.backend: catboost, et non le mélange 50/50 CatBoost/HistGradientBoosting du support général.</a:t>
            </a:r>
            <a:endParaRPr/>
          </a:p>
          <a:p xmlns:a="http://schemas.openxmlformats.org/drawingml/2006/main">
            <a:r>
              <a:t>Chronos-2 reste un réseau préentraîné gelé. Le pipeline recalcule ses prévisions historiques avec la covariable nucléaire dans le contexte et dans les entrées futures connues. Le correcteur apprend la cible prix observé moins P50 Chronos-2, sur les 365 jours civils précédant chaque livraison D. Il reçoit également la colonne nucléaire.</a:t>
            </a:r>
            <a:endParaRPr/>
          </a:p>
          <a:p xmlns:a="http://schemas.openxmlformats.org/drawingml/2006/main">
            <a:r>
              <a:t>Le filtre de Kalman intervient ensuite. Sa banque comprend un candidat linear_market qui reçoit le nucléaire normalisé. La gouvernance peut choisir un autre filtre ou un poids nul. Le gain de la correction globale ne mesure pas le gain de la seule variable nucléaire.</a:t>
            </a:r>
            <a:endParaRPr/>
          </a:p>
          <a:p xmlns:a="http://schemas.openxmlformats.org/drawingml/2006/main">
            <a:r>
              <a:t>L’exemple 150 + 8 + 3 = 161 EUR/MWh est fictif. Les corrections décalent P10, P50 et P90 ensemble à une heure donnée.</a:t>
            </a:r>
            <a:endParaRPr/>
          </a:p>
          <a:p xmlns:a="http://schemas.openxmlformats.org/drawingml/2006/main">
            <a:r>
              <a:t>Sources : runs/experiments/nuclear_forecast_v1/2026-09-09/fr/civil_pit_v2/resolved_config.yaml, section residual_correction ; NUCLEAR_FORECAST.md, Méthode et lecture des performances ; chronos2_hourly/nuclear_forecast.py ; chronos2_hourly/kalman_residual.py.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Explication orale : pour chaque heure de la journée à prévoir, on ajoute une valeur de production nucléaire française prévue en GW. La source Saturn est power.fr.generation.nuclear.gw.fcst. L’alias est fr_nuclear_generation_fcst_gw, avec la colonne connue future known_fr_nuclear_generation_fcst_gw_oracle. Ici oracle est un nom technique : il désigne une prévision sélectionnée as-of, pas la production réalisée. Le timestamp D−1 08 h Europe/Paris est celui de la requête historique. Il ne constitue pas à lui seul une preuve de la date de publication initiale du fournisseur. Le parcours reste expérimental.</a:t>
            </a:r>
            <a:endParaRPr/>
          </a:p>
          <a:p xmlns:a="http://schemas.openxmlformats.org/drawingml/2006/main">
            <a:r>
              <a:t/>
            </a:r>
            <a:endParaRPr/>
          </a:p>
          <a:p xmlns:a="http://schemas.openxmlformats.org/drawingml/2006/main">
            <a:r>
              <a:t>Chronos-2 : la série enrichit le contexte historique et les covariables futures connues, aux côtés des charges résiduelles et du calendrier. Le réseau garde ses poids préentraînés, mais les prévisions Chronos historiques sont recalculées avec cette nouvelle entrée.</a:t>
            </a:r>
            <a:endParaRPr/>
          </a:p>
          <a:p xmlns:a="http://schemas.openxmlformats.org/drawingml/2006/main">
            <a:r>
              <a:t/>
            </a:r>
            <a:endParaRPr/>
          </a:p>
          <a:p xmlns:a="http://schemas.openxmlformats.org/drawingml/2006/main">
            <a:r>
              <a:t>CatBoost : la même variable entre dans les colonnes explicatives. La cible est prix observé − P50 Chronos. On réentraîne le correcteur chaque jour sur D−365 à D−1, en utilisant les nouvelles prévisions Chronos. Le run nucléaire actuel utilise CatBoost seul, pas le mélange 50/50 du pipeline de référence.</a:t>
            </a:r>
            <a:endParaRPr/>
          </a:p>
          <a:p xmlns:a="http://schemas.openxmlformats.org/drawingml/2006/main">
            <a:r>
              <a:t/>
            </a:r>
            <a:endParaRPr/>
          </a:p>
          <a:p xmlns:a="http://schemas.openxmlformats.org/drawingml/2006/main">
            <a:r>
              <a:t>Kalman : le candidat linear_market reçoit le nucléaire centré et normalisé. La normalisation utilise la médiane et max(1,4826 × MAD, écart-type, 10⁻⁶), puis borne la valeur à ±5. L’état du filtre apprend un coefficient avec les autres variables. La gouvernance choisit le candidat et son poids à partir des erreurs passées, donc ce candidat peut ne pas être retenu. Il n’existe pas de règle fixe de conversion d’un GW nucléaire en EUR/MWh. Les agrégats de charges résiduelles ne changent pas.</a:t>
            </a:r>
            <a:endParaRPr/>
          </a:p>
          <a:p xmlns:a="http://schemas.openxmlformats.org/drawingml/2006/main">
            <a:r>
              <a:t/>
            </a:r>
            <a:endParaRPr/>
          </a:p>
          <a:p xmlns:a="http://schemas.openxmlformats.org/drawingml/2006/main">
            <a:r>
              <a:t>Ancien essai FR identifié : runs/tmp/screen_fundamentals_nested.py réutilisait les experts OOF existants sans relancer Chronos, puis ajoutait notamment le nucléaire dans des variantes du correcteur. Il utilisait l’ancien cache fr_nuclear_generation_fcst_long.parquet, que le parcours actuel exclut en raison d’une autre interprétation horaire. Cet essai utilisait déjà un forecast de génération. On ne peut donc pas expliquer tous les résultats précédents par une confusion avec la disponibilité REMIT. Aucun score FR antérieur chiffré n’a été confirmé dans les résultats retrouvés. Le constat d’absence de gain est rapporté par l’utilisateur.</a:t>
            </a:r>
            <a:endParaRPr/>
          </a:p>
          <a:p xmlns:a="http://schemas.openxmlformats.org/drawingml/2006/main">
            <a:r>
              <a:t/>
            </a:r>
            <a:endParaRPr/>
          </a:p>
          <a:p xmlns:a="http://schemas.openxmlformats.org/drawingml/2006/main">
            <a:r>
              <a:t>Interprétation : le nouveau parcours diffère sur plusieurs dimensions. Une amélioration globale ne permet donc pas d’attribuer le gain à la seule variable nucléaire. Il faut refaire le même pipeline avec et sans le nucléaire, sur les mêmes données, périodes, heures, hyperparamètres et règles de sélection, puis comparer les erreurs appariées hors échantillon. Le graphique d’influence du rapport mesure une sensibilité locale de la prévision amont, pas un gain de MAE ni une relation causale.</a:t>
            </a:r>
            <a:endParaRPr/>
          </a:p>
          <a:p xmlns:a="http://schemas.openxmlformats.org/drawingml/2006/main">
            <a:r>
              <a:t/>
            </a:r>
            <a:endParaRPr/>
          </a:p>
          <a:p xmlns:a="http://schemas.openxmlformats.org/drawingml/2006/main">
            <a:r>
              <a:t>Sources : NUCLEAR_FORECAST.md, sections Protocole civil PIT et Méthode et lecture des performances ; run_nuclear_forecast.py, injection covariables ; chronos2_hourly/nuclear_forecast.py, _nuclear_kalman_config et refit rolling ; chronos2_hourly/models/residual_corrector.py ; chronos2_hourly/kalman_residual.py ; runs/experiments/nuclear_forecast_v1/2026-09-09/fr/civil_pit_v2/resolved_config.yaml ; runs/tmp/screen_fundamentals_nested.py.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841a96e9a445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fc4094c2334c66" /><Relationship Type="http://schemas.openxmlformats.org/officeDocument/2006/relationships/slideLayout" Target="/ppt/slideLayouts/slideLayout1.xml" Id="R2f3dbb95840f4f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3dbb95840f4f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29862e0c404426" /><Relationship Type="http://schemas.openxmlformats.org/officeDocument/2006/relationships/notesSlide" Target="/ppt/notesSlides/notesSlide1.xml" Id="Rcb8dd784116c41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9b5ef609164bcf" /><Relationship Type="http://schemas.openxmlformats.org/officeDocument/2006/relationships/notesSlide" Target="/ppt/notesSlides/notesSlide2.xml" Id="Rbbdf03ea7da948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cbe6ee1ec54f95" /><Relationship Type="http://schemas.openxmlformats.org/officeDocument/2006/relationships/notesSlide" Target="/ppt/notesSlides/notesSlide3.xml" Id="R04c776f7f1a140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1e07d0c5084b67" /><Relationship Type="http://schemas.openxmlformats.org/officeDocument/2006/relationships/notesSlide" Target="/ppt/notesSlides/notesSlide4.xml" Id="R30c57e8dd9fb41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9b7f3683b14b0c" /><Relationship Type="http://schemas.openxmlformats.org/officeDocument/2006/relationships/chart" Target="/ppt/slides/charts/chart1.xml" Id="Ra0ce7f6b46aa4898" /><Relationship Type="http://schemas.openxmlformats.org/officeDocument/2006/relationships/chart" Target="/ppt/slides/charts/chart2.xml" Id="Rd421be108b434bd8" /><Relationship Type="http://schemas.openxmlformats.org/officeDocument/2006/relationships/notesSlide" Target="/ppt/notesSlides/notesSlide5.xml" Id="Ra00a1b0ace6f4b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a118167a70444c" /><Relationship Type="http://schemas.openxmlformats.org/officeDocument/2006/relationships/chart" Target="/ppt/slides/charts/chart3.xml" Id="R642f43ff2de041b3" /><Relationship Type="http://schemas.openxmlformats.org/officeDocument/2006/relationships/notesSlide" Target="/ppt/notesSlides/notesSlide6.xml" Id="Rfe4a9a5f9fe04543"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725" b="1">
                <a:solidFill>
                  <a:srgbClr val="000000"/>
                </a:solidFill>
                <a:latin typeface="Helvetica Neue"/>
                <a:ea typeface="Helvetica Neue"/>
                <a:cs typeface="Helvetica Neue"/>
              </a:rPr>
              <a:t>MAE horaire (EUR/MWh)</a:t>
            </a:r>
          </a:p>
        </c:rich>
      </c:tx>
      <c:overlay val="0"/>
      <c:txPr>
        <a:bodyPr xmlns:a="http://schemas.openxmlformats.org/drawingml/2006/main" anchorCtr="1"/>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p>
      </c:txPr>
    </c:title>
    <c:autoTitleDeleted val="0"/>
    <c:plotArea>
      <c:lineChart>
        <c:grouping val="standard"/>
        <c:varyColors val="0"/>
        <c:ser>
          <c:idx val="0"/>
          <c:order val="0"/>
          <c:tx>
            <c:v>Modèle</c:v>
          </c:tx>
          <c:spPr>
            <a:ln xmlns:a="http://schemas.openxmlformats.org/drawingml/2006/main" w="30480">
              <a:solidFill>
                <a:srgbClr val="3D8DFF"/>
              </a:solidFill>
              <a:prstDash val="solid"/>
            </a:ln>
          </c:spPr>
          <c:marker>
            <c:symbol val="none"/>
          </c:marker>
          <c:cat>
            <c:numLit>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9.849157213360762</c:v>
              </c:pt>
              <c:pt idx="1">
                <c:v>9.567047736991523</c:v>
              </c:pt>
              <c:pt idx="2">
                <c:v>10.036229755359962</c:v>
              </c:pt>
              <c:pt idx="3">
                <c:v>10.7836310616838</c:v>
              </c:pt>
              <c:pt idx="4">
                <c:v>10.667657901830706</c:v>
              </c:pt>
              <c:pt idx="5">
                <c:v>10.920119014516779</c:v>
              </c:pt>
              <c:pt idx="6">
                <c:v>11.847318675802935</c:v>
              </c:pt>
              <c:pt idx="7">
                <c:v>12.380299633284439</c:v>
              </c:pt>
              <c:pt idx="8">
                <c:v>13.207583657486458</c:v>
              </c:pt>
              <c:pt idx="9">
                <c:v>11.97176600129496</c:v>
              </c:pt>
              <c:pt idx="10">
                <c:v>11.657004068602463</c:v>
              </c:pt>
              <c:pt idx="11">
                <c:v>11.372520706838054</c:v>
              </c:pt>
              <c:pt idx="12">
                <c:v>12.03832389212062</c:v>
              </c:pt>
              <c:pt idx="13">
                <c:v>12.41562145295972</c:v>
              </c:pt>
              <c:pt idx="14">
                <c:v>12.902235832531316</c:v>
              </c:pt>
              <c:pt idx="15">
                <c:v>11.605766904221264</c:v>
              </c:pt>
              <c:pt idx="16">
                <c:v>11.540670959482972</c:v>
              </c:pt>
              <c:pt idx="17">
                <c:v>11.803911852484323</c:v>
              </c:pt>
              <c:pt idx="18">
                <c:v>13.044689956877916</c:v>
              </c:pt>
              <c:pt idx="19">
                <c:v>14.847478934055724</c:v>
              </c:pt>
              <c:pt idx="20">
                <c:v>14.361908288150218</c:v>
              </c:pt>
              <c:pt idx="21">
                <c:v>13.171948064709982</c:v>
              </c:pt>
              <c:pt idx="22">
                <c:v>12.309554113324932</c:v>
              </c:pt>
              <c:pt idx="23">
                <c:v>12.28977635348198</c:v>
              </c:pt>
            </c:numLit>
          </c:val>
          <c:smooth val="0"/>
        </c:ser>
        <c:ser>
          <c:idx val="1"/>
          <c:order val="1"/>
          <c:tx>
            <c:v>Storm</c:v>
          </c:tx>
          <c:spPr>
            <a:ln xmlns:a="http://schemas.openxmlformats.org/drawingml/2006/main" w="20955">
              <a:solidFill>
                <a:srgbClr val="000000"/>
              </a:solidFill>
              <a:prstDash val="dash"/>
            </a:ln>
          </c:spPr>
          <c:marker>
            <c:symbol val="none"/>
          </c:marker>
          <c:cat>
            <c:numLit>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11.692519361643834</c:v>
              </c:pt>
              <c:pt idx="1">
                <c:v>9.999882254794521</c:v>
              </c:pt>
              <c:pt idx="2">
                <c:v>9.85501921978022</c:v>
              </c:pt>
              <c:pt idx="3">
                <c:v>10.290173936986301</c:v>
              </c:pt>
              <c:pt idx="4">
                <c:v>10.935639690410959</c:v>
              </c:pt>
              <c:pt idx="5">
                <c:v>10.832532526027396</c:v>
              </c:pt>
              <c:pt idx="6">
                <c:v>11.976361290410956</c:v>
              </c:pt>
              <c:pt idx="7">
                <c:v>12.48788657260274</c:v>
              </c:pt>
              <c:pt idx="8">
                <c:v>13.714284580821918</c:v>
              </c:pt>
              <c:pt idx="9">
                <c:v>11.724061123287672</c:v>
              </c:pt>
              <c:pt idx="10">
                <c:v>10.725743761643836</c:v>
              </c:pt>
              <c:pt idx="11">
                <c:v>10.460219819178086</c:v>
              </c:pt>
              <c:pt idx="12">
                <c:v>10.70551409041096</c:v>
              </c:pt>
              <c:pt idx="13">
                <c:v>12.872692616438355</c:v>
              </c:pt>
              <c:pt idx="14">
                <c:v>12.171164287671234</c:v>
              </c:pt>
              <c:pt idx="15">
                <c:v>10.319608260273974</c:v>
              </c:pt>
              <c:pt idx="16">
                <c:v>10.60132137260274</c:v>
              </c:pt>
              <c:pt idx="17">
                <c:v>10.693619610958903</c:v>
              </c:pt>
              <c:pt idx="18">
                <c:v>14.600965893150684</c:v>
              </c:pt>
              <c:pt idx="19">
                <c:v>15.740556824657533</c:v>
              </c:pt>
              <c:pt idx="20">
                <c:v>14.13101746849315</c:v>
              </c:pt>
              <c:pt idx="21">
                <c:v>12.870811482191783</c:v>
              </c:pt>
              <c:pt idx="22">
                <c:v>12.418184183561642</c:v>
              </c:pt>
              <c:pt idx="23">
                <c:v>11.847505356164385</c:v>
              </c:pt>
            </c:numLit>
          </c:val>
          <c:smooth val="0"/>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D7DAE0"/>
            </a:solidFill>
          </a:ln>
        </c:spPr>
        <c:txPr>
          <a:bodyPr xmlns:a="http://schemas.openxmlformats.org/drawingml/2006/main" anchorCtr="1"/>
          <a:lstStyle xmlns:a="http://schemas.openxmlformats.org/drawingml/2006/main"/>
          <a:p xmlns:a="http://schemas.openxmlformats.org/drawingml/2006/main">
            <a:pPr>
              <a:defRPr sz="900">
                <a:solidFill>
                  <a:srgbClr val="545A64"/>
                </a:solidFill>
                <a:latin typeface="Helvetica Neue"/>
                <a:ea typeface="Helvetica Neue"/>
                <a:cs typeface="Helvetica Neue"/>
              </a:defRPr>
            </a:pPr>
          </a:p>
        </c:txPr>
        <c:crossAx val="48672768"/>
        <c:crosses val="autoZero"/>
        <c:lblOffset val="100"/>
      </c:catAx>
      <c:valAx>
        <c:axId val="48672768"/>
        <c:scaling>
          <c:orientation val="minMax"/>
          <c:max val="18"/>
          <c:min val="0"/>
        </c:scaling>
        <c:delete val="0"/>
        <c:axPos val="l"/>
        <c:majorGridlines>
          <c:spPr>
            <a:ln xmlns:a="http://schemas.openxmlformats.org/drawingml/2006/main" w="7620">
              <a:solidFill>
                <a:srgbClr val="D7DAE0"/>
              </a:solidFill>
            </a:ln>
          </c:spPr>
        </c:majorGridlines>
        <c:numFmt formatCode="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5A64"/>
                </a:solidFill>
                <a:latin typeface="Helvetica Neue"/>
                <a:ea typeface="Helvetica Neue"/>
                <a:cs typeface="Helvetica Neue"/>
              </a:defRPr>
            </a:pPr>
          </a:p>
        </c:txPr>
        <c:crossAx val="48650112"/>
        <c:crosses val="autoZero"/>
        <c:crossBetween val="between"/>
        <c:majorUnit val="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725" b="1">
                <a:solidFill>
                  <a:srgbClr val="000000"/>
                </a:solidFill>
                <a:latin typeface="Helvetica Neue"/>
                <a:ea typeface="Helvetica Neue"/>
                <a:cs typeface="Helvetica Neue"/>
              </a:rPr>
              <a:t>Prix moyens par heure (EUR/MWh)</a:t>
            </a:r>
          </a:p>
        </c:rich>
      </c:tx>
      <c:overlay val="0"/>
      <c:txPr>
        <a:bodyPr xmlns:a="http://schemas.openxmlformats.org/drawingml/2006/main" anchorCtr="1"/>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p>
      </c:txPr>
    </c:title>
    <c:autoTitleDeleted val="0"/>
    <c:plotArea>
      <c:lineChart>
        <c:grouping val="standard"/>
        <c:varyColors val="0"/>
        <c:ser>
          <c:idx val="0"/>
          <c:order val="0"/>
          <c:tx>
            <c:v>Observé</c:v>
          </c:tx>
          <c:spPr>
            <a:ln xmlns:a="http://schemas.openxmlformats.org/drawingml/2006/main" w="20955">
              <a:solidFill>
                <a:srgbClr val="3F9FC9"/>
              </a:solidFill>
              <a:prstDash val="solid"/>
            </a:ln>
          </c:spPr>
          <c:marker>
            <c:symbol val="none"/>
          </c:marker>
          <c:cat>
            <c:numLit>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81.50498630136987</c:v>
              </c:pt>
              <c:pt idx="1">
                <c:v>76.24675342465754</c:v>
              </c:pt>
              <c:pt idx="2">
                <c:v>69.52023351648351</c:v>
              </c:pt>
              <c:pt idx="3">
                <c:v>61.80254794520548</c:v>
              </c:pt>
              <c:pt idx="4">
                <c:v>60.093315068493155</c:v>
              </c:pt>
              <c:pt idx="5">
                <c:v>66.28018493150685</c:v>
              </c:pt>
              <c:pt idx="6">
                <c:v>78.76657534246576</c:v>
              </c:pt>
              <c:pt idx="7">
                <c:v>91.21191095890411</c:v>
              </c:pt>
              <c:pt idx="8">
                <c:v>91.69986301369865</c:v>
              </c:pt>
              <c:pt idx="9">
                <c:v>73.28676712328766</c:v>
              </c:pt>
              <c:pt idx="10">
                <c:v>53.088280821917806</c:v>
              </c:pt>
              <c:pt idx="11">
                <c:v>41.05754109589041</c:v>
              </c:pt>
              <c:pt idx="12">
                <c:v>36.45541095890411</c:v>
              </c:pt>
              <c:pt idx="13">
                <c:v>27.563308219178076</c:v>
              </c:pt>
              <c:pt idx="14">
                <c:v>29.01766438356164</c:v>
              </c:pt>
              <c:pt idx="15">
                <c:v>34.59267123287671</c:v>
              </c:pt>
              <c:pt idx="16">
                <c:v>42.92036301369863</c:v>
              </c:pt>
              <c:pt idx="17">
                <c:v>61.571828767123286</c:v>
              </c:pt>
              <c:pt idx="18">
                <c:v>89.05676712328767</c:v>
              </c:pt>
              <c:pt idx="19">
                <c:v>112.11242465753426</c:v>
              </c:pt>
              <c:pt idx="20">
                <c:v>109.42708904109588</c:v>
              </c:pt>
              <c:pt idx="21">
                <c:v>101.5690479452055</c:v>
              </c:pt>
              <c:pt idx="22">
                <c:v>100.72152054794522</c:v>
              </c:pt>
              <c:pt idx="23">
                <c:v>89.1686095890411</c:v>
              </c:pt>
            </c:numLit>
          </c:val>
          <c:smooth val="0"/>
        </c:ser>
        <c:ser>
          <c:idx val="1"/>
          <c:order val="1"/>
          <c:tx>
            <c:v>Modèle</c:v>
          </c:tx>
          <c:spPr>
            <a:ln xmlns:a="http://schemas.openxmlformats.org/drawingml/2006/main" w="30480">
              <a:solidFill>
                <a:srgbClr val="3D8DFF"/>
              </a:solidFill>
              <a:prstDash val="solid"/>
            </a:ln>
          </c:spPr>
          <c:marker>
            <c:symbol val="none"/>
          </c:marker>
          <c:cat>
            <c:numLit>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82.58249074923096</c:v>
              </c:pt>
              <c:pt idx="1">
                <c:v>76.49149633359862</c:v>
              </c:pt>
              <c:pt idx="2">
                <c:v>68.94256216765612</c:v>
              </c:pt>
              <c:pt idx="3">
                <c:v>62.00917000584686</c:v>
              </c:pt>
              <c:pt idx="4">
                <c:v>60.537893582469174</c:v>
              </c:pt>
              <c:pt idx="5">
                <c:v>67.22107926255752</c:v>
              </c:pt>
              <c:pt idx="6">
                <c:v>79.26021766723845</c:v>
              </c:pt>
              <c:pt idx="7">
                <c:v>91.5154754475449</c:v>
              </c:pt>
              <c:pt idx="8">
                <c:v>90.74519495491504</c:v>
              </c:pt>
              <c:pt idx="9">
                <c:v>72.92453101479782</c:v>
              </c:pt>
              <c:pt idx="10">
                <c:v>53.60687199312481</c:v>
              </c:pt>
              <c:pt idx="11">
                <c:v>41.06732563007634</c:v>
              </c:pt>
              <c:pt idx="12">
                <c:v>34.997538796701036</c:v>
              </c:pt>
              <c:pt idx="13">
                <c:v>29.235305505678618</c:v>
              </c:pt>
              <c:pt idx="14">
                <c:v>29.988683978262678</c:v>
              </c:pt>
              <c:pt idx="15">
                <c:v>34.51654657935729</c:v>
              </c:pt>
              <c:pt idx="16">
                <c:v>42.70356553758256</c:v>
              </c:pt>
              <c:pt idx="17">
                <c:v>61.37184091306382</c:v>
              </c:pt>
              <c:pt idx="18">
                <c:v>88.49694378088914</c:v>
              </c:pt>
              <c:pt idx="19">
                <c:v>111.16105136697306</c:v>
              </c:pt>
              <c:pt idx="20">
                <c:v>109.33305792346158</c:v>
              </c:pt>
              <c:pt idx="21">
                <c:v>101.75904410921459</c:v>
              </c:pt>
              <c:pt idx="22">
                <c:v>98.72697742306498</c:v>
              </c:pt>
              <c:pt idx="23">
                <c:v>90.35533473692082</c:v>
              </c:pt>
            </c:numLit>
          </c:val>
          <c:smooth val="0"/>
        </c:ser>
        <c:ser>
          <c:idx val="2"/>
          <c:order val="2"/>
          <c:tx>
            <c:v>Storm</c:v>
          </c:tx>
          <c:spPr>
            <a:ln xmlns:a="http://schemas.openxmlformats.org/drawingml/2006/main" w="20955">
              <a:solidFill>
                <a:srgbClr val="000000"/>
              </a:solidFill>
              <a:prstDash val="dash"/>
            </a:ln>
          </c:spPr>
          <c:marker>
            <c:symbol val="none"/>
          </c:marker>
          <c:cat>
            <c:numLit>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81.88062407945206</c:v>
              </c:pt>
              <c:pt idx="1">
                <c:v>74.4066268630137</c:v>
              </c:pt>
              <c:pt idx="2">
                <c:v>69.34350924725275</c:v>
              </c:pt>
              <c:pt idx="3">
                <c:v>62.14876690136987</c:v>
              </c:pt>
              <c:pt idx="4">
                <c:v>59.24784575616439</c:v>
              </c:pt>
              <c:pt idx="5">
                <c:v>63.28608193424658</c:v>
              </c:pt>
              <c:pt idx="6">
                <c:v>73.128642369863</c:v>
              </c:pt>
              <c:pt idx="7">
                <c:v>84.40929150958905</c:v>
              </c:pt>
              <c:pt idx="8">
                <c:v>84.3249813369863</c:v>
              </c:pt>
              <c:pt idx="9">
                <c:v>69.2252002849315</c:v>
              </c:pt>
              <c:pt idx="10">
                <c:v>52.8066952739726</c:v>
              </c:pt>
              <c:pt idx="11">
                <c:v>42.31938510136986</c:v>
              </c:pt>
              <c:pt idx="12">
                <c:v>37.046903838356165</c:v>
              </c:pt>
              <c:pt idx="13">
                <c:v>32.93998977260274</c:v>
              </c:pt>
              <c:pt idx="14">
                <c:v>31.473567427397256</c:v>
              </c:pt>
              <c:pt idx="15">
                <c:v>36.47983796986301</c:v>
              </c:pt>
              <c:pt idx="16">
                <c:v>43.84514411780821</c:v>
              </c:pt>
              <c:pt idx="17">
                <c:v>57.09545196712329</c:v>
              </c:pt>
              <c:pt idx="18">
                <c:v>80.10931505479452</c:v>
              </c:pt>
              <c:pt idx="19">
                <c:v>103.7395539260274</c:v>
              </c:pt>
              <c:pt idx="20">
                <c:v>107.39690547945207</c:v>
              </c:pt>
              <c:pt idx="21">
                <c:v>100.89470592602738</c:v>
              </c:pt>
              <c:pt idx="22">
                <c:v>95.56818046301369</c:v>
              </c:pt>
              <c:pt idx="23">
                <c:v>91.68566015616439</c:v>
              </c:pt>
            </c:numLit>
          </c:val>
          <c:smooth val="0"/>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D7DAE0"/>
            </a:solidFill>
          </a:ln>
        </c:spPr>
        <c:txPr>
          <a:bodyPr xmlns:a="http://schemas.openxmlformats.org/drawingml/2006/main" anchorCtr="1"/>
          <a:lstStyle xmlns:a="http://schemas.openxmlformats.org/drawingml/2006/main"/>
          <a:p xmlns:a="http://schemas.openxmlformats.org/drawingml/2006/main">
            <a:pPr>
              <a:defRPr sz="900">
                <a:solidFill>
                  <a:srgbClr val="545A64"/>
                </a:solidFill>
                <a:latin typeface="Helvetica Neue"/>
                <a:ea typeface="Helvetica Neue"/>
                <a:cs typeface="Helvetica Neue"/>
              </a:defRPr>
            </a:pPr>
          </a:p>
        </c:txPr>
        <c:crossAx val="48672768"/>
        <c:crosses val="autoZero"/>
        <c:lblOffset val="100"/>
      </c:catAx>
      <c:valAx>
        <c:axId val="48672768"/>
        <c:scaling>
          <c:orientation val="minMax"/>
          <c:max val="120"/>
          <c:min val="0"/>
        </c:scaling>
        <c:delete val="0"/>
        <c:axPos val="l"/>
        <c:majorGridlines>
          <c:spPr>
            <a:ln xmlns:a="http://schemas.openxmlformats.org/drawingml/2006/main" w="7620">
              <a:solidFill>
                <a:srgbClr val="D7DAE0"/>
              </a:solidFill>
            </a:ln>
          </c:spPr>
        </c:majorGridlines>
        <c:numFmt formatCode="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5A64"/>
                </a:solidFill>
                <a:latin typeface="Helvetica Neue"/>
                <a:ea typeface="Helvetica Neue"/>
                <a:cs typeface="Helvetica Neue"/>
              </a:defRPr>
            </a:pPr>
          </a:p>
        </c:txPr>
        <c:crossAx val="48650112"/>
        <c:crosses val="autoZero"/>
        <c:crossBetween val="between"/>
        <c:majorUnit val="3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725" b="1">
                <a:solidFill>
                  <a:srgbClr val="000000"/>
                </a:solidFill>
                <a:latin typeface="Helvetica Neue"/>
                <a:ea typeface="Helvetica Neue"/>
                <a:cs typeface="Helvetica Neue"/>
              </a:rPr>
              <a:t>Poids d’influence sur la journée (%)</a:t>
            </a:r>
          </a:p>
        </c:rich>
      </c:tx>
      <c:overlay val="0"/>
      <c:txPr>
        <a:bodyPr xmlns:a="http://schemas.openxmlformats.org/drawingml/2006/main" anchorCtr="1"/>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p>
      </c:txPr>
    </c:title>
    <c:autoTitleDeleted val="0"/>
    <c:plotArea>
      <c:barChart>
        <c:barDir val="bar"/>
        <c:grouping val="clustered"/>
        <c:varyColors val="0"/>
        <c:ser>
          <c:idx val="0"/>
          <c:order val="0"/>
          <c:tx>
            <c:v>Influence Shapley (%)</c:v>
          </c:tx>
          <c:spPr>
            <a:solidFill xmlns:a="http://schemas.openxmlformats.org/drawingml/2006/main">
              <a:srgbClr val="3D8DFF"/>
            </a:solidFill>
            <a:ln xmlns:a="http://schemas.openxmlformats.org/drawingml/2006/main" w="0">
              <a:solidFill>
                <a:srgbClr val="3D8DFF"/>
              </a:solidFill>
            </a:ln>
          </c:spPr>
          <c:dPt>
            <c:idx val="0"/>
            <c:invertIfNegative val="0"/>
            <c:spPr>
              <a:solidFill xmlns:a="http://schemas.openxmlformats.org/drawingml/2006/main">
                <a:srgbClr val="3F9FC9"/>
              </a:solidFill>
            </c:spPr>
          </c:dPt>
          <c:dPt>
            <c:idx val="1"/>
            <c:invertIfNegative val="0"/>
            <c:spPr>
              <a:solidFill xmlns:a="http://schemas.openxmlformats.org/drawingml/2006/main">
                <a:srgbClr val="3D8DFF"/>
              </a:solidFill>
            </c:spPr>
          </c:dPt>
          <c:dPt>
            <c:idx val="2"/>
            <c:invertIfNegative val="0"/>
            <c:spPr>
              <a:solidFill xmlns:a="http://schemas.openxmlformats.org/drawingml/2006/main">
                <a:srgbClr val="3D8DFF"/>
              </a:solidFill>
            </c:spPr>
          </c:dPt>
          <c:dPt>
            <c:idx val="3"/>
            <c:invertIfNegative val="0"/>
            <c:spPr>
              <a:solidFill xmlns:a="http://schemas.openxmlformats.org/drawingml/2006/main">
                <a:srgbClr val="3D8DFF"/>
              </a:solidFill>
            </c:spPr>
          </c:dPt>
          <c:dPt>
            <c:idx val="4"/>
            <c:invertIfNegative val="0"/>
            <c:spPr>
              <a:solidFill xmlns:a="http://schemas.openxmlformats.org/drawingml/2006/main">
                <a:srgbClr val="3D8DFF"/>
              </a:solidFill>
            </c:spPr>
          </c:dPt>
          <c:dPt>
            <c:idx val="5"/>
            <c:invertIfNegative val="0"/>
            <c:spPr>
              <a:solidFill xmlns:a="http://schemas.openxmlformats.org/drawingml/2006/main">
                <a:srgbClr val="3D8DFF"/>
              </a:solidFill>
            </c:spPr>
          </c:dPt>
          <c:dPt>
            <c:idx val="6"/>
            <c:invertIfNegative val="0"/>
            <c:spPr>
              <a:solidFill xmlns:a="http://schemas.openxmlformats.org/drawingml/2006/main">
                <a:srgbClr val="3D8DFF"/>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p>
            </c:txPr>
            <c:dLblPos val="outEnd"/>
            <c:showLegendKey val="0"/>
            <c:showVal val="1"/>
            <c:showCatName val="0"/>
            <c:showSerName val="0"/>
            <c:showPercent val="0"/>
            <c:showBubbleSize val="0"/>
            <c:showLeaderLines val="0"/>
          </c:dLbls>
          <c:cat>
            <c:strLit>
              <c:ptCount val="7"/>
              <c:pt idx="0">
                <c:v>Nucléaire FR</c:v>
              </c:pt>
              <c:pt idx="1">
                <c:v>Charge résid. NL</c:v>
              </c:pt>
              <c:pt idx="2">
                <c:v>Charge résid. BE</c:v>
              </c:pt>
              <c:pt idx="3">
                <c:v>Charge résid. ES</c:v>
              </c:pt>
              <c:pt idx="4">
                <c:v>Charge résid. FR</c:v>
              </c:pt>
              <c:pt idx="5">
                <c:v>Charge résid. DE</c:v>
              </c:pt>
              <c:pt idx="6">
                <c:v>Prix passés</c:v>
              </c:pt>
            </c:strLit>
          </c:cat>
          <c:val>
            <c:numLit>
              <c:formatCode>0.0</c:formatCode>
              <c:ptCount val="7"/>
              <c:pt idx="0">
                <c:v>1.0845875068665956</c:v>
              </c:pt>
              <c:pt idx="1">
                <c:v>2.107321375230668</c:v>
              </c:pt>
              <c:pt idx="2">
                <c:v>5.285398343962552</c:v>
              </c:pt>
              <c:pt idx="3">
                <c:v>6.473817791504951</c:v>
              </c:pt>
              <c:pt idx="4">
                <c:v>12.523080018484215</c:v>
              </c:pt>
              <c:pt idx="5">
                <c:v>15.327751001396566</c:v>
              </c:pt>
              <c:pt idx="6">
                <c:v>57.19804396255444</c:v>
              </c:pt>
            </c:numLit>
          </c:val>
        </c:ser>
        <c:dLbls>
          <c:dLblPos val="outEnd"/>
          <c:showLegendKey val="0"/>
          <c:showVal val="1"/>
          <c:showCatName val="0"/>
          <c:showSerName val="0"/>
          <c:showPercent val="0"/>
          <c:showBubbleSize val="0"/>
        </c:dLbls>
        <c:gapWidth val="62"/>
        <c:axId val="48650112"/>
        <c:axId val="48672768"/>
      </c:barChart>
      <c:catAx>
        <c:axId val="48650112"/>
        <c:scaling>
          <c:orientation val="minMax"/>
        </c:scaling>
        <c:delete val="0"/>
        <c:axPos val="l"/>
        <c:numFmt formatCode="General" sourceLinked="1"/>
        <c:majorTickMark val="none"/>
        <c:minorTickMark val="none"/>
        <c:tickLblPos val="nextTo"/>
        <c:spPr>
          <a:ln xmlns:a="http://schemas.openxmlformats.org/drawingml/2006/main" w="0">
            <a:solidFill>
              <a:srgbClr val="FFFFFF"/>
            </a:solidFill>
          </a:ln>
        </c:spPr>
        <c:txPr>
          <a:bodyPr xmlns:a="http://schemas.openxmlformats.org/drawingml/2006/main" anchorCtr="1"/>
          <a:lstStyle xmlns:a="http://schemas.openxmlformats.org/drawingml/2006/main"/>
          <a:p xmlns:a="http://schemas.openxmlformats.org/drawingml/2006/main">
            <a:pPr>
              <a:defRPr sz="1200">
                <a:solidFill>
                  <a:srgbClr val="000000"/>
                </a:solidFill>
                <a:latin typeface="Helvetica Neue"/>
                <a:ea typeface="Helvetica Neue"/>
                <a:cs typeface="Helvetica Neue"/>
              </a:defRPr>
            </a:pPr>
          </a:p>
        </c:txPr>
        <c:crossAx val="48672768"/>
        <c:crosses val="autoZero"/>
        <c:lblOffset val="100"/>
      </c:catAx>
      <c:valAx>
        <c:axId val="48672768"/>
        <c:scaling>
          <c:orientation val="minMax"/>
          <c:max val="65"/>
          <c:min val="0"/>
        </c:scaling>
        <c:delete val="0"/>
        <c:axPos val="b"/>
        <c:majorGridlines>
          <c:spPr>
            <a:ln xmlns:a="http://schemas.openxmlformats.org/drawingml/2006/main" w="4763">
              <a:solidFill>
                <a:srgbClr val="D7DAE0"/>
              </a:solidFill>
            </a:ln>
          </c:spPr>
        </c:majorGridlines>
        <c:numFmt formatCode="0.0" sourceLinked="1"/>
        <c:majorTickMark val="none"/>
        <c:minorTickMark val="none"/>
        <c:tickLblPos val="nextTo"/>
        <c:spPr>
          <a:ln xmlns:a="http://schemas.openxmlformats.org/drawingml/2006/main" w="4763">
            <a:solidFill>
              <a:srgbClr val="D7DAE0"/>
            </a:solidFill>
          </a:ln>
        </c:spPr>
        <c:txPr>
          <a:bodyPr xmlns:a="http://schemas.openxmlformats.org/drawingml/2006/main" anchorCtr="1"/>
          <a:lstStyle xmlns:a="http://schemas.openxmlformats.org/drawingml/2006/main"/>
          <a:p xmlns:a="http://schemas.openxmlformats.org/drawingml/2006/main">
            <a:pPr>
              <a:defRPr sz="1050">
                <a:solidFill>
                  <a:srgbClr val="545A64"/>
                </a:solidFill>
                <a:latin typeface="Helvetica Neue"/>
                <a:ea typeface="Helvetica Neue"/>
                <a:cs typeface="Helvetica Neue"/>
              </a:defRPr>
            </a:pPr>
          </a:p>
        </c:txPr>
        <c:crossAx val="48650112"/>
        <c:crosses val="autoZero"/>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9" name="pipeline-line"/>
          <p:cNvCxnSpPr/>
          <p:nvPr/>
        </p:nvCxnSpPr>
        <p:spPr>
          <a:xfrm xmlns:a="http://schemas.openxmlformats.org/drawingml/2006/main">
            <a:off x="571500" y="2924175"/>
            <a:ext cx="10887075" cy="286"/>
          </a:xfrm>
          <a:prstGeom xmlns:a="http://schemas.openxmlformats.org/drawingml/2006/main" prst="straightConnector1">
            <a:avLst/>
          </a:prstGeom>
          <a:ln xmlns:a="http://schemas.openxmlformats.org/drawingml/2006/main" w="19050">
            <a:solidFill>
              <a:srgbClr val="000000"/>
            </a:solidFill>
            <a:prstDash val="solid"/>
          </a:ln>
        </p:spPr>
      </p:cxnSp>
      <p:sp>
        <p:nvSpPr>
          <p:cNvPr id="4" name="Rectangle 3">
            <a:extLst xmlns:a="http://schemas.openxmlformats.org/drawingml/2006/main">
              <a:ext uri="{FF2B5EF4-FFF2-40B4-BE49-F238E27FC236}">
                <a16:creationId xmlns:a16="http://schemas.microsoft.com/office/drawing/2014/main" id="{F35C8BCF-B89D-4DAB-9AD5-B9A7EAE76FDC}"/>
              </a:ext>
            </a:extLst>
          </p:cNvPr>
          <p:cNvSpPr>
            <a:spLocks xmlns:a="http://schemas.openxmlformats.org/drawingml/2006/main" noGrp="1"/>
          </p:cNvSpPr>
          <p:nvPr/>
        </p:nvSpPr>
        <p:spPr>
          <a:xfrm xmlns:a="http://schemas.openxmlformats.org/drawingml/2006/main">
            <a:off x="571500" y="2143125"/>
            <a:ext cx="17526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D−1</a:t>
            </a:r>
          </a:p>
        </p:txBody>
      </p:sp>
      <p:sp>
        <p:nvSpPr>
          <p:cNvPr id="5" name="node-0">
            <a:extLst xmlns:a="http://schemas.openxmlformats.org/drawingml/2006/main">
              <a:ext uri="{FF2B5EF4-FFF2-40B4-BE49-F238E27FC236}">
                <a16:creationId xmlns:a16="http://schemas.microsoft.com/office/drawing/2014/main" id="{1CAD7742-B40A-4FFD-85FC-91883BD342B6}"/>
              </a:ext>
            </a:extLst>
          </p:cNvPr>
          <p:cNvSpPr>
            <a:spLocks xmlns:a="http://schemas.openxmlformats.org/drawingml/2006/main" noGrp="1"/>
          </p:cNvSpPr>
          <p:nvPr/>
        </p:nvSpPr>
        <p:spPr>
          <a:xfrm xmlns:a="http://schemas.openxmlformats.org/drawingml/2006/main">
            <a:off x="571500" y="2800350"/>
            <a:ext cx="247650" cy="2476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370E061F-272F-4058-8CE8-ED422DBAF0D7}"/>
              </a:ext>
            </a:extLst>
          </p:cNvPr>
          <p:cNvSpPr>
            <a:spLocks xmlns:a="http://schemas.openxmlformats.org/drawingml/2006/main" noGrp="1"/>
          </p:cNvSpPr>
          <p:nvPr/>
        </p:nvSpPr>
        <p:spPr>
          <a:xfrm xmlns:a="http://schemas.openxmlformats.org/drawingml/2006/main">
            <a:off x="571500" y="3371850"/>
            <a:ext cx="17526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Entrées</a:t>
            </a:r>
          </a:p>
        </p:txBody>
      </p:sp>
      <p:sp>
        <p:nvSpPr>
          <p:cNvPr id="7" name="Rectangle 6">
            <a:extLst xmlns:a="http://schemas.openxmlformats.org/drawingml/2006/main">
              <a:ext uri="{FF2B5EF4-FFF2-40B4-BE49-F238E27FC236}">
                <a16:creationId xmlns:a16="http://schemas.microsoft.com/office/drawing/2014/main" id="{2411D0B5-DB25-4DC5-994D-B44D64608346}"/>
              </a:ext>
            </a:extLst>
          </p:cNvPr>
          <p:cNvSpPr>
            <a:spLocks xmlns:a="http://schemas.openxmlformats.org/drawingml/2006/main" noGrp="1"/>
          </p:cNvSpPr>
          <p:nvPr/>
        </p:nvSpPr>
        <p:spPr>
          <a:xfrm xmlns:a="http://schemas.openxmlformats.org/drawingml/2006/main">
            <a:off x="571500" y="3848100"/>
            <a:ext cx="1752600" cy="1333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Prix récents</a:t>
            </a:r>
          </a:p>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Calendrier</a:t>
            </a:r>
          </a:p>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Charges résiduelles</a:t>
            </a:r>
          </a:p>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FR, DE, BE, NL, ES</a:t>
            </a:r>
          </a:p>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Nucléaire FR prévu</a:t>
            </a:r>
          </a:p>
        </p:txBody>
      </p:sp>
      <p:sp>
        <p:nvSpPr>
          <p:cNvPr id="8" name="Rectangle 7">
            <a:extLst xmlns:a="http://schemas.openxmlformats.org/drawingml/2006/main">
              <a:ext uri="{FF2B5EF4-FFF2-40B4-BE49-F238E27FC236}">
                <a16:creationId xmlns:a16="http://schemas.microsoft.com/office/drawing/2014/main" id="{9469B013-C86B-454C-AAF6-EB0506A39480}"/>
              </a:ext>
            </a:extLst>
          </p:cNvPr>
          <p:cNvSpPr>
            <a:spLocks xmlns:a="http://schemas.openxmlformats.org/drawingml/2006/main" noGrp="1"/>
          </p:cNvSpPr>
          <p:nvPr/>
        </p:nvSpPr>
        <p:spPr>
          <a:xfrm xmlns:a="http://schemas.openxmlformats.org/drawingml/2006/main">
            <a:off x="2438400" y="2143125"/>
            <a:ext cx="17526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BASE</a:t>
            </a:r>
          </a:p>
        </p:txBody>
      </p:sp>
      <p:sp>
        <p:nvSpPr>
          <p:cNvPr id="9" name="node-1">
            <a:extLst xmlns:a="http://schemas.openxmlformats.org/drawingml/2006/main">
              <a:ext uri="{FF2B5EF4-FFF2-40B4-BE49-F238E27FC236}">
                <a16:creationId xmlns:a16="http://schemas.microsoft.com/office/drawing/2014/main" id="{8735B57C-9C73-4DD8-BAA0-FA51DA012AC5}"/>
              </a:ext>
            </a:extLst>
          </p:cNvPr>
          <p:cNvSpPr>
            <a:spLocks xmlns:a="http://schemas.openxmlformats.org/drawingml/2006/main" noGrp="1"/>
          </p:cNvSpPr>
          <p:nvPr/>
        </p:nvSpPr>
        <p:spPr>
          <a:xfrm xmlns:a="http://schemas.openxmlformats.org/drawingml/2006/main">
            <a:off x="2438400" y="2800350"/>
            <a:ext cx="247650" cy="2476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714B5182-1A16-440B-A11B-344220DE1ABA}"/>
              </a:ext>
            </a:extLst>
          </p:cNvPr>
          <p:cNvSpPr>
            <a:spLocks xmlns:a="http://schemas.openxmlformats.org/drawingml/2006/main" noGrp="1"/>
          </p:cNvSpPr>
          <p:nvPr/>
        </p:nvSpPr>
        <p:spPr>
          <a:xfrm xmlns:a="http://schemas.openxmlformats.org/drawingml/2006/main">
            <a:off x="2438400" y="3371850"/>
            <a:ext cx="17526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Chronos-2</a:t>
            </a:r>
          </a:p>
        </p:txBody>
      </p:sp>
      <p:sp>
        <p:nvSpPr>
          <p:cNvPr id="11" name="Rectangle 10">
            <a:extLst xmlns:a="http://schemas.openxmlformats.org/drawingml/2006/main">
              <a:ext uri="{FF2B5EF4-FFF2-40B4-BE49-F238E27FC236}">
                <a16:creationId xmlns:a16="http://schemas.microsoft.com/office/drawing/2014/main" id="{D29FE012-5EAD-4BA6-A2AA-646E4764DD27}"/>
              </a:ext>
            </a:extLst>
          </p:cNvPr>
          <p:cNvSpPr>
            <a:spLocks xmlns:a="http://schemas.openxmlformats.org/drawingml/2006/main" noGrp="1"/>
          </p:cNvSpPr>
          <p:nvPr/>
        </p:nvSpPr>
        <p:spPr>
          <a:xfrm xmlns:a="http://schemas.openxmlformats.org/drawingml/2006/main">
            <a:off x="2438400" y="3848100"/>
            <a:ext cx="1752600" cy="1333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Construit la forme
de la journée et
produit P10, P50, P90</a:t>
            </a:r>
          </a:p>
        </p:txBody>
      </p:sp>
      <p:sp>
        <p:nvSpPr>
          <p:cNvPr id="12" name="Rectangle 11">
            <a:extLst xmlns:a="http://schemas.openxmlformats.org/drawingml/2006/main">
              <a:ext uri="{FF2B5EF4-FFF2-40B4-BE49-F238E27FC236}">
                <a16:creationId xmlns:a16="http://schemas.microsoft.com/office/drawing/2014/main" id="{539C7203-255C-4718-98C2-4596D99845F1}"/>
              </a:ext>
            </a:extLst>
          </p:cNvPr>
          <p:cNvSpPr>
            <a:spLocks xmlns:a="http://schemas.openxmlformats.org/drawingml/2006/main" noGrp="1"/>
          </p:cNvSpPr>
          <p:nvPr/>
        </p:nvSpPr>
        <p:spPr>
          <a:xfrm xmlns:a="http://schemas.openxmlformats.org/drawingml/2006/main">
            <a:off x="4305300" y="2143125"/>
            <a:ext cx="17526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AJUST.</a:t>
            </a:r>
          </a:p>
        </p:txBody>
      </p:sp>
      <p:sp>
        <p:nvSpPr>
          <p:cNvPr id="13" name="node-2">
            <a:extLst xmlns:a="http://schemas.openxmlformats.org/drawingml/2006/main">
              <a:ext uri="{FF2B5EF4-FFF2-40B4-BE49-F238E27FC236}">
                <a16:creationId xmlns:a16="http://schemas.microsoft.com/office/drawing/2014/main" id="{22E272CC-3963-43AC-8B12-EF6C4727AE9D}"/>
              </a:ext>
            </a:extLst>
          </p:cNvPr>
          <p:cNvSpPr>
            <a:spLocks xmlns:a="http://schemas.openxmlformats.org/drawingml/2006/main" noGrp="1"/>
          </p:cNvSpPr>
          <p:nvPr/>
        </p:nvSpPr>
        <p:spPr>
          <a:xfrm xmlns:a="http://schemas.openxmlformats.org/drawingml/2006/main">
            <a:off x="4305300" y="2800350"/>
            <a:ext cx="247650" cy="24765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B358EAF4-0C53-4DED-92E9-97E728A0E858}"/>
              </a:ext>
            </a:extLst>
          </p:cNvPr>
          <p:cNvSpPr>
            <a:spLocks xmlns:a="http://schemas.openxmlformats.org/drawingml/2006/main" noGrp="1"/>
          </p:cNvSpPr>
          <p:nvPr/>
        </p:nvSpPr>
        <p:spPr>
          <a:xfrm xmlns:a="http://schemas.openxmlformats.org/drawingml/2006/main">
            <a:off x="4305300" y="3371850"/>
            <a:ext cx="17526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Correcteur</a:t>
            </a:r>
          </a:p>
        </p:txBody>
      </p:sp>
      <p:sp>
        <p:nvSpPr>
          <p:cNvPr id="15" name="Rectangle 14">
            <a:extLst xmlns:a="http://schemas.openxmlformats.org/drawingml/2006/main">
              <a:ext uri="{FF2B5EF4-FFF2-40B4-BE49-F238E27FC236}">
                <a16:creationId xmlns:a16="http://schemas.microsoft.com/office/drawing/2014/main" id="{FFA2A9E2-CA39-42EA-A114-2E7411A28598}"/>
              </a:ext>
            </a:extLst>
          </p:cNvPr>
          <p:cNvSpPr>
            <a:spLocks xmlns:a="http://schemas.openxmlformats.org/drawingml/2006/main" noGrp="1"/>
          </p:cNvSpPr>
          <p:nvPr/>
        </p:nvSpPr>
        <p:spPr>
          <a:xfrm xmlns:a="http://schemas.openxmlformats.org/drawingml/2006/main">
            <a:off x="4305300" y="3848100"/>
            <a:ext cx="1752600" cy="1333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Anticipe l’erreur
récurrente et déplace
les trois quantiles</a:t>
            </a:r>
          </a:p>
        </p:txBody>
      </p:sp>
      <p:sp>
        <p:nvSpPr>
          <p:cNvPr id="16" name="Rectangle 15">
            <a:extLst xmlns:a="http://schemas.openxmlformats.org/drawingml/2006/main">
              <a:ext uri="{FF2B5EF4-FFF2-40B4-BE49-F238E27FC236}">
                <a16:creationId xmlns:a16="http://schemas.microsoft.com/office/drawing/2014/main" id="{876A89EC-F143-4CA4-B2E6-7BC7EA36E95F}"/>
              </a:ext>
            </a:extLst>
          </p:cNvPr>
          <p:cNvSpPr>
            <a:spLocks xmlns:a="http://schemas.openxmlformats.org/drawingml/2006/main" noGrp="1"/>
          </p:cNvSpPr>
          <p:nvPr/>
        </p:nvSpPr>
        <p:spPr>
          <a:xfrm xmlns:a="http://schemas.openxmlformats.org/drawingml/2006/main">
            <a:off x="8039100" y="2143125"/>
            <a:ext cx="17526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GEL</a:t>
            </a:r>
          </a:p>
        </p:txBody>
      </p:sp>
      <p:sp>
        <p:nvSpPr>
          <p:cNvPr id="17" name="node-3">
            <a:extLst xmlns:a="http://schemas.openxmlformats.org/drawingml/2006/main">
              <a:ext uri="{FF2B5EF4-FFF2-40B4-BE49-F238E27FC236}">
                <a16:creationId xmlns:a16="http://schemas.microsoft.com/office/drawing/2014/main" id="{F43E8C3C-E908-4138-A27B-54C640160517}"/>
              </a:ext>
            </a:extLst>
          </p:cNvPr>
          <p:cNvSpPr>
            <a:spLocks xmlns:a="http://schemas.openxmlformats.org/drawingml/2006/main" noGrp="1"/>
          </p:cNvSpPr>
          <p:nvPr/>
        </p:nvSpPr>
        <p:spPr>
          <a:xfrm xmlns:a="http://schemas.openxmlformats.org/drawingml/2006/main">
            <a:off x="8039100" y="2800350"/>
            <a:ext cx="247650" cy="2476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F20DE633-E0B5-48E0-9EBA-4B54914012C9}"/>
              </a:ext>
            </a:extLst>
          </p:cNvPr>
          <p:cNvSpPr>
            <a:spLocks xmlns:a="http://schemas.openxmlformats.org/drawingml/2006/main" noGrp="1"/>
          </p:cNvSpPr>
          <p:nvPr/>
        </p:nvSpPr>
        <p:spPr>
          <a:xfrm xmlns:a="http://schemas.openxmlformats.org/drawingml/2006/main">
            <a:off x="8039100" y="3371850"/>
            <a:ext cx="17526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Contrôles</a:t>
            </a:r>
          </a:p>
        </p:txBody>
      </p:sp>
      <p:sp>
        <p:nvSpPr>
          <p:cNvPr id="19" name="Rectangle 18">
            <a:extLst xmlns:a="http://schemas.openxmlformats.org/drawingml/2006/main">
              <a:ext uri="{FF2B5EF4-FFF2-40B4-BE49-F238E27FC236}">
                <a16:creationId xmlns:a16="http://schemas.microsoft.com/office/drawing/2014/main" id="{7FC67745-7E43-49D8-893C-F0078532FBBF}"/>
              </a:ext>
            </a:extLst>
          </p:cNvPr>
          <p:cNvSpPr>
            <a:spLocks xmlns:a="http://schemas.openxmlformats.org/drawingml/2006/main" noGrp="1"/>
          </p:cNvSpPr>
          <p:nvPr/>
        </p:nvSpPr>
        <p:spPr>
          <a:xfrm xmlns:a="http://schemas.openxmlformats.org/drawingml/2006/main">
            <a:off x="8039100" y="3848100"/>
            <a:ext cx="1752600" cy="1333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23, 24 ou 25 heures</a:t>
            </a:r>
          </a:p>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P10 ≤ P50 ≤ P90</a:t>
            </a:r>
          </a:p>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Absence de fuite future</a:t>
            </a:r>
          </a:p>
        </p:txBody>
      </p:sp>
      <p:sp>
        <p:nvSpPr>
          <p:cNvPr id="20" name="Rectangle 19">
            <a:extLst xmlns:a="http://schemas.openxmlformats.org/drawingml/2006/main">
              <a:ext uri="{FF2B5EF4-FFF2-40B4-BE49-F238E27FC236}">
                <a16:creationId xmlns:a16="http://schemas.microsoft.com/office/drawing/2014/main" id="{91858A03-F067-4C37-822B-C016CA9D8D96}"/>
              </a:ext>
            </a:extLst>
          </p:cNvPr>
          <p:cNvSpPr>
            <a:spLocks xmlns:a="http://schemas.openxmlformats.org/drawingml/2006/main" noGrp="1"/>
          </p:cNvSpPr>
          <p:nvPr/>
        </p:nvSpPr>
        <p:spPr>
          <a:xfrm xmlns:a="http://schemas.openxmlformats.org/drawingml/2006/main">
            <a:off x="9906000" y="2143125"/>
            <a:ext cx="17526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Résultats</a:t>
            </a:r>
            <a:endParaRPr/>
          </a:p>
        </p:txBody>
      </p:sp>
      <p:sp>
        <p:nvSpPr>
          <p:cNvPr id="21" name="node-4">
            <a:extLst xmlns:a="http://schemas.openxmlformats.org/drawingml/2006/main">
              <a:ext uri="{FF2B5EF4-FFF2-40B4-BE49-F238E27FC236}">
                <a16:creationId xmlns:a16="http://schemas.microsoft.com/office/drawing/2014/main" id="{60212B1A-1073-4272-9F68-7D33A2CC238D}"/>
              </a:ext>
            </a:extLst>
          </p:cNvPr>
          <p:cNvSpPr>
            <a:spLocks xmlns:a="http://schemas.openxmlformats.org/drawingml/2006/main" noGrp="1"/>
          </p:cNvSpPr>
          <p:nvPr/>
        </p:nvSpPr>
        <p:spPr>
          <a:xfrm xmlns:a="http://schemas.openxmlformats.org/drawingml/2006/main">
            <a:off x="9906000" y="2800350"/>
            <a:ext cx="247650" cy="2476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98303BA9-BD25-4764-BF47-020EF1D1B383}"/>
              </a:ext>
            </a:extLst>
          </p:cNvPr>
          <p:cNvSpPr>
            <a:spLocks xmlns:a="http://schemas.openxmlformats.org/drawingml/2006/main" noGrp="1"/>
          </p:cNvSpPr>
          <p:nvPr/>
        </p:nvSpPr>
        <p:spPr>
          <a:xfrm xmlns:a="http://schemas.openxmlformats.org/drawingml/2006/main">
            <a:off x="9906000" y="3371850"/>
            <a:ext cx="17526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Évaluation</a:t>
            </a:r>
          </a:p>
        </p:txBody>
      </p:sp>
      <p:sp>
        <p:nvSpPr>
          <p:cNvPr id="23" name="Rectangle 22">
            <a:extLst xmlns:a="http://schemas.openxmlformats.org/drawingml/2006/main">
              <a:ext uri="{FF2B5EF4-FFF2-40B4-BE49-F238E27FC236}">
                <a16:creationId xmlns:a16="http://schemas.microsoft.com/office/drawing/2014/main" id="{FADC1D61-85F5-4FE5-BB9D-C4AE16BCAC6C}"/>
              </a:ext>
            </a:extLst>
          </p:cNvPr>
          <p:cNvSpPr>
            <a:spLocks xmlns:a="http://schemas.openxmlformats.org/drawingml/2006/main" noGrp="1"/>
          </p:cNvSpPr>
          <p:nvPr/>
        </p:nvSpPr>
        <p:spPr>
          <a:xfrm xmlns:a="http://schemas.openxmlformats.org/drawingml/2006/main">
            <a:off x="9906000" y="3848100"/>
            <a:ext cx="1752600" cy="1333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Prix réels, métriques
et comparaison à Storm
uniquement après coup</a:t>
            </a:r>
          </a:p>
        </p:txBody>
      </p:sp>
      <p:sp>
        <p:nvSpPr>
          <p:cNvPr id="31" name="Rectangle 30">
            <a:extLst xmlns:a="http://schemas.openxmlformats.org/drawingml/2006/main">
              <a:ext uri="{FF2B5EF4-FFF2-40B4-BE49-F238E27FC236}">
                <a16:creationId xmlns:a16="http://schemas.microsoft.com/office/drawing/2014/main" id="{CD015A58-AF8E-407C-AAB0-E88A9E2F4CC1}"/>
              </a:ext>
            </a:extLst>
          </p:cNvPr>
          <p:cNvSpPr>
            <a:spLocks xmlns:a="http://schemas.openxmlformats.org/drawingml/2006/main" noGrp="1"/>
          </p:cNvSpPr>
          <p:nvPr/>
        </p:nvSpPr>
        <p:spPr>
          <a:xfrm xmlns:a="http://schemas.openxmlformats.org/drawingml/2006/main">
            <a:off x="6172200" y="2143125"/>
            <a:ext cx="1752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1">
                <a:solidFill>
                  <a:srgbClr val="2468B8"/>
                </a:solidFill>
                <a:latin typeface="Helvetica Neue"/>
                <a:ea typeface="Helvetica Neue"/>
                <a:cs typeface="Helvetica Neue"/>
              </a:defRPr>
            </a:pPr>
            <a:r>
              <a:rPr sz="1125" b="1">
                <a:solidFill>
                  <a:srgbClr val="2468B8"/>
                </a:solidFill>
                <a:latin typeface="Helvetica Neue"/>
                <a:ea typeface="Helvetica Neue"/>
                <a:cs typeface="Helvetica Neue"/>
              </a:rPr>
              <a:t>ADAPTATION</a:t>
            </a:r>
          </a:p>
        </p:txBody>
      </p:sp>
      <p:sp>
        <p:nvSpPr>
          <p:cNvPr id="32" name="node-kalman">
            <a:extLst xmlns:a="http://schemas.openxmlformats.org/drawingml/2006/main">
              <a:ext uri="{FF2B5EF4-FFF2-40B4-BE49-F238E27FC236}">
                <a16:creationId xmlns:a16="http://schemas.microsoft.com/office/drawing/2014/main" id="{26F5D2BE-67F8-4495-8DF0-6B75C157A885}"/>
              </a:ext>
            </a:extLst>
          </p:cNvPr>
          <p:cNvSpPr>
            <a:spLocks xmlns:a="http://schemas.openxmlformats.org/drawingml/2006/main" noGrp="1"/>
          </p:cNvSpPr>
          <p:nvPr/>
        </p:nvSpPr>
        <p:spPr>
          <a:xfrm xmlns:a="http://schemas.openxmlformats.org/drawingml/2006/main">
            <a:off x="6172200" y="2800350"/>
            <a:ext cx="247650" cy="247650"/>
          </a:xfrm>
          <a:prstGeom xmlns:a="http://schemas.openxmlformats.org/drawingml/2006/main" prst="ellipse">
            <a:avLst/>
          </a:prstGeom>
          <a:solidFill xmlns:a="http://schemas.openxmlformats.org/drawingml/2006/main">
            <a:srgbClr val="2468B8"/>
          </a:solidFill>
          <a:ln xmlns:a="http://schemas.openxmlformats.org/drawingml/2006/main" w="0">
            <a:solidFill>
              <a:srgbClr val="2468B8"/>
            </a:solidFill>
          </a:ln>
        </p:spPr>
        <p:txBody>
          <a:bodyPr xmlns:a="http://schemas.openxmlformats.org/drawingml/2006/main"/>
          <a:lstStyle xmlns:a="http://schemas.openxmlformats.org/drawingml/2006/main"/>
          <a:p xmlns:a="http://schemas.openxmlformats.org/drawingml/2006/main">
            <a:endParaRPr/>
          </a:p>
        </p:txBody>
      </p:sp>
      <p:sp>
        <p:nvSpPr>
          <p:cNvPr id="33" name="Rectangle 32">
            <a:extLst xmlns:a="http://schemas.openxmlformats.org/drawingml/2006/main">
              <a:ext uri="{FF2B5EF4-FFF2-40B4-BE49-F238E27FC236}">
                <a16:creationId xmlns:a16="http://schemas.microsoft.com/office/drawing/2014/main" id="{3F02C639-855C-4C79-936E-45BA648425DE}"/>
              </a:ext>
            </a:extLst>
          </p:cNvPr>
          <p:cNvSpPr>
            <a:spLocks xmlns:a="http://schemas.openxmlformats.org/drawingml/2006/main" noGrp="1"/>
          </p:cNvSpPr>
          <p:nvPr/>
        </p:nvSpPr>
        <p:spPr>
          <a:xfrm xmlns:a="http://schemas.openxmlformats.org/drawingml/2006/main">
            <a:off x="6172200" y="3371850"/>
            <a:ext cx="175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Kalman</a:t>
            </a:r>
            <a:r>
              <a:rPr sz="1725" b="1">
                <a:solidFill>
                  <a:srgbClr val="000000"/>
                </a:solidFill>
                <a:latin typeface="Helvetica Neue"/>
                <a:ea typeface="Helvetica Neue"/>
                <a:cs typeface="Helvetica Neue"/>
              </a:rPr>
              <a:t>_filter</a:t>
            </a:r>
            <a:endParaRPr sz="1725" b="1">
              <a:solidFill>
                <a:srgbClr val="000000"/>
              </a:solidFill>
              <a:latin typeface="Helvetica Neue"/>
              <a:ea typeface="Helvetica Neue"/>
              <a:cs typeface="Helvetica Neue"/>
            </a:endParaRPr>
          </a:p>
        </p:txBody>
      </p:sp>
      <p:sp>
        <p:nvSpPr>
          <p:cNvPr id="34" name="Rectangle 33">
            <a:extLst xmlns:a="http://schemas.openxmlformats.org/drawingml/2006/main">
              <a:ext uri="{FF2B5EF4-FFF2-40B4-BE49-F238E27FC236}">
                <a16:creationId xmlns:a16="http://schemas.microsoft.com/office/drawing/2014/main" id="{CE3423C2-89A4-41CD-84C2-7E950F95AA5C}"/>
              </a:ext>
            </a:extLst>
          </p:cNvPr>
          <p:cNvSpPr>
            <a:spLocks xmlns:a="http://schemas.openxmlformats.org/drawingml/2006/main" noGrp="1"/>
          </p:cNvSpPr>
          <p:nvPr/>
        </p:nvSpPr>
        <p:spPr>
          <a:xfrm xmlns:a="http://schemas.openxmlformats.org/drawingml/2006/main">
            <a:off x="6172200" y="3848100"/>
            <a:ext cx="17526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a:solidFill>
                  <a:srgbClr val="545A64"/>
                </a:solidFill>
                <a:latin typeface="Helvetica Neue"/>
                <a:ea typeface="Helvetica Neue"/>
                <a:cs typeface="Helvetica Neue"/>
              </a:defRPr>
            </a:pPr>
            <a:r>
              <a:rPr sz="1275">
                <a:solidFill>
                  <a:srgbClr val="545A64"/>
                </a:solidFill>
                <a:latin typeface="Helvetica Neue"/>
                <a:ea typeface="Helvetica Neue"/>
                <a:cs typeface="Helvetica Neue"/>
              </a:rPr>
              <a:t>Suit le </a:t>
            </a:r>
            <a:r>
              <a:rPr sz="1275">
                <a:solidFill>
                  <a:srgbClr val="545A64"/>
                </a:solidFill>
                <a:latin typeface="Helvetica Neue"/>
                <a:ea typeface="Helvetica Neue"/>
                <a:cs typeface="Helvetica Neue"/>
              </a:rPr>
              <a:t>biais</a:t>
            </a:r>
            <a:r>
              <a:rPr sz="1275">
                <a:solidFill>
                  <a:srgbClr val="545A64"/>
                </a:solidFill>
                <a:latin typeface="Helvetica Neue"/>
                <a:ea typeface="Helvetica Neue"/>
                <a:cs typeface="Helvetica Neue"/>
              </a:rPr>
              <a:t> </a:t>
            </a:r>
            <a:r>
              <a:rPr sz="1275">
                <a:solidFill>
                  <a:srgbClr val="545A64"/>
                </a:solidFill>
                <a:latin typeface="Helvetica Neue"/>
                <a:ea typeface="Helvetica Neue"/>
                <a:cs typeface="Helvetica Neue"/>
              </a:rPr>
              <a:t>récent</a:t>
            </a:r>
            <a:endParaRPr sz="1275">
              <a:solidFill>
                <a:srgbClr val="545A64"/>
              </a:solidFill>
              <a:latin typeface="Helvetica Neue"/>
              <a:ea typeface="Helvetica Neue"/>
              <a:cs typeface="Helvetica Neue"/>
            </a:endParaRPr>
          </a:p>
          <a:p xmlns:a="http://schemas.openxmlformats.org/drawingml/2006/main">
            <a:pPr>
              <a:buNone/>
              <a:defRPr sz="1275">
                <a:solidFill>
                  <a:srgbClr val="545A64"/>
                </a:solidFill>
                <a:latin typeface="Helvetica Neue"/>
                <a:ea typeface="Helvetica Neue"/>
                <a:cs typeface="Helvetica Neue"/>
              </a:defRPr>
            </a:pPr>
            <a:r>
              <a:rPr sz="1275">
                <a:solidFill>
                  <a:srgbClr val="545A64"/>
                </a:solidFill>
                <a:latin typeface="Helvetica Neue"/>
                <a:ea typeface="Helvetica Neue"/>
                <a:cs typeface="Helvetica Neue"/>
              </a:rPr>
              <a:t>Corrige</a:t>
            </a:r>
            <a:r>
              <a:rPr sz="1275">
                <a:solidFill>
                  <a:srgbClr val="545A64"/>
                </a:solidFill>
                <a:latin typeface="Helvetica Neue"/>
                <a:ea typeface="Helvetica Neue"/>
                <a:cs typeface="Helvetica Neue"/>
              </a:rPr>
              <a:t> </a:t>
            </a:r>
            <a:r>
              <a:rPr sz="1275">
                <a:solidFill>
                  <a:srgbClr val="545A64"/>
                </a:solidFill>
                <a:latin typeface="Helvetica Neue"/>
                <a:ea typeface="Helvetica Neue"/>
                <a:cs typeface="Helvetica Neue"/>
              </a:rPr>
              <a:t>si</a:t>
            </a:r>
            <a:r>
              <a:rPr sz="1275">
                <a:solidFill>
                  <a:srgbClr val="545A64"/>
                </a:solidFill>
                <a:latin typeface="Helvetica Neue"/>
                <a:ea typeface="Helvetica Neue"/>
                <a:cs typeface="Helvetica Neue"/>
              </a:rPr>
              <a:t> le gain</a:t>
            </a:r>
          </a:p>
          <a:p xmlns:a="http://schemas.openxmlformats.org/drawingml/2006/main">
            <a:pPr>
              <a:buNone/>
              <a:defRPr sz="1275">
                <a:solidFill>
                  <a:srgbClr val="545A64"/>
                </a:solidFill>
                <a:latin typeface="Helvetica Neue"/>
                <a:ea typeface="Helvetica Neue"/>
                <a:cs typeface="Helvetica Neue"/>
              </a:defRPr>
            </a:pPr>
            <a:r>
              <a:rPr sz="1275">
                <a:solidFill>
                  <a:srgbClr val="545A64"/>
                </a:solidFill>
                <a:latin typeface="Helvetica Neue"/>
                <a:ea typeface="Helvetica Neue"/>
                <a:cs typeface="Helvetica Neue"/>
              </a:rPr>
              <a:t>passé est </a:t>
            </a:r>
            <a:r>
              <a:rPr sz="1275">
                <a:solidFill>
                  <a:srgbClr val="545A64"/>
                </a:solidFill>
                <a:latin typeface="Helvetica Neue"/>
                <a:ea typeface="Helvetica Neue"/>
                <a:cs typeface="Helvetica Neue"/>
              </a:rPr>
              <a:t>suffisant</a:t>
            </a:r>
            <a:endParaRPr sz="1275">
              <a:solidFill>
                <a:srgbClr val="545A64"/>
              </a:solidFill>
              <a:latin typeface="Helvetica Neue"/>
              <a:ea typeface="Helvetica Neue"/>
              <a:cs typeface="Helvetica Neue"/>
            </a:endParaRPr>
          </a:p>
        </p:txBody>
      </p:sp>
      <p:sp>
        <p:nvSpPr>
          <p:cNvPr id="37" name="Rectangle 36">
            <a:extLst xmlns:a="http://schemas.openxmlformats.org/drawingml/2006/main">
              <a:ext uri="{FF2B5EF4-FFF2-40B4-BE49-F238E27FC236}">
                <a16:creationId xmlns:a16="http://schemas.microsoft.com/office/drawing/2014/main" id="{D0968F34-CD07-4B55-A4BF-F2A6FF9A1A6E}"/>
              </a:ext>
            </a:extLst>
          </p:cNvPr>
          <p:cNvSpPr>
            <a:spLocks xmlns:a="http://schemas.openxmlformats.org/drawingml/2006/main" noGrp="1"/>
          </p:cNvSpPr>
          <p:nvPr/>
        </p:nvSpPr>
        <p:spPr>
          <a:xfrm xmlns:a="http://schemas.openxmlformats.org/drawingml/2006/main">
            <a:off x="571500" y="57435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1">
                <a:solidFill>
                  <a:srgbClr val="2468B8"/>
                </a:solidFill>
                <a:latin typeface="Helvetica Neue"/>
                <a:ea typeface="Helvetica Neue"/>
                <a:cs typeface="Helvetica Neue"/>
              </a:defRPr>
            </a:pPr>
            <a:r>
              <a:rPr sz="1725" b="1">
                <a:solidFill>
                  <a:srgbClr val="2468B8"/>
                </a:solidFill>
                <a:latin typeface="Helvetica Neue"/>
                <a:ea typeface="Helvetica Neue"/>
                <a:cs typeface="Helvetica Neue"/>
              </a:rPr>
              <a:t>À </a:t>
            </a:r>
            <a:r>
              <a:rPr sz="1725" b="1">
                <a:solidFill>
                  <a:srgbClr val="2468B8"/>
                </a:solidFill>
                <a:latin typeface="Helvetica Neue"/>
                <a:ea typeface="Helvetica Neue"/>
                <a:cs typeface="Helvetica Neue"/>
              </a:rPr>
              <a:t>chaque</a:t>
            </a:r>
            <a:r>
              <a:rPr sz="1725" b="1">
                <a:solidFill>
                  <a:srgbClr val="2468B8"/>
                </a:solidFill>
                <a:latin typeface="Helvetica Neue"/>
                <a:ea typeface="Helvetica Neue"/>
                <a:cs typeface="Helvetica Neue"/>
              </a:rPr>
              <a:t> </a:t>
            </a:r>
            <a:r>
              <a:rPr sz="1725" b="1">
                <a:solidFill>
                  <a:srgbClr val="2468B8"/>
                </a:solidFill>
                <a:latin typeface="Helvetica Neue"/>
                <a:ea typeface="Helvetica Neue"/>
                <a:cs typeface="Helvetica Neue"/>
              </a:rPr>
              <a:t>heure</a:t>
            </a:r>
            <a:r>
              <a:rPr sz="1725" b="1">
                <a:solidFill>
                  <a:srgbClr val="2468B8"/>
                </a:solidFill>
                <a:latin typeface="Helvetica Neue"/>
                <a:ea typeface="Helvetica Neue"/>
                <a:cs typeface="Helvetica Neue"/>
              </a:rPr>
              <a:t>, l</a:t>
            </a:r>
            <a:r>
              <a:rPr sz="1725" b="1">
                <a:solidFill>
                  <a:srgbClr val="2468B8"/>
                </a:solidFill>
                <a:latin typeface="Helvetica Neue"/>
                <a:ea typeface="Helvetica Neue"/>
                <a:cs typeface="Helvetica Neue"/>
              </a:rPr>
              <a:t>e </a:t>
            </a:r>
            <a:r>
              <a:rPr sz="1725" b="1">
                <a:solidFill>
                  <a:srgbClr val="2468B8"/>
                </a:solidFill>
                <a:latin typeface="Helvetica Neue"/>
                <a:ea typeface="Helvetica Neue"/>
                <a:cs typeface="Helvetica Neue"/>
              </a:rPr>
              <a:t>filtre</a:t>
            </a:r>
            <a:r>
              <a:rPr sz="1725" b="1">
                <a:solidFill>
                  <a:srgbClr val="2468B8"/>
                </a:solidFill>
                <a:latin typeface="Helvetica Neue"/>
                <a:ea typeface="Helvetica Neue"/>
                <a:cs typeface="Helvetica Neue"/>
              </a:rPr>
              <a:t> de </a:t>
            </a:r>
            <a:r>
              <a:rPr sz="1725" b="1">
                <a:solidFill>
                  <a:srgbClr val="2468B8"/>
                </a:solidFill>
                <a:latin typeface="Helvetica Neue"/>
                <a:ea typeface="Helvetica Neue"/>
                <a:cs typeface="Helvetica Neue"/>
              </a:rPr>
              <a:t>Kalman </a:t>
            </a:r>
            <a:r>
              <a:rPr sz="1725" b="1">
                <a:solidFill>
                  <a:srgbClr val="2468B8"/>
                </a:solidFill>
                <a:latin typeface="Helvetica Neue"/>
                <a:ea typeface="Helvetica Neue"/>
                <a:cs typeface="Helvetica Neue"/>
              </a:rPr>
              <a:t>"</a:t>
            </a:r>
            <a:r>
              <a:rPr sz="1725" b="1">
                <a:solidFill>
                  <a:srgbClr val="2468B8"/>
                </a:solidFill>
                <a:latin typeface="Helvetica Neue"/>
                <a:ea typeface="Helvetica Neue"/>
                <a:cs typeface="Helvetica Neue"/>
              </a:rPr>
              <a:t>décale</a:t>
            </a:r>
            <a:r>
              <a:rPr sz="1725" b="1">
                <a:solidFill>
                  <a:srgbClr val="2468B8"/>
                </a:solidFill>
                <a:latin typeface="Helvetica Neue"/>
                <a:ea typeface="Helvetica Neue"/>
                <a:cs typeface="Helvetica Neue"/>
              </a:rPr>
              <a:t>" </a:t>
            </a:r>
            <a:r>
              <a:rPr sz="1725" b="1">
                <a:solidFill>
                  <a:srgbClr val="2468B8"/>
                </a:solidFill>
                <a:latin typeface="Helvetica Neue"/>
                <a:ea typeface="Helvetica Neue"/>
                <a:cs typeface="Helvetica Neue"/>
              </a:rPr>
              <a:t>P10, P50 et P90</a:t>
            </a:r>
            <a:r>
              <a:rPr sz="1725" b="1">
                <a:solidFill>
                  <a:srgbClr val="2468B8"/>
                </a:solidFill>
                <a:latin typeface="Helvetica Neue"/>
                <a:ea typeface="Helvetica Neue"/>
                <a:cs typeface="Helvetica Neue"/>
              </a:rPr>
              <a:t> </a:t>
            </a:r>
            <a:r>
              <a:rPr sz="1725" b="1">
                <a:solidFill>
                  <a:srgbClr val="2468B8"/>
                </a:solidFill>
                <a:latin typeface="Helvetica Neue"/>
                <a:ea typeface="Helvetica Neue"/>
                <a:cs typeface="Helvetica Neue"/>
              </a:rPr>
              <a:t>uniquement</a:t>
            </a:r>
            <a:r>
              <a:rPr sz="1725" b="1">
                <a:solidFill>
                  <a:srgbClr val="2468B8"/>
                </a:solidFill>
                <a:latin typeface="Helvetica Neue"/>
                <a:ea typeface="Helvetica Neue"/>
                <a:cs typeface="Helvetica Neue"/>
              </a:rPr>
              <a:t> </a:t>
            </a:r>
            <a:r>
              <a:rPr sz="1725" b="1">
                <a:solidFill>
                  <a:srgbClr val="2468B8"/>
                </a:solidFill>
                <a:latin typeface="Helvetica Neue"/>
                <a:ea typeface="Helvetica Neue"/>
                <a:cs typeface="Helvetica Neue"/>
              </a:rPr>
              <a:t>si</a:t>
            </a:r>
            <a:r>
              <a:rPr sz="1725" b="1">
                <a:solidFill>
                  <a:srgbClr val="2468B8"/>
                </a:solidFill>
                <a:latin typeface="Helvetica Neue"/>
                <a:ea typeface="Helvetica Neue"/>
                <a:cs typeface="Helvetica Neue"/>
              </a:rPr>
              <a:t> </a:t>
            </a:r>
            <a:r>
              <a:rPr sz="1725" b="1">
                <a:solidFill>
                  <a:srgbClr val="2468B8"/>
                </a:solidFill>
                <a:latin typeface="Helvetica Neue"/>
                <a:ea typeface="Helvetica Neue"/>
                <a:cs typeface="Helvetica Neue"/>
              </a:rPr>
              <a:t>cela</a:t>
            </a:r>
            <a:r>
              <a:rPr sz="1725" b="1">
                <a:solidFill>
                  <a:srgbClr val="2468B8"/>
                </a:solidFill>
                <a:latin typeface="Helvetica Neue"/>
                <a:ea typeface="Helvetica Neue"/>
                <a:cs typeface="Helvetica Neue"/>
              </a:rPr>
              <a:t> est necessaire. </a:t>
            </a:r>
            <a:endParaRPr sz="1725" b="1">
              <a:solidFill>
                <a:srgbClr val="2468B8"/>
              </a:solidFill>
              <a:latin typeface="Helvetica Neue"/>
              <a:ea typeface="Helvetica Neue"/>
              <a:cs typeface="Helvetica Neue"/>
            </a:endParaRPr>
          </a:p>
        </p:txBody>
      </p:sp>
    </p:spTree>
    <p:extLst>
      <p:ext uri="{BB962C8B-B14F-4D97-AF65-F5344CB8AC3E}">
        <p14:creationId xmlns:p14="http://schemas.microsoft.com/office/powerpoint/2010/main" val="21192244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95FB4E6-77B9-44C2-A423-FA6CD477C642}"/>
              </a:ext>
            </a:extLst>
          </p:cNvPr>
          <p:cNvSpPr>
            <a:spLocks xmlns:a="http://schemas.openxmlformats.org/drawingml/2006/main" noGrp="1"/>
          </p:cNvSpPr>
          <p:nvPr/>
        </p:nvSpPr>
        <p:spPr>
          <a:xfrm xmlns:a="http://schemas.openxmlformats.org/drawingml/2006/main">
            <a:off x="390525" y="1057275"/>
            <a:ext cx="11401425" cy="533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45A64"/>
                </a:solidFill>
                <a:latin typeface="Helvetica Neue"/>
                <a:ea typeface="Helvetica Neue"/>
                <a:cs typeface="Helvetica Neue"/>
              </a:defRPr>
            </a:pPr>
            <a:r>
              <a:rPr sz="1500" b="0">
                <a:solidFill>
                  <a:srgbClr val="545A64"/>
                </a:solidFill>
                <a:latin typeface="Helvetica Neue"/>
                <a:ea typeface="Helvetica Neue"/>
                <a:cs typeface="Helvetica Neue"/>
              </a:rPr>
              <a:t>Variante nucléaire FR : Chronos-2 fournit la base, CatBoost corrige ses erreurs, puis Kalman suit le biais récent.</a:t>
            </a:r>
          </a:p>
        </p:txBody>
      </p:sp>
      <p:sp>
        <p:nvSpPr>
          <p:cNvPr id="3" name="chronos-card">
            <a:extLst xmlns:a="http://schemas.openxmlformats.org/drawingml/2006/main">
              <a:ext uri="{FF2B5EF4-FFF2-40B4-BE49-F238E27FC236}">
                <a16:creationId xmlns:a16="http://schemas.microsoft.com/office/drawing/2014/main" id="{771C84A8-3E39-4B61-81B5-E56E9B6623E3}"/>
              </a:ext>
            </a:extLst>
          </p:cNvPr>
          <p:cNvSpPr>
            <a:spLocks xmlns:a="http://schemas.openxmlformats.org/drawingml/2006/main" noGrp="1"/>
          </p:cNvSpPr>
          <p:nvPr/>
        </p:nvSpPr>
        <p:spPr>
          <a:xfrm xmlns:a="http://schemas.openxmlformats.org/drawingml/2006/main">
            <a:off x="390525" y="1724025"/>
            <a:ext cx="3600450" cy="4086225"/>
          </a:xfrm>
          <a:prstGeom xmlns:a="http://schemas.openxmlformats.org/drawingml/2006/main" prst="roundRect">
            <a:avLst>
              <a:gd name="adj" fmla="val 1856"/>
            </a:avLst>
          </a:prstGeom>
          <a:solidFill xmlns:a="http://schemas.openxmlformats.org/drawingml/2006/main">
            <a:srgbClr val="F2F2F2"/>
          </a:solidFill>
          <a:ln xmlns:a="http://schemas.openxmlformats.org/drawingml/2006/main" w="0">
            <a:solidFill>
              <a:srgbClr val="F2F2F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rrector-card">
            <a:extLst xmlns:a="http://schemas.openxmlformats.org/drawingml/2006/main">
              <a:ext uri="{FF2B5EF4-FFF2-40B4-BE49-F238E27FC236}">
                <a16:creationId xmlns:a16="http://schemas.microsoft.com/office/drawing/2014/main" id="{FDAC1C5A-6FE0-4230-9924-6388765D6478}"/>
              </a:ext>
            </a:extLst>
          </p:cNvPr>
          <p:cNvSpPr>
            <a:spLocks xmlns:a="http://schemas.openxmlformats.org/drawingml/2006/main" noGrp="1"/>
          </p:cNvSpPr>
          <p:nvPr/>
        </p:nvSpPr>
        <p:spPr>
          <a:xfrm xmlns:a="http://schemas.openxmlformats.org/drawingml/2006/main">
            <a:off x="4286250" y="1724025"/>
            <a:ext cx="3600450" cy="4086225"/>
          </a:xfrm>
          <a:prstGeom xmlns:a="http://schemas.openxmlformats.org/drawingml/2006/main" prst="roundRect">
            <a:avLst>
              <a:gd name="adj" fmla="val 1856"/>
            </a:avLst>
          </a:prstGeom>
          <a:solidFill xmlns:a="http://schemas.openxmlformats.org/drawingml/2006/main">
            <a:srgbClr val="F2F2F2"/>
          </a:solidFill>
          <a:ln xmlns:a="http://schemas.openxmlformats.org/drawingml/2006/main" w="0">
            <a:solidFill>
              <a:srgbClr val="F2F2F2"/>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tage-one">
            <a:extLst xmlns:a="http://schemas.openxmlformats.org/drawingml/2006/main">
              <a:ext uri="{FF2B5EF4-FFF2-40B4-BE49-F238E27FC236}">
                <a16:creationId xmlns:a16="http://schemas.microsoft.com/office/drawing/2014/main" id="{1AC672EE-A12B-4DEC-9EE3-A3F668C53005}"/>
              </a:ext>
            </a:extLst>
          </p:cNvPr>
          <p:cNvSpPr>
            <a:spLocks xmlns:a="http://schemas.openxmlformats.org/drawingml/2006/main" noGrp="1"/>
          </p:cNvSpPr>
          <p:nvPr/>
        </p:nvSpPr>
        <p:spPr>
          <a:xfrm xmlns:a="http://schemas.openxmlformats.org/drawingml/2006/main">
            <a:off x="609600" y="2000250"/>
            <a:ext cx="304800" cy="3048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3143A6EC-D5F1-4805-B716-C9A71CEBBEEF}"/>
              </a:ext>
            </a:extLst>
          </p:cNvPr>
          <p:cNvSpPr>
            <a:spLocks xmlns:a="http://schemas.openxmlformats.org/drawingml/2006/main" noGrp="1"/>
          </p:cNvSpPr>
          <p:nvPr/>
        </p:nvSpPr>
        <p:spPr>
          <a:xfrm xmlns:a="http://schemas.openxmlformats.org/drawingml/2006/main">
            <a:off x="714375" y="2057400"/>
            <a:ext cx="142875"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7" name="Rectangle 6">
            <a:extLst xmlns:a="http://schemas.openxmlformats.org/drawingml/2006/main">
              <a:ext uri="{FF2B5EF4-FFF2-40B4-BE49-F238E27FC236}">
                <a16:creationId xmlns:a16="http://schemas.microsoft.com/office/drawing/2014/main" id="{30A83A88-CCE1-46AF-8AFB-7468C3D91FB1}"/>
              </a:ext>
            </a:extLst>
          </p:cNvPr>
          <p:cNvSpPr>
            <a:spLocks xmlns:a="http://schemas.openxmlformats.org/drawingml/2006/main" noGrp="1"/>
          </p:cNvSpPr>
          <p:nvPr/>
        </p:nvSpPr>
        <p:spPr>
          <a:xfrm xmlns:a="http://schemas.openxmlformats.org/drawingml/2006/main">
            <a:off x="1047750" y="1962150"/>
            <a:ext cx="27241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Chronos-2</a:t>
            </a:r>
          </a:p>
        </p:txBody>
      </p:sp>
      <p:sp>
        <p:nvSpPr>
          <p:cNvPr id="8" name="Rectangle 7">
            <a:extLst xmlns:a="http://schemas.openxmlformats.org/drawingml/2006/main">
              <a:ext uri="{FF2B5EF4-FFF2-40B4-BE49-F238E27FC236}">
                <a16:creationId xmlns:a16="http://schemas.microsoft.com/office/drawing/2014/main" id="{8278DF05-50E5-43D6-BAED-56BA531FB5F8}"/>
              </a:ext>
            </a:extLst>
          </p:cNvPr>
          <p:cNvSpPr>
            <a:spLocks xmlns:a="http://schemas.openxmlformats.org/drawingml/2006/main" noGrp="1"/>
          </p:cNvSpPr>
          <p:nvPr/>
        </p:nvSpPr>
        <p:spPr>
          <a:xfrm xmlns:a="http://schemas.openxmlformats.org/drawingml/2006/main">
            <a:off x="609600" y="2600325"/>
            <a:ext cx="314325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Prévision de base</a:t>
            </a:r>
          </a:p>
        </p:txBody>
      </p:sp>
      <p:sp>
        <p:nvSpPr>
          <p:cNvPr id="9" name="Rectangle 8">
            <a:extLst xmlns:a="http://schemas.openxmlformats.org/drawingml/2006/main">
              <a:ext uri="{FF2B5EF4-FFF2-40B4-BE49-F238E27FC236}">
                <a16:creationId xmlns:a16="http://schemas.microsoft.com/office/drawing/2014/main" id="{7C1B3045-75AE-41A3-91B3-BC4894148697}"/>
              </a:ext>
            </a:extLst>
          </p:cNvPr>
          <p:cNvSpPr>
            <a:spLocks xmlns:a="http://schemas.openxmlformats.org/drawingml/2006/main" noGrp="1"/>
          </p:cNvSpPr>
          <p:nvPr/>
        </p:nvSpPr>
        <p:spPr>
          <a:xfrm xmlns:a="http://schemas.openxmlformats.org/drawingml/2006/main">
            <a:off x="609600" y="3209925"/>
            <a:ext cx="3143250" cy="1562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Jusqu’à 2 048 h de prix passés.</a:t>
            </a:r>
          </a:p>
          <a:p xmlns:a="http://schemas.openxmlformats.org/drawingml/2006/main">
            <a:pPr>
              <a:buNone/>
              <a:defRPr sz="1425" b="0">
                <a:solidFill>
                  <a:srgbClr val="000000"/>
                </a:solidFill>
                <a:latin typeface="Helvetica Neue"/>
                <a:ea typeface="Helvetica Neue"/>
                <a:cs typeface="Helvetica Neue"/>
              </a:defRPr>
            </a:pPr>
            <a:r>
              <a:t/>
            </a:r>
            <a:endParaRPr sz="1350" b="0">
              <a:solidFill>
                <a:srgbClr val="000000"/>
              </a:solidFill>
              <a:latin typeface="Helvetica Neue"/>
              <a:ea typeface="Helvetica Neue"/>
              <a:cs typeface="Helvetica Neue"/>
            </a:endParaRP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Calendrier, charges résiduelles</a:t>
            </a:r>
            <a:endParaRPr sz="1350" b="0">
              <a:solidFill>
                <a:srgbClr val="000000"/>
              </a:solidFill>
              <a:latin typeface="Helvetica Neue"/>
              <a:ea typeface="Helvetica Neue"/>
              <a:cs typeface="Helvetica Neue"/>
            </a:endParaRP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des cinq pays et nucléaire FR</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prévu, en entrées connues à D−1.</a:t>
            </a:r>
            <a:endParaRPr sz="1350" b="0">
              <a:solidFill>
                <a:srgbClr val="000000"/>
              </a:solidFill>
              <a:latin typeface="Helvetica Neue"/>
              <a:ea typeface="Helvetica Neue"/>
              <a:cs typeface="Helvetica Neue"/>
            </a:endParaRP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Produit une distribution de prix.</a:t>
            </a:r>
          </a:p>
        </p:txBody>
      </p:sp>
      <p:cxnSp>
        <p:nvCxnSpPr>
          <p:cNvPr id="72" name="quantile-rule"/>
          <p:cNvCxnSpPr/>
          <p:nvPr/>
        </p:nvCxnSpPr>
        <p:spPr>
          <a:xfrm xmlns:a="http://schemas.openxmlformats.org/drawingml/2006/main">
            <a:off x="609600" y="4838700"/>
            <a:ext cx="3143250" cy="286"/>
          </a:xfrm>
          <a:prstGeom xmlns:a="http://schemas.openxmlformats.org/drawingml/2006/main" prst="straightConnector1">
            <a:avLst/>
          </a:prstGeom>
          <a:ln xmlns:a="http://schemas.openxmlformats.org/drawingml/2006/main" w="9525">
            <a:solidFill>
              <a:srgbClr val="B8BCC4"/>
            </a:solidFill>
            <a:prstDash val="solid"/>
          </a:ln>
        </p:spPr>
      </p:cxnSp>
      <p:sp>
        <p:nvSpPr>
          <p:cNvPr id="11" name="Rectangle 10">
            <a:extLst xmlns:a="http://schemas.openxmlformats.org/drawingml/2006/main">
              <a:ext uri="{FF2B5EF4-FFF2-40B4-BE49-F238E27FC236}">
                <a16:creationId xmlns:a16="http://schemas.microsoft.com/office/drawing/2014/main" id="{71372222-2CE9-4EA9-B32C-1E5CEB651B43}"/>
              </a:ext>
            </a:extLst>
          </p:cNvPr>
          <p:cNvSpPr>
            <a:spLocks xmlns:a="http://schemas.openxmlformats.org/drawingml/2006/main" noGrp="1"/>
          </p:cNvSpPr>
          <p:nvPr/>
        </p:nvSpPr>
        <p:spPr>
          <a:xfrm xmlns:a="http://schemas.openxmlformats.org/drawingml/2006/main">
            <a:off x="666750" y="5095875"/>
            <a:ext cx="8382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3F9FC9"/>
                </a:solidFill>
                <a:latin typeface="Helvetica Neue"/>
                <a:ea typeface="Helvetica Neue"/>
                <a:cs typeface="Helvetica Neue"/>
              </a:defRPr>
            </a:pPr>
            <a:r>
              <a:rPr sz="1425" b="1">
                <a:solidFill>
                  <a:srgbClr val="3F9FC9"/>
                </a:solidFill>
                <a:latin typeface="Helvetica Neue"/>
                <a:ea typeface="Helvetica Neue"/>
                <a:cs typeface="Helvetica Neue"/>
              </a:rPr>
              <a:t>P10</a:t>
            </a:r>
          </a:p>
        </p:txBody>
      </p:sp>
      <p:sp>
        <p:nvSpPr>
          <p:cNvPr id="12" name="Rectangle 11">
            <a:extLst xmlns:a="http://schemas.openxmlformats.org/drawingml/2006/main">
              <a:ext uri="{FF2B5EF4-FFF2-40B4-BE49-F238E27FC236}">
                <a16:creationId xmlns:a16="http://schemas.microsoft.com/office/drawing/2014/main" id="{78DA79E1-8A13-49A0-8D0F-423E70350528}"/>
              </a:ext>
            </a:extLst>
          </p:cNvPr>
          <p:cNvSpPr>
            <a:spLocks xmlns:a="http://schemas.openxmlformats.org/drawingml/2006/main" noGrp="1"/>
          </p:cNvSpPr>
          <p:nvPr/>
        </p:nvSpPr>
        <p:spPr>
          <a:xfrm xmlns:a="http://schemas.openxmlformats.org/drawingml/2006/main">
            <a:off x="1724025" y="5095875"/>
            <a:ext cx="8382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P50</a:t>
            </a:r>
          </a:p>
        </p:txBody>
      </p:sp>
      <p:sp>
        <p:nvSpPr>
          <p:cNvPr id="13" name="Rectangle 12">
            <a:extLst xmlns:a="http://schemas.openxmlformats.org/drawingml/2006/main">
              <a:ext uri="{FF2B5EF4-FFF2-40B4-BE49-F238E27FC236}">
                <a16:creationId xmlns:a16="http://schemas.microsoft.com/office/drawing/2014/main" id="{A8B8D01C-C14C-4C35-9CD1-AC1E9478E2AD}"/>
              </a:ext>
            </a:extLst>
          </p:cNvPr>
          <p:cNvSpPr>
            <a:spLocks xmlns:a="http://schemas.openxmlformats.org/drawingml/2006/main" noGrp="1"/>
          </p:cNvSpPr>
          <p:nvPr/>
        </p:nvSpPr>
        <p:spPr>
          <a:xfrm xmlns:a="http://schemas.openxmlformats.org/drawingml/2006/main">
            <a:off x="2781300" y="5095875"/>
            <a:ext cx="8382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3F9FC9"/>
                </a:solidFill>
                <a:latin typeface="Helvetica Neue"/>
                <a:ea typeface="Helvetica Neue"/>
                <a:cs typeface="Helvetica Neue"/>
              </a:defRPr>
            </a:pPr>
            <a:r>
              <a:rPr sz="1425" b="1">
                <a:solidFill>
                  <a:srgbClr val="3F9FC9"/>
                </a:solidFill>
                <a:latin typeface="Helvetica Neue"/>
                <a:ea typeface="Helvetica Neue"/>
                <a:cs typeface="Helvetica Neue"/>
              </a:rPr>
              <a:t>P90</a:t>
            </a:r>
          </a:p>
        </p:txBody>
      </p:sp>
      <p:sp>
        <p:nvSpPr>
          <p:cNvPr id="14" name="Rectangle 13">
            <a:extLst xmlns:a="http://schemas.openxmlformats.org/drawingml/2006/main">
              <a:ext uri="{FF2B5EF4-FFF2-40B4-BE49-F238E27FC236}">
                <a16:creationId xmlns:a16="http://schemas.microsoft.com/office/drawing/2014/main" id="{46DD204E-DCC7-4BC6-B289-01C0467ED531}"/>
              </a:ext>
            </a:extLst>
          </p:cNvPr>
          <p:cNvSpPr>
            <a:spLocks xmlns:a="http://schemas.openxmlformats.org/drawingml/2006/main" noGrp="1"/>
          </p:cNvSpPr>
          <p:nvPr/>
        </p:nvSpPr>
        <p:spPr>
          <a:xfrm xmlns:a="http://schemas.openxmlformats.org/drawingml/2006/main">
            <a:off x="666750" y="5457825"/>
            <a:ext cx="952500" cy="2381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545A64"/>
                </a:solidFill>
                <a:latin typeface="Helvetica Neue"/>
                <a:ea typeface="Helvetica Neue"/>
                <a:cs typeface="Helvetica Neue"/>
              </a:defRPr>
            </a:pPr>
            <a:r>
              <a:rPr sz="1125" b="0">
                <a:solidFill>
                  <a:srgbClr val="545A64"/>
                </a:solidFill>
                <a:latin typeface="Helvetica Neue"/>
                <a:ea typeface="Helvetica Neue"/>
                <a:cs typeface="Helvetica Neue"/>
              </a:rPr>
              <a:t>bas</a:t>
            </a:r>
          </a:p>
        </p:txBody>
      </p:sp>
      <p:sp>
        <p:nvSpPr>
          <p:cNvPr id="15" name="Rectangle 14">
            <a:extLst xmlns:a="http://schemas.openxmlformats.org/drawingml/2006/main">
              <a:ext uri="{FF2B5EF4-FFF2-40B4-BE49-F238E27FC236}">
                <a16:creationId xmlns:a16="http://schemas.microsoft.com/office/drawing/2014/main" id="{A7E7DF7A-EBC5-4FC1-B583-A955EB9F585A}"/>
              </a:ext>
            </a:extLst>
          </p:cNvPr>
          <p:cNvSpPr>
            <a:spLocks xmlns:a="http://schemas.openxmlformats.org/drawingml/2006/main" noGrp="1"/>
          </p:cNvSpPr>
          <p:nvPr/>
        </p:nvSpPr>
        <p:spPr>
          <a:xfrm xmlns:a="http://schemas.openxmlformats.org/drawingml/2006/main">
            <a:off x="1724025" y="5457825"/>
            <a:ext cx="952500" cy="2381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545A64"/>
                </a:solidFill>
                <a:latin typeface="Helvetica Neue"/>
                <a:ea typeface="Helvetica Neue"/>
                <a:cs typeface="Helvetica Neue"/>
              </a:defRPr>
            </a:pPr>
            <a:r>
              <a:rPr sz="1125" b="0">
                <a:solidFill>
                  <a:srgbClr val="545A64"/>
                </a:solidFill>
                <a:latin typeface="Helvetica Neue"/>
                <a:ea typeface="Helvetica Neue"/>
                <a:cs typeface="Helvetica Neue"/>
              </a:rPr>
              <a:t>central</a:t>
            </a:r>
          </a:p>
        </p:txBody>
      </p:sp>
      <p:sp>
        <p:nvSpPr>
          <p:cNvPr id="16" name="Rectangle 15">
            <a:extLst xmlns:a="http://schemas.openxmlformats.org/drawingml/2006/main">
              <a:ext uri="{FF2B5EF4-FFF2-40B4-BE49-F238E27FC236}">
                <a16:creationId xmlns:a16="http://schemas.microsoft.com/office/drawing/2014/main" id="{54AB16CA-53CB-42B4-B41A-E607FEFC2FB0}"/>
              </a:ext>
            </a:extLst>
          </p:cNvPr>
          <p:cNvSpPr>
            <a:spLocks xmlns:a="http://schemas.openxmlformats.org/drawingml/2006/main" noGrp="1"/>
          </p:cNvSpPr>
          <p:nvPr/>
        </p:nvSpPr>
        <p:spPr>
          <a:xfrm xmlns:a="http://schemas.openxmlformats.org/drawingml/2006/main">
            <a:off x="2781300" y="5457825"/>
            <a:ext cx="952500" cy="2381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545A64"/>
                </a:solidFill>
                <a:latin typeface="Helvetica Neue"/>
                <a:ea typeface="Helvetica Neue"/>
                <a:cs typeface="Helvetica Neue"/>
              </a:defRPr>
            </a:pPr>
            <a:r>
              <a:rPr sz="1125" b="0">
                <a:solidFill>
                  <a:srgbClr val="545A64"/>
                </a:solidFill>
                <a:latin typeface="Helvetica Neue"/>
                <a:ea typeface="Helvetica Neue"/>
                <a:cs typeface="Helvetica Neue"/>
              </a:rPr>
              <a:t>haut</a:t>
            </a:r>
          </a:p>
        </p:txBody>
      </p:sp>
      <p:sp>
        <p:nvSpPr>
          <p:cNvPr id="17" name="stage-two">
            <a:extLst xmlns:a="http://schemas.openxmlformats.org/drawingml/2006/main">
              <a:ext uri="{FF2B5EF4-FFF2-40B4-BE49-F238E27FC236}">
                <a16:creationId xmlns:a16="http://schemas.microsoft.com/office/drawing/2014/main" id="{51F65ACF-45F4-415D-8801-CCA738B9BAA5}"/>
              </a:ext>
            </a:extLst>
          </p:cNvPr>
          <p:cNvSpPr>
            <a:spLocks xmlns:a="http://schemas.openxmlformats.org/drawingml/2006/main" noGrp="1"/>
          </p:cNvSpPr>
          <p:nvPr/>
        </p:nvSpPr>
        <p:spPr>
          <a:xfrm xmlns:a="http://schemas.openxmlformats.org/drawingml/2006/main">
            <a:off x="4505325" y="2000250"/>
            <a:ext cx="304800" cy="3048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C8C42936-13D6-4489-9F21-2D6BC06FCC09}"/>
              </a:ext>
            </a:extLst>
          </p:cNvPr>
          <p:cNvSpPr>
            <a:spLocks xmlns:a="http://schemas.openxmlformats.org/drawingml/2006/main" noGrp="1"/>
          </p:cNvSpPr>
          <p:nvPr/>
        </p:nvSpPr>
        <p:spPr>
          <a:xfrm xmlns:a="http://schemas.openxmlformats.org/drawingml/2006/main">
            <a:off x="4610100" y="2057400"/>
            <a:ext cx="142875"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2</a:t>
            </a:r>
          </a:p>
        </p:txBody>
      </p:sp>
      <p:sp>
        <p:nvSpPr>
          <p:cNvPr id="19" name="Rectangle 18">
            <a:extLst xmlns:a="http://schemas.openxmlformats.org/drawingml/2006/main">
              <a:ext uri="{FF2B5EF4-FFF2-40B4-BE49-F238E27FC236}">
                <a16:creationId xmlns:a16="http://schemas.microsoft.com/office/drawing/2014/main" id="{8CA35411-3F66-4C6B-B6FD-55C7AF430DC5}"/>
              </a:ext>
            </a:extLst>
          </p:cNvPr>
          <p:cNvSpPr>
            <a:spLocks xmlns:a="http://schemas.openxmlformats.org/drawingml/2006/main" noGrp="1"/>
          </p:cNvSpPr>
          <p:nvPr/>
        </p:nvSpPr>
        <p:spPr>
          <a:xfrm xmlns:a="http://schemas.openxmlformats.org/drawingml/2006/main">
            <a:off x="4943475" y="1962150"/>
            <a:ext cx="27241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Correcteur résiduel</a:t>
            </a:r>
          </a:p>
        </p:txBody>
      </p:sp>
      <p:sp>
        <p:nvSpPr>
          <p:cNvPr id="20" name="Rectangle 19">
            <a:extLst xmlns:a="http://schemas.openxmlformats.org/drawingml/2006/main">
              <a:ext uri="{FF2B5EF4-FFF2-40B4-BE49-F238E27FC236}">
                <a16:creationId xmlns:a16="http://schemas.microsoft.com/office/drawing/2014/main" id="{6F0985D4-24B3-4B63-B434-730073134A8A}"/>
              </a:ext>
            </a:extLst>
          </p:cNvPr>
          <p:cNvSpPr>
            <a:spLocks xmlns:a="http://schemas.openxmlformats.org/drawingml/2006/main" noGrp="1"/>
          </p:cNvSpPr>
          <p:nvPr/>
        </p:nvSpPr>
        <p:spPr>
          <a:xfrm xmlns:a="http://schemas.openxmlformats.org/drawingml/2006/main">
            <a:off x="4505325" y="2600325"/>
            <a:ext cx="314325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Apprentissage des erreurs</a:t>
            </a:r>
          </a:p>
        </p:txBody>
      </p:sp>
      <p:sp>
        <p:nvSpPr>
          <p:cNvPr id="21" name="Rectangle 20">
            <a:extLst xmlns:a="http://schemas.openxmlformats.org/drawingml/2006/main">
              <a:ext uri="{FF2B5EF4-FFF2-40B4-BE49-F238E27FC236}">
                <a16:creationId xmlns:a16="http://schemas.microsoft.com/office/drawing/2014/main" id="{5FD6D32F-D8B1-403D-8C5C-0A064D7F99DD}"/>
              </a:ext>
            </a:extLst>
          </p:cNvPr>
          <p:cNvSpPr>
            <a:spLocks xmlns:a="http://schemas.openxmlformats.org/drawingml/2006/main" noGrp="1"/>
          </p:cNvSpPr>
          <p:nvPr/>
        </p:nvSpPr>
        <p:spPr>
          <a:xfrm xmlns:a="http://schemas.openxmlformats.org/drawingml/2006/main">
            <a:off x="4505325" y="3209925"/>
            <a:ext cx="3143250" cy="1571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Cible : prix réel − P50 Chronos-2</a:t>
            </a:r>
          </a:p>
          <a:p xmlns:a="http://schemas.openxmlformats.org/drawingml/2006/main">
            <a:pPr algn="l">
              <a:buNone/>
              <a:defRPr sz="1425" b="0">
                <a:solidFill>
                  <a:srgbClr val="000000"/>
                </a:solidFill>
                <a:latin typeface="Helvetica Neue"/>
                <a:ea typeface="Helvetica Neue"/>
                <a:cs typeface="Helvetica Neue"/>
              </a:defRPr>
            </a:pPr>
            <a:r>
              <a:t/>
            </a:r>
            <a:endParaRPr sz="1350" b="0">
              <a:solidFill>
                <a:srgbClr val="000000"/>
              </a:solidFill>
              <a:latin typeface="Helvetica Neue"/>
              <a:ea typeface="Helvetica Neue"/>
              <a:cs typeface="Helvetica Neue"/>
            </a:endParaRP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CatBoost ajoute des arbres</a:t>
            </a:r>
            <a:endParaRPr sz="1350" b="0">
              <a:solidFill>
                <a:srgbClr val="000000"/>
              </a:solidFill>
              <a:latin typeface="Helvetica Neue"/>
              <a:ea typeface="Helvetica Neue"/>
              <a:cs typeface="Helvetica Neue"/>
            </a:endParaRP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successifs pour réduire les erreurs.</a:t>
            </a:r>
            <a:endParaRPr sz="1350" b="0">
              <a:solidFill>
                <a:srgbClr val="000000"/>
              </a:solidFill>
              <a:latin typeface="Helvetica Neue"/>
              <a:ea typeface="Helvetica Neue"/>
              <a:cs typeface="Helvetica Neue"/>
            </a:endParaRP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Réentraînement chaque jour</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sur les 365 jours précédents.</a:t>
            </a:r>
          </a:p>
        </p:txBody>
      </p:sp>
      <p:sp>
        <p:nvSpPr>
          <p:cNvPr id="22" name="blend">
            <a:extLst xmlns:a="http://schemas.openxmlformats.org/drawingml/2006/main">
              <a:ext uri="{FF2B5EF4-FFF2-40B4-BE49-F238E27FC236}">
                <a16:creationId xmlns:a16="http://schemas.microsoft.com/office/drawing/2014/main" id="{85CD00FF-1A4F-4B14-859D-2F357EC310D8}"/>
              </a:ext>
            </a:extLst>
          </p:cNvPr>
          <p:cNvSpPr>
            <a:spLocks xmlns:a="http://schemas.openxmlformats.org/drawingml/2006/main" noGrp="1"/>
          </p:cNvSpPr>
          <p:nvPr/>
        </p:nvSpPr>
        <p:spPr>
          <a:xfrm xmlns:a="http://schemas.openxmlformats.org/drawingml/2006/main">
            <a:off x="4505325" y="4933950"/>
            <a:ext cx="3143250" cy="72390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7AE13508-A8E7-438E-B246-517CBBFD2115}"/>
              </a:ext>
            </a:extLst>
          </p:cNvPr>
          <p:cNvSpPr>
            <a:spLocks xmlns:a="http://schemas.openxmlformats.org/drawingml/2006/main" noGrp="1"/>
          </p:cNvSpPr>
          <p:nvPr/>
        </p:nvSpPr>
        <p:spPr>
          <a:xfrm xmlns:a="http://schemas.openxmlformats.org/drawingml/2006/main">
            <a:off x="4610100" y="5095875"/>
            <a:ext cx="293370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Variante nucléaire</a:t>
            </a:r>
          </a:p>
          <a:p xmlns:a="http://schemas.openxmlformats.org/drawingml/2006/main">
            <a:pPr algn="ctr">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CatBoost seul</a:t>
            </a:r>
          </a:p>
        </p:txBody>
      </p:sp>
      <p:sp>
        <p:nvSpPr>
          <p:cNvPr id="46" name="Rectangle 45">
            <a:extLst xmlns:a="http://schemas.openxmlformats.org/drawingml/2006/main">
              <a:ext uri="{FF2B5EF4-FFF2-40B4-BE49-F238E27FC236}">
                <a16:creationId xmlns:a16="http://schemas.microsoft.com/office/drawing/2014/main" id="{8CB002C3-178C-4003-813A-1EFB0145E287}"/>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Chronos-2, correcteur résiduel et Kalman</a:t>
            </a:r>
          </a:p>
        </p:txBody>
      </p:sp>
      <p:sp>
        <p:nvSpPr>
          <p:cNvPr id="47" name="kalman-card">
            <a:extLst xmlns:a="http://schemas.openxmlformats.org/drawingml/2006/main">
              <a:ext uri="{FF2B5EF4-FFF2-40B4-BE49-F238E27FC236}">
                <a16:creationId xmlns:a16="http://schemas.microsoft.com/office/drawing/2014/main" id="{BEC8D15B-1C98-4984-BA02-ABDC4C2CD36B}"/>
              </a:ext>
            </a:extLst>
          </p:cNvPr>
          <p:cNvSpPr>
            <a:spLocks xmlns:a="http://schemas.openxmlformats.org/drawingml/2006/main" noGrp="1"/>
          </p:cNvSpPr>
          <p:nvPr/>
        </p:nvSpPr>
        <p:spPr>
          <a:xfrm xmlns:a="http://schemas.openxmlformats.org/drawingml/2006/main">
            <a:off x="8191500" y="1724025"/>
            <a:ext cx="3600450" cy="4086225"/>
          </a:xfrm>
          <a:prstGeom xmlns:a="http://schemas.openxmlformats.org/drawingml/2006/main" prst="roundRect">
            <a:avLst>
              <a:gd name="adj" fmla="val 2116"/>
            </a:avLst>
          </a:prstGeom>
          <a:solidFill xmlns:a="http://schemas.openxmlformats.org/drawingml/2006/main">
            <a:srgbClr val="F2F2F2"/>
          </a:solidFill>
          <a:ln xmlns:a="http://schemas.openxmlformats.org/drawingml/2006/main" w="0">
            <a:solidFill>
              <a:srgbClr val="F2F2F2"/>
            </a:solidFill>
          </a:ln>
        </p:spPr>
        <p:txBody>
          <a:bodyPr xmlns:a="http://schemas.openxmlformats.org/drawingml/2006/main"/>
          <a:lstStyle xmlns:a="http://schemas.openxmlformats.org/drawingml/2006/main"/>
          <a:p xmlns:a="http://schemas.openxmlformats.org/drawingml/2006/main">
            <a:endParaRPr/>
          </a:p>
        </p:txBody>
      </p:sp>
      <p:sp>
        <p:nvSpPr>
          <p:cNvPr id="48" name="stage-three">
            <a:extLst xmlns:a="http://schemas.openxmlformats.org/drawingml/2006/main">
              <a:ext uri="{FF2B5EF4-FFF2-40B4-BE49-F238E27FC236}">
                <a16:creationId xmlns:a16="http://schemas.microsoft.com/office/drawing/2014/main" id="{C64DBD9F-D276-4F7B-B112-CF0B587A0D6F}"/>
              </a:ext>
            </a:extLst>
          </p:cNvPr>
          <p:cNvSpPr>
            <a:spLocks xmlns:a="http://schemas.openxmlformats.org/drawingml/2006/main" noGrp="1"/>
          </p:cNvSpPr>
          <p:nvPr/>
        </p:nvSpPr>
        <p:spPr>
          <a:xfrm xmlns:a="http://schemas.openxmlformats.org/drawingml/2006/main">
            <a:off x="8410575" y="2000250"/>
            <a:ext cx="304800" cy="304800"/>
          </a:xfrm>
          <a:prstGeom xmlns:a="http://schemas.openxmlformats.org/drawingml/2006/main" prst="ellipse">
            <a:avLst/>
          </a:prstGeom>
          <a:solidFill xmlns:a="http://schemas.openxmlformats.org/drawingml/2006/main">
            <a:srgbClr val="2468B8"/>
          </a:solidFill>
          <a:ln xmlns:a="http://schemas.openxmlformats.org/drawingml/2006/main" w="0">
            <a:solidFill>
              <a:srgbClr val="2468B8"/>
            </a:solidFill>
          </a:ln>
        </p:spPr>
        <p:txBody>
          <a:bodyPr xmlns:a="http://schemas.openxmlformats.org/drawingml/2006/main"/>
          <a:lstStyle xmlns:a="http://schemas.openxmlformats.org/drawingml/2006/main"/>
          <a:p xmlns:a="http://schemas.openxmlformats.org/drawingml/2006/main">
            <a:endParaRPr/>
          </a:p>
        </p:txBody>
      </p:sp>
      <p:sp>
        <p:nvSpPr>
          <p:cNvPr id="49" name="Rectangle 48">
            <a:extLst xmlns:a="http://schemas.openxmlformats.org/drawingml/2006/main">
              <a:ext uri="{FF2B5EF4-FFF2-40B4-BE49-F238E27FC236}">
                <a16:creationId xmlns:a16="http://schemas.microsoft.com/office/drawing/2014/main" id="{FD10E5DB-903F-45E8-8976-6175C6A78320}"/>
              </a:ext>
            </a:extLst>
          </p:cNvPr>
          <p:cNvSpPr>
            <a:spLocks xmlns:a="http://schemas.openxmlformats.org/drawingml/2006/main" noGrp="1"/>
          </p:cNvSpPr>
          <p:nvPr/>
        </p:nvSpPr>
        <p:spPr>
          <a:xfrm xmlns:a="http://schemas.openxmlformats.org/drawingml/2006/main">
            <a:off x="8515350" y="2057400"/>
            <a:ext cx="142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50" name="Rectangle 49">
            <a:extLst xmlns:a="http://schemas.openxmlformats.org/drawingml/2006/main">
              <a:ext uri="{FF2B5EF4-FFF2-40B4-BE49-F238E27FC236}">
                <a16:creationId xmlns:a16="http://schemas.microsoft.com/office/drawing/2014/main" id="{C8FC4680-882D-4834-BD97-B1319B5957F1}"/>
              </a:ext>
            </a:extLst>
          </p:cNvPr>
          <p:cNvSpPr>
            <a:spLocks xmlns:a="http://schemas.openxmlformats.org/drawingml/2006/main" noGrp="1"/>
          </p:cNvSpPr>
          <p:nvPr/>
        </p:nvSpPr>
        <p:spPr>
          <a:xfrm xmlns:a="http://schemas.openxmlformats.org/drawingml/2006/main">
            <a:off x="8848725" y="1962150"/>
            <a:ext cx="2724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Filtre de Kalman</a:t>
            </a:r>
          </a:p>
        </p:txBody>
      </p:sp>
      <p:sp>
        <p:nvSpPr>
          <p:cNvPr id="51" name="Rectangle 50">
            <a:extLst xmlns:a="http://schemas.openxmlformats.org/drawingml/2006/main">
              <a:ext uri="{FF2B5EF4-FFF2-40B4-BE49-F238E27FC236}">
                <a16:creationId xmlns:a16="http://schemas.microsoft.com/office/drawing/2014/main" id="{0A97143C-F629-49C7-BEA6-3F0DA3C8E5DA}"/>
              </a:ext>
            </a:extLst>
          </p:cNvPr>
          <p:cNvSpPr>
            <a:spLocks xmlns:a="http://schemas.openxmlformats.org/drawingml/2006/main" noGrp="1"/>
          </p:cNvSpPr>
          <p:nvPr/>
        </p:nvSpPr>
        <p:spPr>
          <a:xfrm xmlns:a="http://schemas.openxmlformats.org/drawingml/2006/main">
            <a:off x="8410575" y="26003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2468B8"/>
                </a:solidFill>
                <a:latin typeface="Helvetica Neue"/>
                <a:ea typeface="Helvetica Neue"/>
                <a:cs typeface="Helvetica Neue"/>
              </a:defRPr>
            </a:pPr>
            <a:r>
              <a:rPr sz="1650" b="1">
                <a:solidFill>
                  <a:srgbClr val="2468B8"/>
                </a:solidFill>
                <a:latin typeface="Helvetica Neue"/>
                <a:ea typeface="Helvetica Neue"/>
                <a:cs typeface="Helvetica Neue"/>
              </a:rPr>
              <a:t>Adaptation au biais récent</a:t>
            </a:r>
          </a:p>
        </p:txBody>
      </p:sp>
      <p:sp>
        <p:nvSpPr>
          <p:cNvPr id="52" name="Rectangle 51">
            <a:extLst xmlns:a="http://schemas.openxmlformats.org/drawingml/2006/main">
              <a:ext uri="{FF2B5EF4-FFF2-40B4-BE49-F238E27FC236}">
                <a16:creationId xmlns:a16="http://schemas.microsoft.com/office/drawing/2014/main" id="{371D9AE8-A486-4F78-B8A5-71498F74FCE3}"/>
              </a:ext>
            </a:extLst>
          </p:cNvPr>
          <p:cNvSpPr>
            <a:spLocks xmlns:a="http://schemas.openxmlformats.org/drawingml/2006/main" noGrp="1"/>
          </p:cNvSpPr>
          <p:nvPr/>
        </p:nvSpPr>
        <p:spPr>
          <a:xfrm xmlns:a="http://schemas.openxmlformats.org/drawingml/2006/main">
            <a:off x="8410575" y="3209925"/>
            <a:ext cx="314325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Estime le </a:t>
            </a:r>
            <a:r>
              <a:rPr sz="1350">
                <a:solidFill>
                  <a:srgbClr val="000000"/>
                </a:solidFill>
                <a:latin typeface="Helvetica Neue"/>
                <a:ea typeface="Helvetica Neue"/>
                <a:cs typeface="Helvetica Neue"/>
              </a:rPr>
              <a:t>biais</a:t>
            </a:r>
            <a:r>
              <a:rPr sz="1350">
                <a:solidFill>
                  <a:srgbClr val="000000"/>
                </a:solidFill>
                <a:latin typeface="Helvetica Neue"/>
                <a:ea typeface="Helvetica Neue"/>
                <a:cs typeface="Helvetica Neue"/>
              </a:rPr>
              <a:t> à </a:t>
            </a:r>
            <a:r>
              <a:rPr sz="1350">
                <a:solidFill>
                  <a:srgbClr val="000000"/>
                </a:solidFill>
                <a:latin typeface="Helvetica Neue"/>
                <a:ea typeface="Helvetica Neue"/>
                <a:cs typeface="Helvetica Neue"/>
              </a:rPr>
              <a:t>partir</a:t>
            </a:r>
            <a:r>
              <a:rPr sz="1350">
                <a:solidFill>
                  <a:srgbClr val="000000"/>
                </a:solidFill>
                <a:latin typeface="Helvetica Neue"/>
                <a:ea typeface="Helvetica Neue"/>
                <a:cs typeface="Helvetica Neue"/>
              </a:rPr>
              <a:t> des </a:t>
            </a:r>
            <a:r>
              <a:rPr sz="1350">
                <a:solidFill>
                  <a:srgbClr val="000000"/>
                </a:solidFill>
                <a:latin typeface="Helvetica Neue"/>
                <a:ea typeface="Helvetica Neue"/>
                <a:cs typeface="Helvetica Neue"/>
              </a:rPr>
              <a:t>erreurs</a:t>
            </a:r>
            <a:endParaRPr sz="1350">
              <a:solidFill>
                <a:srgbClr val="000000"/>
              </a:solidFill>
              <a:latin typeface="Helvetica Neue"/>
              <a:ea typeface="Helvetica Neue"/>
              <a:cs typeface="Helvetica Neue"/>
            </a:endParaRPr>
          </a:p>
          <a:p xmlns:a="http://schemas.openxmlformats.org/drawingml/2006/main">
            <a:pPr>
              <a:buNone/>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déjà </a:t>
            </a:r>
            <a:r>
              <a:rPr sz="1350">
                <a:solidFill>
                  <a:srgbClr val="000000"/>
                </a:solidFill>
                <a:latin typeface="Helvetica Neue"/>
                <a:ea typeface="Helvetica Neue"/>
                <a:cs typeface="Helvetica Neue"/>
              </a:rPr>
              <a:t>observées</a:t>
            </a:r>
            <a:r>
              <a:rPr sz="1350">
                <a:solidFill>
                  <a:srgbClr val="000000"/>
                </a:solidFill>
                <a:latin typeface="Helvetica Neue"/>
                <a:ea typeface="Helvetica Neue"/>
                <a:cs typeface="Helvetica Neue"/>
              </a:rPr>
              <a:t>.</a:t>
            </a:r>
          </a:p>
          <a:p xmlns:a="http://schemas.openxmlformats.org/drawingml/2006/main">
            <a:endParaRPr sz="1350">
              <a:solidFill>
                <a:srgbClr val="000000"/>
              </a:solidFill>
              <a:latin typeface="Helvetica Neue"/>
              <a:ea typeface="Helvetica Neue"/>
              <a:cs typeface="Helvetica Neue"/>
            </a:endParaRPr>
          </a:p>
          <a:p xmlns:a="http://schemas.openxmlformats.org/drawingml/2006/main">
            <a:pPr>
              <a:buNone/>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Choisit</a:t>
            </a:r>
            <a:r>
              <a:rPr sz="1350">
                <a:solidFill>
                  <a:srgbClr val="000000"/>
                </a:solidFill>
                <a:latin typeface="Helvetica Neue"/>
                <a:ea typeface="Helvetica Neue"/>
                <a:cs typeface="Helvetica Neue"/>
              </a:rPr>
              <a:t> le </a:t>
            </a:r>
            <a:r>
              <a:rPr sz="1350">
                <a:solidFill>
                  <a:srgbClr val="000000"/>
                </a:solidFill>
                <a:latin typeface="Helvetica Neue"/>
                <a:ea typeface="Helvetica Neue"/>
                <a:cs typeface="Helvetica Neue"/>
              </a:rPr>
              <a:t>filtre</a:t>
            </a:r>
            <a:r>
              <a:rPr sz="1350">
                <a:solidFill>
                  <a:srgbClr val="000000"/>
                </a:solidFill>
                <a:latin typeface="Helvetica Neue"/>
                <a:ea typeface="Helvetica Neue"/>
                <a:cs typeface="Helvetica Neue"/>
              </a:rPr>
              <a:t> et son </a:t>
            </a:r>
            <a:r>
              <a:rPr sz="1350">
                <a:solidFill>
                  <a:srgbClr val="000000"/>
                </a:solidFill>
                <a:latin typeface="Helvetica Neue"/>
                <a:ea typeface="Helvetica Neue"/>
                <a:cs typeface="Helvetica Neue"/>
              </a:rPr>
              <a:t>poids</a:t>
            </a:r>
            <a:endParaRPr sz="1350">
              <a:solidFill>
                <a:srgbClr val="000000"/>
              </a:solidFill>
              <a:latin typeface="Helvetica Neue"/>
              <a:ea typeface="Helvetica Neue"/>
              <a:cs typeface="Helvetica Neue"/>
            </a:endParaRPr>
          </a:p>
          <a:p xmlns:a="http://schemas.openxmlformats.org/drawingml/2006/main">
            <a:pPr>
              <a:buNone/>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sur les 60 </a:t>
            </a:r>
            <a:r>
              <a:rPr sz="1350">
                <a:solidFill>
                  <a:srgbClr val="000000"/>
                </a:solidFill>
                <a:latin typeface="Helvetica Neue"/>
                <a:ea typeface="Helvetica Neue"/>
                <a:cs typeface="Helvetica Neue"/>
              </a:rPr>
              <a:t>derniers</a:t>
            </a:r>
            <a:r>
              <a:rPr sz="1350">
                <a:solidFill>
                  <a:srgbClr val="000000"/>
                </a:solidFill>
                <a:latin typeface="Helvetica Neue"/>
                <a:ea typeface="Helvetica Neue"/>
                <a:cs typeface="Helvetica Neue"/>
              </a:rPr>
              <a:t> </a:t>
            </a:r>
            <a:r>
              <a:rPr sz="1350">
                <a:solidFill>
                  <a:srgbClr val="000000"/>
                </a:solidFill>
                <a:latin typeface="Helvetica Neue"/>
                <a:ea typeface="Helvetica Neue"/>
                <a:cs typeface="Helvetica Neue"/>
              </a:rPr>
              <a:t>jours</a:t>
            </a:r>
            <a:r>
              <a:rPr sz="1350">
                <a:solidFill>
                  <a:srgbClr val="000000"/>
                </a:solidFill>
                <a:latin typeface="Helvetica Neue"/>
                <a:ea typeface="Helvetica Neue"/>
                <a:cs typeface="Helvetica Neue"/>
              </a:rPr>
              <a:t>.</a:t>
            </a:r>
          </a:p>
          <a:p xmlns:a="http://schemas.openxmlformats.org/drawingml/2006/main">
            <a:endParaRPr sz="1350">
              <a:solidFill>
                <a:srgbClr val="000000"/>
              </a:solidFill>
              <a:latin typeface="Helvetica Neue"/>
              <a:ea typeface="Helvetica Neue"/>
              <a:cs typeface="Helvetica Neue"/>
            </a:endParaRPr>
          </a:p>
          <a:p xmlns:a="http://schemas.openxmlformats.org/drawingml/2006/main">
            <a:pPr>
              <a:buNone/>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Sans gain </a:t>
            </a:r>
            <a:r>
              <a:rPr sz="1350">
                <a:solidFill>
                  <a:srgbClr val="000000"/>
                </a:solidFill>
                <a:latin typeface="Helvetica Neue"/>
                <a:ea typeface="Helvetica Neue"/>
                <a:cs typeface="Helvetica Neue"/>
              </a:rPr>
              <a:t>suffisant</a:t>
            </a:r>
            <a:r>
              <a:rPr sz="1350">
                <a:solidFill>
                  <a:srgbClr val="000000"/>
                </a:solidFill>
                <a:latin typeface="Helvetica Neue"/>
                <a:ea typeface="Helvetica Neue"/>
                <a:cs typeface="Helvetica Neue"/>
              </a:rPr>
              <a:t>, conserve</a:t>
            </a:r>
          </a:p>
          <a:p xmlns:a="http://schemas.openxmlformats.org/drawingml/2006/main">
            <a:pPr>
              <a:buNone/>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la </a:t>
            </a:r>
            <a:r>
              <a:rPr sz="1350">
                <a:solidFill>
                  <a:srgbClr val="000000"/>
                </a:solidFill>
                <a:latin typeface="Helvetica Neue"/>
                <a:ea typeface="Helvetica Neue"/>
                <a:cs typeface="Helvetica Neue"/>
              </a:rPr>
              <a:t>prévision</a:t>
            </a:r>
            <a:r>
              <a:rPr sz="1350">
                <a:solidFill>
                  <a:srgbClr val="000000"/>
                </a:solidFill>
                <a:latin typeface="Helvetica Neue"/>
                <a:ea typeface="Helvetica Neue"/>
                <a:cs typeface="Helvetica Neue"/>
              </a:rPr>
              <a:t> </a:t>
            </a:r>
            <a:r>
              <a:rPr sz="1350">
                <a:solidFill>
                  <a:srgbClr val="000000"/>
                </a:solidFill>
                <a:latin typeface="Helvetica Neue"/>
                <a:ea typeface="Helvetica Neue"/>
                <a:cs typeface="Helvetica Neue"/>
              </a:rPr>
              <a:t>amont</a:t>
            </a:r>
            <a:r>
              <a:rPr sz="1350">
                <a:solidFill>
                  <a:srgbClr val="000000"/>
                </a:solidFill>
                <a:latin typeface="Helvetica Neue"/>
                <a:ea typeface="Helvetica Neue"/>
                <a:cs typeface="Helvetica Neue"/>
              </a:rPr>
              <a:t>.</a:t>
            </a:r>
          </a:p>
        </p:txBody>
      </p:sp>
      <p:sp>
        <p:nvSpPr>
          <p:cNvPr id="53" name="Rectangle 52">
            <a:extLst xmlns:a="http://schemas.openxmlformats.org/drawingml/2006/main">
              <a:ext uri="{FF2B5EF4-FFF2-40B4-BE49-F238E27FC236}">
                <a16:creationId xmlns:a16="http://schemas.microsoft.com/office/drawing/2014/main" id="{3EB4CBE0-D470-4A71-9F76-4214D5098887}"/>
              </a:ext>
            </a:extLst>
          </p:cNvPr>
          <p:cNvSpPr>
            <a:spLocks xmlns:a="http://schemas.openxmlformats.org/drawingml/2006/main" noGrp="1"/>
          </p:cNvSpPr>
          <p:nvPr/>
        </p:nvSpPr>
        <p:spPr>
          <a:xfrm xmlns:a="http://schemas.openxmlformats.org/drawingml/2006/main">
            <a:off x="8410575" y="524827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1">
                <a:solidFill>
                  <a:srgbClr val="2468B8"/>
                </a:solidFill>
                <a:latin typeface="Helvetica Neue"/>
                <a:ea typeface="Helvetica Neue"/>
                <a:cs typeface="Helvetica Neue"/>
              </a:defRPr>
            </a:pPr>
            <a:r>
              <a:rPr sz="1425" b="1">
                <a:solidFill>
                  <a:srgbClr val="2468B8"/>
                </a:solidFill>
                <a:latin typeface="Helvetica Neue"/>
                <a:ea typeface="Helvetica Neue"/>
                <a:cs typeface="Helvetica Neue"/>
              </a:rPr>
              <a:t>Même décalage sur</a:t>
            </a:r>
          </a:p>
          <a:p xmlns:a="http://schemas.openxmlformats.org/drawingml/2006/main">
            <a:pPr>
              <a:buNone/>
              <a:defRPr sz="1425" b="1">
                <a:solidFill>
                  <a:srgbClr val="2468B8"/>
                </a:solidFill>
                <a:latin typeface="Helvetica Neue"/>
                <a:ea typeface="Helvetica Neue"/>
                <a:cs typeface="Helvetica Neue"/>
              </a:defRPr>
            </a:pPr>
            <a:r>
              <a:rPr sz="1425" b="1">
                <a:solidFill>
                  <a:srgbClr val="2468B8"/>
                </a:solidFill>
                <a:latin typeface="Helvetica Neue"/>
                <a:ea typeface="Helvetica Neue"/>
                <a:cs typeface="Helvetica Neue"/>
              </a:rPr>
              <a:t>P10, P50 et P90</a:t>
            </a:r>
          </a:p>
        </p:txBody>
      </p:sp>
      <p:sp>
        <p:nvSpPr>
          <p:cNvPr id="54" name="Rectangle 53">
            <a:extLst xmlns:a="http://schemas.openxmlformats.org/drawingml/2006/main">
              <a:ext uri="{FF2B5EF4-FFF2-40B4-BE49-F238E27FC236}">
                <a16:creationId xmlns:a16="http://schemas.microsoft.com/office/drawing/2014/main" id="{2FB802BF-A5A6-4046-A2CC-578F42F06AAA}"/>
              </a:ext>
            </a:extLst>
          </p:cNvPr>
          <p:cNvSpPr>
            <a:spLocks xmlns:a="http://schemas.openxmlformats.org/drawingml/2006/main" noGrp="1"/>
          </p:cNvSpPr>
          <p:nvPr/>
        </p:nvSpPr>
        <p:spPr>
          <a:xfrm xmlns:a="http://schemas.openxmlformats.org/drawingml/2006/main">
            <a:off x="390525" y="6143625"/>
            <a:ext cx="11401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Ex : 150 + 8 + 3 = 161 EUR/MWh</a:t>
            </a:r>
          </a:p>
        </p:txBody>
      </p:sp>
    </p:spTree>
    <p:extLst>
      <p:ext uri="{BB962C8B-B14F-4D97-AF65-F5344CB8AC3E}">
        <p14:creationId xmlns:p14="http://schemas.microsoft.com/office/powerpoint/2010/main" val="18146640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686F0A-9E9F-4A56-A4B2-511E95F6A4DE}"/>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Intégration de la production nucléaire FR</a:t>
            </a:r>
          </a:p>
        </p:txBody>
      </p:sp>
      <p:sp>
        <p:nvSpPr>
          <p:cNvPr id="2" name="">
            <a:extLst xmlns:a="http://schemas.openxmlformats.org/drawingml/2006/main">
              <a:ext uri="{FF2B5EF4-FFF2-40B4-BE49-F238E27FC236}">
                <a16:creationId xmlns:a16="http://schemas.microsoft.com/office/drawing/2014/main" id="{5494EB49-F6E0-40A4-B186-120B04E9D414}"/>
              </a:ext>
            </a:extLst>
          </p:cNvPr>
          <p:cNvSpPr>
            <a:spLocks xmlns:a="http://schemas.openxmlformats.org/drawingml/2006/main" noGrp="1"/>
          </p:cNvSpPr>
          <p:nvPr/>
        </p:nvSpPr>
        <p:spPr>
          <a:xfrm xmlns:a="http://schemas.openxmlformats.org/drawingml/2006/main">
            <a:off x="390525" y="1057275"/>
            <a:ext cx="11401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545A64"/>
                </a:solidFill>
                <a:latin typeface="Helvetica Neue"/>
                <a:ea typeface="Helvetica Neue"/>
                <a:cs typeface="Helvetica Neue"/>
              </a:defRPr>
            </a:pPr>
            <a:r>
              <a:rPr sz="1575">
                <a:solidFill>
                  <a:srgbClr val="545A64"/>
                </a:solidFill>
                <a:latin typeface="Helvetica Neue"/>
                <a:ea typeface="Helvetica Neue"/>
                <a:cs typeface="Helvetica Neue"/>
              </a:rPr>
              <a:t>Une prévision horaire de production en GW, issue de Saturn.</a:t>
            </a:r>
          </a:p>
          <a:p xmlns:a="http://schemas.openxmlformats.org/drawingml/2006/main">
            <a:pPr>
              <a:defRPr sz="1575">
                <a:solidFill>
                  <a:srgbClr val="545A64"/>
                </a:solidFill>
                <a:latin typeface="Helvetica Neue"/>
                <a:ea typeface="Helvetica Neue"/>
                <a:cs typeface="Helvetica Neue"/>
              </a:defRPr>
            </a:pPr>
            <a:r>
              <a:rPr sz="1575">
                <a:solidFill>
                  <a:srgbClr val="545A64"/>
                </a:solidFill>
                <a:latin typeface="Helvetica Neue"/>
                <a:ea typeface="Helvetica Neue"/>
                <a:cs typeface="Helvetica Neue"/>
              </a:rPr>
              <a:t>Snapshot demandé à D−1 08 h (Paris), aligné sur les heures de livraison.</a:t>
            </a:r>
          </a:p>
        </p:txBody>
      </p:sp>
      <p:graphicFrame>
        <p:nvGraphicFramePr>
          <p:cNvPr id="9" name=""/>
          <p:cNvGraphicFramePr/>
          <p:nvPr/>
        </p:nvGraphicFramePr>
        <p:xfrm>
          <a:off xmlns:a="http://schemas.openxmlformats.org/drawingml/2006/main" x="390525" y="1962150"/>
          <a:ext xmlns:a="http://schemas.openxmlformats.org/drawingml/2006/main" cx="11401425" cy="2428875"/>
        </p:xfrm>
        <a:graphic xmlns:a="http://schemas.openxmlformats.org/drawingml/2006/main">
          <a:graphicData uri="http://schemas.openxmlformats.org/drawingml/2006/table">
            <a:tbl>
              <a:tblPr firstRow="0" firstCol="0" bandRow="0"/>
              <a:tblGrid>
                <a:gridCol w="2724150"/>
                <a:gridCol w="8677275"/>
              </a:tblGrid>
              <a:tr h="809625">
                <a:tc>
                  <a:txBody>
                    <a:bodyPr anchor="ctr">
                      <a:noAutofit/>
                    </a:bodyPr>
                    <a:lstStyle/>
                    <a:p>
                      <a:pPr algn="l"/>
                      <a:r>
                        <a:rPr sz="1650" b="1">
                          <a:solidFill>
                            <a:srgbClr val="3D8DFF"/>
                          </a:solidFill>
                          <a:latin typeface="Helvetica Neue"/>
                          <a:ea typeface="Helvetica Neue"/>
                          <a:cs typeface="Helvetica Neue"/>
                        </a:rPr>
                        <a:t>Chronos-2</a:t>
                      </a:r>
                    </a:p>
                  </a:txBody>
                  <a:tcPr marL="152400" marR="133350" marT="95250" marB="95250" anchor="ctr">
                    <a:solidFill>
                      <a:srgbClr val="F2F2F2"/>
                    </a:solidFill>
                  </a:tcPr>
                </a:tc>
                <a:tc>
                  <a:txBody>
                    <a:bodyPr anchor="ctr">
                      <a:noAutofit/>
                    </a:bodyPr>
                    <a:lstStyle/>
                    <a:p>
                      <a:pPr algn="l"/>
                      <a:r>
                        <a:rPr sz="1500">
                          <a:solidFill>
                            <a:srgbClr val="000000"/>
                          </a:solidFill>
                          <a:latin typeface="Helvetica Neue"/>
                          <a:ea typeface="Helvetica Neue"/>
                          <a:cs typeface="Helvetica Neue"/>
                        </a:rPr>
                        <a:t>Série supplémentaire dans le contexte historique et le futur connu.</a:t>
                      </a:r>
                    </a:p>
                    <a:p>
                      <a:pPr algn="l"/>
                      <a:r>
                        <a:rPr sz="1500">
                          <a:solidFill>
                            <a:srgbClr val="000000"/>
                          </a:solidFill>
                          <a:latin typeface="Helvetica Neue"/>
                          <a:ea typeface="Helvetica Neue"/>
                          <a:cs typeface="Helvetica Neue"/>
                        </a:rPr>
                        <a:t>Poids du réseau gelés, prévisions historiques recalculées.</a:t>
                      </a:r>
                    </a:p>
                  </a:txBody>
                  <a:tcPr marL="152400" marR="133350" marT="95250" marB="95250" anchor="ctr">
                    <a:solidFill>
                      <a:srgbClr val="F2F2F2"/>
                    </a:solidFill>
                  </a:tcPr>
                </a:tc>
              </a:tr>
              <a:tr h="809625">
                <a:tc>
                  <a:txBody>
                    <a:bodyPr anchor="ctr">
                      <a:noAutofit/>
                    </a:bodyPr>
                    <a:lstStyle/>
                    <a:p>
                      <a:pPr algn="l"/>
                      <a:r>
                        <a:rPr sz="1650" b="1">
                          <a:solidFill>
                            <a:srgbClr val="3D8DFF"/>
                          </a:solidFill>
                          <a:latin typeface="Helvetica Neue"/>
                          <a:ea typeface="Helvetica Neue"/>
                          <a:cs typeface="Helvetica Neue"/>
                        </a:rPr>
                        <a:t>Correcteur CatBoost</a:t>
                      </a:r>
                    </a:p>
                  </a:txBody>
                  <a:tcPr marL="152400" marR="133350" marT="95250" marB="95250" anchor="ctr">
                    <a:solidFill>
                      <a:srgbClr val="F2F2F2"/>
                    </a:solidFill>
                  </a:tcPr>
                </a:tc>
                <a:tc>
                  <a:txBody>
                    <a:bodyPr anchor="ctr">
                      <a:noAutofit/>
                    </a:bodyPr>
                    <a:lstStyle/>
                    <a:p>
                      <a:pPr algn="l"/>
                      <a:r>
                        <a:rPr sz="1500">
                          <a:solidFill>
                            <a:srgbClr val="000000"/>
                          </a:solidFill>
                          <a:latin typeface="Helvetica Neue"/>
                          <a:ea typeface="Helvetica Neue"/>
                          <a:cs typeface="Helvetica Neue"/>
                        </a:rPr>
                        <a:t>Colonne explicative pour apprendre l’erreur de Chronos-2.</a:t>
                      </a:r>
                    </a:p>
                    <a:p>
                      <a:pPr algn="l"/>
                      <a:r>
                        <a:rPr sz="1500">
                          <a:solidFill>
                            <a:srgbClr val="000000"/>
                          </a:solidFill>
                          <a:latin typeface="Helvetica Neue"/>
                          <a:ea typeface="Helvetica Neue"/>
                          <a:cs typeface="Helvetica Neue"/>
                        </a:rPr>
                        <a:t>Réentraînement quotidien sur les 365 jours précédents.</a:t>
                      </a:r>
                    </a:p>
                  </a:txBody>
                  <a:tcPr marL="152400" marR="133350" marT="95250" marB="95250" anchor="ctr">
                    <a:solidFill>
                      <a:srgbClr val="F2F2F2"/>
                    </a:solidFill>
                  </a:tcPr>
                </a:tc>
              </a:tr>
              <a:tr h="809625">
                <a:tc>
                  <a:txBody>
                    <a:bodyPr anchor="ctr">
                      <a:noAutofit/>
                    </a:bodyPr>
                    <a:lstStyle/>
                    <a:p>
                      <a:pPr algn="l"/>
                      <a:r>
                        <a:rPr sz="1650" b="1">
                          <a:solidFill>
                            <a:srgbClr val="2468B8"/>
                          </a:solidFill>
                          <a:latin typeface="Helvetica Neue"/>
                          <a:ea typeface="Helvetica Neue"/>
                          <a:cs typeface="Helvetica Neue"/>
                        </a:rPr>
                        <a:t>Kalman « marché »</a:t>
                      </a:r>
                    </a:p>
                  </a:txBody>
                  <a:tcPr marL="152400" marR="133350" marT="95250" marB="95250" anchor="ctr">
                    <a:solidFill>
                      <a:srgbClr val="F2F2F2"/>
                    </a:solidFill>
                  </a:tcPr>
                </a:tc>
                <a:tc>
                  <a:txBody>
                    <a:bodyPr anchor="ctr">
                      <a:noAutofit/>
                    </a:bodyPr>
                    <a:lstStyle/>
                    <a:p>
                      <a:pPr algn="l"/>
                      <a:r>
                        <a:rPr sz="1500">
                          <a:solidFill>
                            <a:srgbClr val="000000"/>
                          </a:solidFill>
                          <a:latin typeface="Helvetica Neue"/>
                          <a:ea typeface="Helvetica Neue"/>
                          <a:cs typeface="Helvetica Neue"/>
                        </a:rPr>
                        <a:t>Entrée normalisée d’un filtre candidat.</a:t>
                      </a:r>
                    </a:p>
                    <a:p>
                      <a:pPr algn="l"/>
                      <a:r>
                        <a:rPr sz="1500">
                          <a:solidFill>
                            <a:srgbClr val="000000"/>
                          </a:solidFill>
                          <a:latin typeface="Helvetica Neue"/>
                          <a:ea typeface="Helvetica Neue"/>
                          <a:cs typeface="Helvetica Neue"/>
                        </a:rPr>
                        <a:t>La gouvernance choisit le filtre et son poids de correction.</a:t>
                      </a:r>
                    </a:p>
                  </a:txBody>
                  <a:tcPr marL="152400" marR="133350" marT="95250" marB="95250" anchor="ctr">
                    <a:solidFill>
                      <a:srgbClr val="F2F2F2"/>
                    </a:solidFill>
                  </a:tcPr>
                </a:tc>
              </a:tr>
            </a:tbl>
          </a:graphicData>
        </a:graphic>
      </p:graphicFrame>
      <p:sp>
        <p:nvSpPr>
          <p:cNvPr id="4" name="">
            <a:extLst xmlns:a="http://schemas.openxmlformats.org/drawingml/2006/main">
              <a:ext uri="{FF2B5EF4-FFF2-40B4-BE49-F238E27FC236}">
                <a16:creationId xmlns:a16="http://schemas.microsoft.com/office/drawing/2014/main" id="{5B1358D1-3C3B-4A75-BCEF-E0AA7A53E27F}"/>
              </a:ext>
            </a:extLst>
          </p:cNvPr>
          <p:cNvSpPr>
            <a:spLocks xmlns:a="http://schemas.openxmlformats.org/drawingml/2006/main" noGrp="1"/>
          </p:cNvSpPr>
          <p:nvPr/>
        </p:nvSpPr>
        <p:spPr>
          <a:xfrm xmlns:a="http://schemas.openxmlformats.org/drawingml/2006/main">
            <a:off x="390525" y="4676775"/>
            <a:ext cx="11401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Ce qui change par rapport à l’ancien essai identifié</a:t>
            </a:r>
          </a:p>
        </p:txBody>
      </p:sp>
      <p:sp>
        <p:nvSpPr>
          <p:cNvPr id="5" name="">
            <a:extLst xmlns:a="http://schemas.openxmlformats.org/drawingml/2006/main">
              <a:ext uri="{FF2B5EF4-FFF2-40B4-BE49-F238E27FC236}">
                <a16:creationId xmlns:a16="http://schemas.microsoft.com/office/drawing/2014/main" id="{CF609B64-0CBE-4B4E-96FE-6ABB891E69AE}"/>
              </a:ext>
            </a:extLst>
          </p:cNvPr>
          <p:cNvSpPr>
            <a:spLocks xmlns:a="http://schemas.openxmlformats.org/drawingml/2006/main" noGrp="1"/>
          </p:cNvSpPr>
          <p:nvPr/>
        </p:nvSpPr>
        <p:spPr>
          <a:xfrm xmlns:a="http://schemas.openxmlformats.org/drawingml/2006/main">
            <a:off x="390525" y="5143500"/>
            <a:ext cx="11401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Ancien essai : nucléaire dans le correcteur seul, prévisions Chronos existantes réutilisées.</a:t>
            </a:r>
          </a:p>
          <a:p xmlns:a="http://schemas.openxmlformats.org/drawingml/2006/main">
            <a:pPr>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Parcours actuel : plusieurs étages utilisent la variable, avec un protocole de calcul différent.</a:t>
            </a:r>
          </a:p>
        </p:txBody>
      </p:sp>
      <p:sp>
        <p:nvSpPr>
          <p:cNvPr id="6" name="">
            <a:extLst xmlns:a="http://schemas.openxmlformats.org/drawingml/2006/main">
              <a:ext uri="{FF2B5EF4-FFF2-40B4-BE49-F238E27FC236}">
                <a16:creationId xmlns:a16="http://schemas.microsoft.com/office/drawing/2014/main" id="{824F9FAD-84F7-48F0-9CD0-B823A92BB95E}"/>
              </a:ext>
            </a:extLst>
          </p:cNvPr>
          <p:cNvSpPr>
            <a:spLocks xmlns:a="http://schemas.openxmlformats.org/drawingml/2006/main" noGrp="1"/>
          </p:cNvSpPr>
          <p:nvPr/>
        </p:nvSpPr>
        <p:spPr>
          <a:xfrm xmlns:a="http://schemas.openxmlformats.org/drawingml/2006/main">
            <a:off x="390525" y="5991225"/>
            <a:ext cx="11401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8B8"/>
                </a:solidFill>
                <a:latin typeface="Helvetica Neue"/>
                <a:ea typeface="Helvetica Neue"/>
                <a:cs typeface="Helvetica Neue"/>
              </a:defRPr>
            </a:pPr>
            <a:r>
              <a:rPr sz="1875" b="1">
                <a:solidFill>
                  <a:srgbClr val="2468B8"/>
                </a:solidFill>
                <a:latin typeface="Helvetica Neue"/>
                <a:ea typeface="Helvetica Neue"/>
                <a:cs typeface="Helvetica Neue"/>
              </a:rPr>
              <a:t>Le gain propre du nucléaire reste à confirmer par un test</a:t>
            </a:r>
          </a:p>
          <a:p xmlns:a="http://schemas.openxmlformats.org/drawingml/2006/main">
            <a:pPr>
              <a:defRPr sz="1875" b="1">
                <a:solidFill>
                  <a:srgbClr val="2468B8"/>
                </a:solidFill>
                <a:latin typeface="Helvetica Neue"/>
                <a:ea typeface="Helvetica Neue"/>
                <a:cs typeface="Helvetica Neue"/>
              </a:defRPr>
            </a:pPr>
            <a:r>
              <a:rPr sz="1875" b="1">
                <a:solidFill>
                  <a:srgbClr val="2468B8"/>
                </a:solidFill>
                <a:latin typeface="Helvetica Neue"/>
                <a:ea typeface="Helvetica Neue"/>
                <a:cs typeface="Helvetica Neue"/>
              </a:rPr>
              <a:t>avec / sans la variable, à données et protocole identiques.</a:t>
            </a:r>
          </a:p>
        </p:txBody>
      </p:sp>
    </p:spTree>
    <p:extLst>
      <p:ext uri="{BB962C8B-B14F-4D97-AF65-F5344CB8AC3E}">
        <p14:creationId xmlns:p14="http://schemas.microsoft.com/office/powerpoint/2010/main" val="1814664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Prix moyens et </a:t>
            </a:r>
            <a:r>
              <a:rPr sz="2925" b="1">
                <a:solidFill>
                  <a:srgbClr val="000000"/>
                </a:solidFill>
                <a:latin typeface="Helvetica Neue"/>
                <a:ea typeface="Helvetica Neue"/>
                <a:cs typeface="Helvetica Neue"/>
              </a:rPr>
              <a:t>comparaison</a:t>
            </a:r>
            <a:r>
              <a:rPr sz="2925" b="1">
                <a:solidFill>
                  <a:srgbClr val="000000"/>
                </a:solidFill>
                <a:latin typeface="Helvetica Neue"/>
                <a:ea typeface="Helvetica Neue"/>
                <a:cs typeface="Helvetica Neue"/>
              </a:rPr>
              <a:t> à </a:t>
            </a:r>
            <a:r>
              <a:rPr sz="2925" b="1">
                <a:solidFill>
                  <a:srgbClr val="000000"/>
                </a:solidFill>
                <a:latin typeface="Helvetica Neue"/>
                <a:ea typeface="Helvetica Neue"/>
                <a:cs typeface="Helvetica Neue"/>
              </a:rPr>
              <a:t>l’observé</a:t>
            </a:r>
            <a:endParaRPr/>
          </a:p>
        </p:txBody>
      </p:sp>
      <p:sp>
        <p:nvSpPr>
          <p:cNvPr id="24" name="Rectangle 23">
            <a:extLst xmlns:a="http://schemas.openxmlformats.org/drawingml/2006/main">
              <a:ext uri="{FF2B5EF4-FFF2-40B4-BE49-F238E27FC236}">
                <a16:creationId xmlns:a16="http://schemas.microsoft.com/office/drawing/2014/main" id="{404F01F4-704A-4D0D-835D-BC42C9A43817}"/>
              </a:ext>
            </a:extLst>
          </p:cNvPr>
          <p:cNvSpPr>
            <a:spLocks xmlns:a="http://schemas.openxmlformats.org/drawingml/2006/main" noGrp="1"/>
          </p:cNvSpPr>
          <p:nvPr/>
        </p:nvSpPr>
        <p:spPr>
          <a:xfrm xmlns:a="http://schemas.openxmlformats.org/drawingml/2006/main">
            <a:off x="390525" y="1057275"/>
            <a:ext cx="1140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Exemple</a:t>
            </a:r>
            <a:r>
              <a:rPr sz="1500">
                <a:solidFill>
                  <a:srgbClr val="545A64"/>
                </a:solidFill>
                <a:latin typeface="Helvetica Neue"/>
                <a:ea typeface="Helvetica Neue"/>
                <a:cs typeface="Helvetica Neue"/>
              </a:rPr>
              <a:t> du 9 </a:t>
            </a:r>
            <a:r>
              <a:rPr sz="1500">
                <a:solidFill>
                  <a:srgbClr val="545A64"/>
                </a:solidFill>
                <a:latin typeface="Helvetica Neue"/>
                <a:ea typeface="Helvetica Neue"/>
                <a:cs typeface="Helvetica Neue"/>
              </a:rPr>
              <a:t>septembre</a:t>
            </a:r>
            <a:r>
              <a:rPr sz="1500">
                <a:solidFill>
                  <a:srgbClr val="545A64"/>
                </a:solidFill>
                <a:latin typeface="Helvetica Neue"/>
                <a:ea typeface="Helvetica Neue"/>
                <a:cs typeface="Helvetica Neue"/>
              </a:rPr>
              <a:t> 2026 avec Chronos-2 + </a:t>
            </a:r>
            <a:r>
              <a:rPr sz="1500">
                <a:solidFill>
                  <a:srgbClr val="545A64"/>
                </a:solidFill>
                <a:latin typeface="Helvetica Neue"/>
                <a:ea typeface="Helvetica Neue"/>
                <a:cs typeface="Helvetica Neue"/>
              </a:rPr>
              <a:t>nucléaire</a:t>
            </a:r>
            <a:r>
              <a:rPr sz="1500">
                <a:solidFill>
                  <a:srgbClr val="545A64"/>
                </a:solidFill>
                <a:latin typeface="Helvetica Neue"/>
                <a:ea typeface="Helvetica Neue"/>
                <a:cs typeface="Helvetica Neue"/>
              </a:rPr>
              <a:t> + </a:t>
            </a:r>
            <a:r>
              <a:rPr sz="1500">
                <a:solidFill>
                  <a:srgbClr val="545A64"/>
                </a:solidFill>
                <a:latin typeface="Helvetica Neue"/>
                <a:ea typeface="Helvetica Neue"/>
                <a:cs typeface="Helvetica Neue"/>
              </a:rPr>
              <a:t>correcteur</a:t>
            </a:r>
            <a:r>
              <a:rPr sz="1500">
                <a:solidFill>
                  <a:srgbClr val="545A64"/>
                </a:solidFill>
                <a:latin typeface="Helvetica Neue"/>
                <a:ea typeface="Helvetica Neue"/>
                <a:cs typeface="Helvetica Neue"/>
              </a:rPr>
              <a:t> + Kalman</a:t>
            </a:r>
          </a:p>
        </p:txBody>
      </p:sp>
      <p:sp>
        <p:nvSpPr>
          <p:cNvPr id="25" name="Rectangle 24">
            <a:extLst xmlns:a="http://schemas.openxmlformats.org/drawingml/2006/main">
              <a:ext uri="{FF2B5EF4-FFF2-40B4-BE49-F238E27FC236}">
                <a16:creationId xmlns:a16="http://schemas.microsoft.com/office/drawing/2014/main" id="{7B18052D-AA64-42A3-85C4-22F50B6D1A41}"/>
              </a:ext>
            </a:extLst>
          </p:cNvPr>
          <p:cNvSpPr>
            <a:spLocks xmlns:a="http://schemas.openxmlformats.org/drawingml/2006/main" noGrp="1"/>
          </p:cNvSpPr>
          <p:nvPr/>
        </p:nvSpPr>
        <p:spPr>
          <a:xfrm xmlns:a="http://schemas.openxmlformats.org/drawingml/2006/main">
            <a:off x="390525" y="1685925"/>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3D8DFF"/>
                </a:solidFill>
                <a:latin typeface="Helvetica Neue"/>
                <a:ea typeface="Helvetica Neue"/>
                <a:cs typeface="Helvetica Neue"/>
              </a:defRPr>
            </a:pPr>
            <a:r>
              <a:rPr sz="4050" b="1">
                <a:solidFill>
                  <a:srgbClr val="3D8DFF"/>
                </a:solidFill>
                <a:latin typeface="Helvetica Neue"/>
                <a:ea typeface="Helvetica Neue"/>
                <a:cs typeface="Helvetica Neue"/>
              </a:rPr>
              <a:t>163,33</a:t>
            </a:r>
          </a:p>
        </p:txBody>
      </p:sp>
      <p:sp>
        <p:nvSpPr>
          <p:cNvPr id="26" name="Rectangle 25">
            <a:extLst xmlns:a="http://schemas.openxmlformats.org/drawingml/2006/main">
              <a:ext uri="{FF2B5EF4-FFF2-40B4-BE49-F238E27FC236}">
                <a16:creationId xmlns:a16="http://schemas.microsoft.com/office/drawing/2014/main" id="{DB1A05AF-B57F-4DD7-B76F-6ACB705C85A4}"/>
              </a:ext>
            </a:extLst>
          </p:cNvPr>
          <p:cNvSpPr>
            <a:spLocks xmlns:a="http://schemas.openxmlformats.org/drawingml/2006/main" noGrp="1"/>
          </p:cNvSpPr>
          <p:nvPr/>
        </p:nvSpPr>
        <p:spPr>
          <a:xfrm xmlns:a="http://schemas.openxmlformats.org/drawingml/2006/main">
            <a:off x="390525" y="2343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Prix moyen modèle P50 (EUR/MWh)</a:t>
            </a:r>
          </a:p>
        </p:txBody>
      </p:sp>
      <p:sp>
        <p:nvSpPr>
          <p:cNvPr id="27" name="Rectangle 26">
            <a:extLst xmlns:a="http://schemas.openxmlformats.org/drawingml/2006/main">
              <a:ext uri="{FF2B5EF4-FFF2-40B4-BE49-F238E27FC236}">
                <a16:creationId xmlns:a16="http://schemas.microsoft.com/office/drawing/2014/main" id="{32EF569A-132F-4F55-BCA5-24AB01155B57}"/>
              </a:ext>
            </a:extLst>
          </p:cNvPr>
          <p:cNvSpPr>
            <a:spLocks xmlns:a="http://schemas.openxmlformats.org/drawingml/2006/main" noGrp="1"/>
          </p:cNvSpPr>
          <p:nvPr/>
        </p:nvSpPr>
        <p:spPr>
          <a:xfrm xmlns:a="http://schemas.openxmlformats.org/drawingml/2006/main">
            <a:off x="4238625" y="1685925"/>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000000"/>
                </a:solidFill>
                <a:latin typeface="Helvetica Neue"/>
                <a:ea typeface="Helvetica Neue"/>
                <a:cs typeface="Helvetica Neue"/>
              </a:defRPr>
            </a:pPr>
            <a:r>
              <a:rPr sz="4050" b="1">
                <a:solidFill>
                  <a:srgbClr val="000000"/>
                </a:solidFill>
                <a:latin typeface="Helvetica Neue"/>
                <a:ea typeface="Helvetica Neue"/>
                <a:cs typeface="Helvetica Neue"/>
              </a:rPr>
              <a:t>147,76</a:t>
            </a:r>
          </a:p>
        </p:txBody>
      </p:sp>
      <p:sp>
        <p:nvSpPr>
          <p:cNvPr id="28" name="Rectangle 27">
            <a:extLst xmlns:a="http://schemas.openxmlformats.org/drawingml/2006/main">
              <a:ext uri="{FF2B5EF4-FFF2-40B4-BE49-F238E27FC236}">
                <a16:creationId xmlns:a16="http://schemas.microsoft.com/office/drawing/2014/main" id="{6DAE7D58-CC85-4152-8272-5D233A53EDCF}"/>
              </a:ext>
            </a:extLst>
          </p:cNvPr>
          <p:cNvSpPr>
            <a:spLocks xmlns:a="http://schemas.openxmlformats.org/drawingml/2006/main" noGrp="1"/>
          </p:cNvSpPr>
          <p:nvPr/>
        </p:nvSpPr>
        <p:spPr>
          <a:xfrm xmlns:a="http://schemas.openxmlformats.org/drawingml/2006/main">
            <a:off x="4238625" y="2343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Prix moyen Storm (EUR/MWh)</a:t>
            </a:r>
          </a:p>
        </p:txBody>
      </p:sp>
      <p:sp>
        <p:nvSpPr>
          <p:cNvPr id="29" name="Rectangle 28">
            <a:extLst xmlns:a="http://schemas.openxmlformats.org/drawingml/2006/main">
              <a:ext uri="{FF2B5EF4-FFF2-40B4-BE49-F238E27FC236}">
                <a16:creationId xmlns:a16="http://schemas.microsoft.com/office/drawing/2014/main" id="{26DDD149-2586-4968-A94A-175CA1B54061}"/>
              </a:ext>
            </a:extLst>
          </p:cNvPr>
          <p:cNvSpPr>
            <a:spLocks xmlns:a="http://schemas.openxmlformats.org/drawingml/2006/main" noGrp="1"/>
          </p:cNvSpPr>
          <p:nvPr/>
        </p:nvSpPr>
        <p:spPr>
          <a:xfrm xmlns:a="http://schemas.openxmlformats.org/drawingml/2006/main">
            <a:off x="8086725" y="1685925"/>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3D8DFF"/>
                </a:solidFill>
                <a:latin typeface="Helvetica Neue"/>
                <a:ea typeface="Helvetica Neue"/>
                <a:cs typeface="Helvetica Neue"/>
              </a:defRPr>
            </a:pPr>
            <a:r>
              <a:rPr sz="4050" b="1">
                <a:solidFill>
                  <a:srgbClr val="3D8DFF"/>
                </a:solidFill>
                <a:latin typeface="Helvetica Neue"/>
                <a:ea typeface="Helvetica Neue"/>
                <a:cs typeface="Helvetica Neue"/>
              </a:rPr>
              <a:t>+15,57</a:t>
            </a:r>
          </a:p>
        </p:txBody>
      </p:sp>
      <p:sp>
        <p:nvSpPr>
          <p:cNvPr id="30" name="Rectangle 29">
            <a:extLst xmlns:a="http://schemas.openxmlformats.org/drawingml/2006/main">
              <a:ext uri="{FF2B5EF4-FFF2-40B4-BE49-F238E27FC236}">
                <a16:creationId xmlns:a16="http://schemas.microsoft.com/office/drawing/2014/main" id="{12B83B9B-2071-4FCA-9A29-C5C0AF2708A6}"/>
              </a:ext>
            </a:extLst>
          </p:cNvPr>
          <p:cNvSpPr>
            <a:spLocks xmlns:a="http://schemas.openxmlformats.org/drawingml/2006/main" noGrp="1"/>
          </p:cNvSpPr>
          <p:nvPr/>
        </p:nvSpPr>
        <p:spPr>
          <a:xfrm xmlns:a="http://schemas.openxmlformats.org/drawingml/2006/main">
            <a:off x="8086725" y="2343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Écart modèle − Storm (EUR/MWh)</a:t>
            </a:r>
          </a:p>
        </p:txBody>
      </p:sp>
      <p:sp>
        <p:nvSpPr>
          <p:cNvPr id="31" name="Rectangle 30">
            <a:extLst xmlns:a="http://schemas.openxmlformats.org/drawingml/2006/main">
              <a:ext uri="{FF2B5EF4-FFF2-40B4-BE49-F238E27FC236}">
                <a16:creationId xmlns:a16="http://schemas.microsoft.com/office/drawing/2014/main" id="{6FC7207F-CAEC-4135-A850-2C3876446542}"/>
              </a:ext>
            </a:extLst>
          </p:cNvPr>
          <p:cNvSpPr>
            <a:spLocks xmlns:a="http://schemas.openxmlformats.org/drawingml/2006/main" noGrp="1"/>
          </p:cNvSpPr>
          <p:nvPr/>
        </p:nvSpPr>
        <p:spPr>
          <a:xfrm xmlns:a="http://schemas.openxmlformats.org/drawingml/2006/main">
            <a:off x="390525" y="2924175"/>
            <a:ext cx="638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Prix moyens sur les mêmes heures</a:t>
            </a:r>
          </a:p>
        </p:txBody>
      </p:sp>
      <p:graphicFrame>
        <p:nvGraphicFramePr>
          <p:cNvPr id="49" name="Table 49"/>
          <p:cNvGraphicFramePr/>
          <p:nvPr/>
        </p:nvGraphicFramePr>
        <p:xfrm>
          <a:off xmlns:a="http://schemas.openxmlformats.org/drawingml/2006/main" x="390525" y="3352800"/>
          <a:ext xmlns:a="http://schemas.openxmlformats.org/drawingml/2006/main" cx="6419850" cy="1333500"/>
        </p:xfrm>
        <a:graphic xmlns:a="http://schemas.openxmlformats.org/drawingml/2006/main">
          <a:graphicData uri="http://schemas.openxmlformats.org/drawingml/2006/table">
            <a:tbl>
              <a:tblPr/>
              <a:tblGrid>
                <a:gridCol w="2133600"/>
                <a:gridCol w="1428750"/>
                <a:gridCol w="1428750"/>
                <a:gridCol w="1428750"/>
              </a:tblGrid>
              <a:tr h="444500">
                <a:tc>
                  <a:txBody>
                    <a:bodyPr/>
                    <a:lstStyle/>
                    <a:p>
                      <a:pPr algn="ctr">
                        <a:buNone/>
                      </a:pPr>
                      <a:r>
                        <a:rPr sz="1350" b="1">
                          <a:solidFill>
                            <a:srgbClr val="000000"/>
                          </a:solidFill>
                          <a:latin typeface="Helvetica Neue"/>
                          <a:ea typeface="Helvetica Neue"/>
                          <a:cs typeface="Helvetica Neue"/>
                        </a:rPr>
                        <a:t>Période</a:t>
                      </a:r>
                    </a:p>
                  </a:txBody>
                  <a:tcPr marL="47625" marR="47625" marT="47625" marB="47625" anchor="ctr">
                    <a:solidFill>
                      <a:srgbClr val="EDEDED"/>
                    </a:solidFill>
                  </a:tcPr>
                </a:tc>
                <a:tc>
                  <a:txBody>
                    <a:bodyPr/>
                    <a:lstStyle/>
                    <a:p>
                      <a:pPr algn="ctr">
                        <a:buNone/>
                      </a:pPr>
                      <a:r>
                        <a:rPr sz="1350" b="1">
                          <a:solidFill>
                            <a:srgbClr val="000000"/>
                          </a:solidFill>
                          <a:latin typeface="Helvetica Neue"/>
                          <a:ea typeface="Helvetica Neue"/>
                          <a:cs typeface="Helvetica Neue"/>
                        </a:rPr>
                        <a:t>Observé</a:t>
                      </a:r>
                    </a:p>
                  </a:txBody>
                  <a:tcPr marL="47625" marR="47625" marT="47625" marB="47625" anchor="ctr">
                    <a:solidFill>
                      <a:srgbClr val="EDEDED"/>
                    </a:solidFill>
                  </a:tcPr>
                </a:tc>
                <a:tc>
                  <a:txBody>
                    <a:bodyPr/>
                    <a:lstStyle/>
                    <a:p>
                      <a:pPr algn="ctr">
                        <a:buNone/>
                      </a:pPr>
                      <a:r>
                        <a:rPr sz="1350" b="1">
                          <a:solidFill>
                            <a:srgbClr val="3D8DFF"/>
                          </a:solidFill>
                          <a:latin typeface="Helvetica Neue"/>
                          <a:ea typeface="Helvetica Neue"/>
                          <a:cs typeface="Helvetica Neue"/>
                        </a:rPr>
                        <a:t>Modèle</a:t>
                      </a:r>
                    </a:p>
                  </a:txBody>
                  <a:tcPr marL="47625" marR="47625" marT="47625" marB="47625" anchor="ctr">
                    <a:solidFill>
                      <a:srgbClr val="EDEDED"/>
                    </a:solidFill>
                  </a:tcPr>
                </a:tc>
                <a:tc>
                  <a:txBody>
                    <a:bodyPr/>
                    <a:lstStyle/>
                    <a:p>
                      <a:pPr algn="ctr">
                        <a:buNone/>
                      </a:pPr>
                      <a:r>
                        <a:rPr sz="1350" b="1">
                          <a:solidFill>
                            <a:srgbClr val="000000"/>
                          </a:solidFill>
                          <a:latin typeface="Helvetica Neue"/>
                          <a:ea typeface="Helvetica Neue"/>
                          <a:cs typeface="Helvetica Neue"/>
                        </a:rPr>
                        <a:t>Storm</a:t>
                      </a:r>
                    </a:p>
                  </a:txBody>
                  <a:tcPr marL="47625" marR="47625" marT="47625" marB="47625" anchor="ctr">
                    <a:solidFill>
                      <a:srgbClr val="EDEDED"/>
                    </a:solidFill>
                  </a:tcPr>
                </a:tc>
              </a:tr>
              <a:tr h="444500">
                <a:tc>
                  <a:txBody>
                    <a:bodyPr/>
                    <a:lstStyle/>
                    <a:p>
                      <a:pPr algn="ctr">
                        <a:buNone/>
                      </a:pPr>
                      <a:r>
                        <a:rPr sz="1350">
                          <a:solidFill>
                            <a:srgbClr val="545A64"/>
                          </a:solidFill>
                          <a:latin typeface="Helvetica Neue"/>
                          <a:ea typeface="Helvetica Neue"/>
                          <a:cs typeface="Helvetica Neue"/>
                        </a:rPr>
                        <a:t>09/09/2026</a:t>
                      </a:r>
                    </a:p>
                  </a:txBody>
                  <a:tcPr marL="47625" marR="47625" marT="47625" marB="47625" anchor="ctr">
                    <a:solidFill>
                      <a:srgbClr val="FFFFFF"/>
                    </a:solidFill>
                  </a:tcPr>
                </a:tc>
                <a:tc>
                  <a:txBody>
                    <a:bodyPr/>
                    <a:lstStyle/>
                    <a:p>
                      <a:pPr algn="ctr">
                        <a:buNone/>
                      </a:pPr>
                      <a:r>
                        <a:rPr sz="1500">
                          <a:solidFill>
                            <a:srgbClr val="000000"/>
                          </a:solidFill>
                          <a:latin typeface="Helvetica Neue"/>
                          <a:ea typeface="Helvetica Neue"/>
                          <a:cs typeface="Helvetica Neue"/>
                        </a:rPr>
                        <a:t>149,47</a:t>
                      </a:r>
                    </a:p>
                  </a:txBody>
                  <a:tcPr marL="47625" marR="47625" marT="47625" marB="47625" anchor="ctr">
                    <a:solidFill>
                      <a:srgbClr val="FFFFFF"/>
                    </a:solidFill>
                  </a:tcPr>
                </a:tc>
                <a:tc>
                  <a:txBody>
                    <a:bodyPr/>
                    <a:lstStyle/>
                    <a:p>
                      <a:pPr algn="ctr">
                        <a:buNone/>
                      </a:pPr>
                      <a:r>
                        <a:rPr sz="1575" b="1">
                          <a:solidFill>
                            <a:srgbClr val="3D8DFF"/>
                          </a:solidFill>
                          <a:latin typeface="Helvetica Neue"/>
                          <a:ea typeface="Helvetica Neue"/>
                          <a:cs typeface="Helvetica Neue"/>
                        </a:rPr>
                        <a:t>163,33</a:t>
                      </a:r>
                    </a:p>
                  </a:txBody>
                  <a:tcPr marL="47625" marR="47625" marT="47625" marB="47625" anchor="ctr">
                    <a:solidFill>
                      <a:srgbClr val="FFFFFF"/>
                    </a:solidFill>
                  </a:tcPr>
                </a:tc>
                <a:tc>
                  <a:txBody>
                    <a:bodyPr/>
                    <a:lstStyle/>
                    <a:p>
                      <a:pPr algn="ctr">
                        <a:buNone/>
                      </a:pPr>
                      <a:r>
                        <a:rPr sz="1500">
                          <a:solidFill>
                            <a:srgbClr val="000000"/>
                          </a:solidFill>
                          <a:latin typeface="Helvetica Neue"/>
                          <a:ea typeface="Helvetica Neue"/>
                          <a:cs typeface="Helvetica Neue"/>
                        </a:rPr>
                        <a:t>147,76</a:t>
                      </a:r>
                    </a:p>
                  </a:txBody>
                  <a:tcPr marL="47625" marR="47625" marT="47625" marB="47625" anchor="ctr">
                    <a:solidFill>
                      <a:srgbClr val="FFFFFF"/>
                    </a:solidFill>
                  </a:tcPr>
                </a:tc>
              </a:tr>
              <a:tr h="444500">
                <a:tc>
                  <a:txBody>
                    <a:bodyPr/>
                    <a:lstStyle/>
                    <a:p>
                      <a:pPr algn="ctr">
                        <a:buNone/>
                      </a:pPr>
                      <a:r>
                        <a:rPr sz="1350">
                          <a:solidFill>
                            <a:srgbClr val="545A64"/>
                          </a:solidFill>
                          <a:latin typeface="Helvetica Neue"/>
                          <a:ea typeface="Helvetica Neue"/>
                          <a:cs typeface="Helvetica Neue"/>
                        </a:rPr>
                        <a:t>365 jours¹</a:t>
                      </a:r>
                    </a:p>
                  </a:txBody>
                  <a:tcPr marL="47625" marR="47625" marT="47625" marB="47625" anchor="ctr">
                    <a:solidFill>
                      <a:srgbClr val="FFFFFF"/>
                    </a:solidFill>
                  </a:tcPr>
                </a:tc>
                <a:tc>
                  <a:txBody>
                    <a:bodyPr/>
                    <a:lstStyle/>
                    <a:p>
                      <a:pPr algn="ctr">
                        <a:buNone/>
                      </a:pPr>
                      <a:r>
                        <a:rPr sz="1500">
                          <a:solidFill>
                            <a:srgbClr val="000000"/>
                          </a:solidFill>
                          <a:latin typeface="Helvetica Neue"/>
                          <a:ea typeface="Helvetica Neue"/>
                          <a:cs typeface="Helvetica Neue"/>
                        </a:rPr>
                        <a:t>69,95</a:t>
                      </a:r>
                    </a:p>
                  </a:txBody>
                  <a:tcPr marL="47625" marR="47625" marT="47625" marB="47625" anchor="ctr">
                    <a:solidFill>
                      <a:srgbClr val="FFFFFF"/>
                    </a:solidFill>
                  </a:tcPr>
                </a:tc>
                <a:tc>
                  <a:txBody>
                    <a:bodyPr/>
                    <a:lstStyle/>
                    <a:p>
                      <a:pPr algn="ctr">
                        <a:buNone/>
                      </a:pPr>
                      <a:r>
                        <a:rPr sz="1575" b="1">
                          <a:solidFill>
                            <a:srgbClr val="3D8DFF"/>
                          </a:solidFill>
                          <a:latin typeface="Helvetica Neue"/>
                          <a:ea typeface="Helvetica Neue"/>
                          <a:cs typeface="Helvetica Neue"/>
                        </a:rPr>
                        <a:t>69,98</a:t>
                      </a:r>
                    </a:p>
                  </a:txBody>
                  <a:tcPr marL="47625" marR="47625" marT="47625" marB="47625" anchor="ctr">
                    <a:solidFill>
                      <a:srgbClr val="FFFFFF"/>
                    </a:solidFill>
                  </a:tcPr>
                </a:tc>
                <a:tc>
                  <a:txBody>
                    <a:bodyPr/>
                    <a:lstStyle/>
                    <a:p>
                      <a:pPr algn="ctr">
                        <a:buNone/>
                      </a:pPr>
                      <a:r>
                        <a:rPr sz="1500">
                          <a:solidFill>
                            <a:srgbClr val="000000"/>
                          </a:solidFill>
                          <a:latin typeface="Helvetica Neue"/>
                          <a:ea typeface="Helvetica Neue"/>
                          <a:cs typeface="Helvetica Neue"/>
                        </a:rPr>
                        <a:t>68,12</a:t>
                      </a:r>
                    </a:p>
                  </a:txBody>
                  <a:tcPr marL="47625" marR="47625" marT="47625" marB="47625" anchor="ctr">
                    <a:solidFill>
                      <a:srgbClr val="FFFFFF"/>
                    </a:solidFill>
                  </a:tcPr>
                </a:tc>
              </a:tr>
            </a:tbl>
          </a:graphicData>
        </a:graphic>
      </p:graphicFrame>
      <p:sp>
        <p:nvSpPr>
          <p:cNvPr id="33" name="Rectangle 32">
            <a:extLst xmlns:a="http://schemas.openxmlformats.org/drawingml/2006/main">
              <a:ext uri="{FF2B5EF4-FFF2-40B4-BE49-F238E27FC236}">
                <a16:creationId xmlns:a16="http://schemas.microsoft.com/office/drawing/2014/main" id="{1C418A60-C0F5-4893-BC07-D083995EED3E}"/>
              </a:ext>
            </a:extLst>
          </p:cNvPr>
          <p:cNvSpPr>
            <a:spLocks xmlns:a="http://schemas.openxmlformats.org/drawingml/2006/main" noGrp="1"/>
          </p:cNvSpPr>
          <p:nvPr/>
        </p:nvSpPr>
        <p:spPr>
          <a:xfrm xmlns:a="http://schemas.openxmlformats.org/drawingml/2006/main">
            <a:off x="7210425" y="2924175"/>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Calendrier des écarts quotidiens</a:t>
            </a:r>
          </a:p>
        </p:txBody>
      </p:sp>
      <p:graphicFrame>
        <p:nvGraphicFramePr>
          <p:cNvPr id="51" name="Table 51"/>
          <p:cNvGraphicFramePr/>
          <p:nvPr/>
        </p:nvGraphicFramePr>
        <p:xfrm>
          <a:off xmlns:a="http://schemas.openxmlformats.org/drawingml/2006/main" x="7210425" y="3352800"/>
          <a:ext xmlns:a="http://schemas.openxmlformats.org/drawingml/2006/main" cx="4581528" cy="971550"/>
        </p:xfrm>
        <a:graphic xmlns:a="http://schemas.openxmlformats.org/drawingml/2006/main">
          <a:graphicData uri="http://schemas.openxmlformats.org/drawingml/2006/table">
            <a:tbl>
              <a:tblPr/>
              <a:tblGrid>
                <a:gridCol w="654504"/>
                <a:gridCol w="654504"/>
                <a:gridCol w="654504"/>
                <a:gridCol w="654504"/>
                <a:gridCol w="654504"/>
                <a:gridCol w="654504"/>
                <a:gridCol w="654504"/>
              </a:tblGrid>
              <a:tr h="485775">
                <a:tc>
                  <a:txBody>
                    <a:bodyPr/>
                    <a:lstStyle/>
                    <a:p>
                      <a:pPr algn="ctr">
                        <a:buNone/>
                      </a:pPr>
                      <a:r>
                        <a:rPr sz="1125">
                          <a:solidFill>
                            <a:srgbClr val="545A64"/>
                          </a:solidFill>
                          <a:latin typeface="Helvetica Neue"/>
                          <a:ea typeface="Helvetica Neue"/>
                          <a:cs typeface="Helvetica Neue"/>
                        </a:rPr>
                        <a:t>03/09</a:t>
                      </a:r>
                    </a:p>
                  </a:txBody>
                  <a:tcPr marL="47625" marR="47625" marT="47625" marB="47625" anchor="ctr">
                    <a:solidFill>
                      <a:srgbClr val="FFFFFF"/>
                    </a:solidFill>
                  </a:tcPr>
                </a:tc>
                <a:tc>
                  <a:txBody>
                    <a:bodyPr/>
                    <a:lstStyle/>
                    <a:p>
                      <a:pPr algn="ctr">
                        <a:buNone/>
                      </a:pPr>
                      <a:r>
                        <a:rPr sz="1125">
                          <a:solidFill>
                            <a:srgbClr val="545A64"/>
                          </a:solidFill>
                          <a:latin typeface="Helvetica Neue"/>
                          <a:ea typeface="Helvetica Neue"/>
                          <a:cs typeface="Helvetica Neue"/>
                        </a:rPr>
                        <a:t>04/09</a:t>
                      </a:r>
                    </a:p>
                  </a:txBody>
                  <a:tcPr marL="47625" marR="47625" marT="47625" marB="47625" anchor="ctr">
                    <a:solidFill>
                      <a:srgbClr val="FFFFFF"/>
                    </a:solidFill>
                  </a:tcPr>
                </a:tc>
                <a:tc>
                  <a:txBody>
                    <a:bodyPr/>
                    <a:lstStyle/>
                    <a:p>
                      <a:pPr algn="ctr">
                        <a:buNone/>
                      </a:pPr>
                      <a:r>
                        <a:rPr sz="1125">
                          <a:solidFill>
                            <a:srgbClr val="545A64"/>
                          </a:solidFill>
                          <a:latin typeface="Helvetica Neue"/>
                          <a:ea typeface="Helvetica Neue"/>
                          <a:cs typeface="Helvetica Neue"/>
                        </a:rPr>
                        <a:t>05/09</a:t>
                      </a:r>
                    </a:p>
                  </a:txBody>
                  <a:tcPr marL="47625" marR="47625" marT="47625" marB="47625" anchor="ctr">
                    <a:solidFill>
                      <a:srgbClr val="FFFFFF"/>
                    </a:solidFill>
                  </a:tcPr>
                </a:tc>
                <a:tc>
                  <a:txBody>
                    <a:bodyPr/>
                    <a:lstStyle/>
                    <a:p>
                      <a:pPr algn="ctr">
                        <a:buNone/>
                      </a:pPr>
                      <a:r>
                        <a:rPr sz="1125">
                          <a:solidFill>
                            <a:srgbClr val="545A64"/>
                          </a:solidFill>
                          <a:latin typeface="Helvetica Neue"/>
                          <a:ea typeface="Helvetica Neue"/>
                          <a:cs typeface="Helvetica Neue"/>
                        </a:rPr>
                        <a:t>06/09</a:t>
                      </a:r>
                    </a:p>
                  </a:txBody>
                  <a:tcPr marL="47625" marR="47625" marT="47625" marB="47625" anchor="ctr">
                    <a:solidFill>
                      <a:srgbClr val="FFFFFF"/>
                    </a:solidFill>
                  </a:tcPr>
                </a:tc>
                <a:tc>
                  <a:txBody>
                    <a:bodyPr/>
                    <a:lstStyle/>
                    <a:p>
                      <a:pPr algn="ctr">
                        <a:buNone/>
                      </a:pPr>
                      <a:r>
                        <a:rPr sz="1125">
                          <a:solidFill>
                            <a:srgbClr val="545A64"/>
                          </a:solidFill>
                          <a:latin typeface="Helvetica Neue"/>
                          <a:ea typeface="Helvetica Neue"/>
                          <a:cs typeface="Helvetica Neue"/>
                        </a:rPr>
                        <a:t>07/09</a:t>
                      </a:r>
                    </a:p>
                  </a:txBody>
                  <a:tcPr marL="47625" marR="47625" marT="47625" marB="47625" anchor="ctr">
                    <a:solidFill>
                      <a:srgbClr val="FFFFFF"/>
                    </a:solidFill>
                  </a:tcPr>
                </a:tc>
                <a:tc>
                  <a:txBody>
                    <a:bodyPr/>
                    <a:lstStyle/>
                    <a:p>
                      <a:pPr algn="ctr">
                        <a:buNone/>
                      </a:pPr>
                      <a:r>
                        <a:rPr sz="1125">
                          <a:solidFill>
                            <a:srgbClr val="545A64"/>
                          </a:solidFill>
                          <a:latin typeface="Helvetica Neue"/>
                          <a:ea typeface="Helvetica Neue"/>
                          <a:cs typeface="Helvetica Neue"/>
                        </a:rPr>
                        <a:t>08/09</a:t>
                      </a:r>
                    </a:p>
                  </a:txBody>
                  <a:tcPr marL="47625" marR="47625" marT="47625" marB="47625" anchor="ctr">
                    <a:solidFill>
                      <a:srgbClr val="FFFFFF"/>
                    </a:solidFill>
                  </a:tcPr>
                </a:tc>
                <a:tc>
                  <a:txBody>
                    <a:bodyPr/>
                    <a:lstStyle/>
                    <a:p>
                      <a:pPr algn="ctr">
                        <a:buNone/>
                      </a:pPr>
                      <a:r>
                        <a:rPr sz="1125">
                          <a:solidFill>
                            <a:srgbClr val="545A64"/>
                          </a:solidFill>
                          <a:latin typeface="Helvetica Neue"/>
                          <a:ea typeface="Helvetica Neue"/>
                          <a:cs typeface="Helvetica Neue"/>
                        </a:rPr>
                        <a:t>09/09</a:t>
                      </a:r>
                    </a:p>
                  </a:txBody>
                  <a:tcPr marL="47625" marR="47625" marT="47625" marB="47625" anchor="ctr">
                    <a:solidFill>
                      <a:srgbClr val="FFFFFF"/>
                    </a:solidFill>
                  </a:tcPr>
                </a:tc>
              </a:tr>
              <a:tr h="485775">
                <a:tc>
                  <a:txBody>
                    <a:bodyPr/>
                    <a:lstStyle/>
                    <a:p>
                      <a:pPr algn="ctr">
                        <a:buNone/>
                      </a:pPr>
                      <a:r>
                        <a:rPr sz="1425" b="1">
                          <a:solidFill>
                            <a:srgbClr val="000000"/>
                          </a:solidFill>
                          <a:latin typeface="Helvetica Neue"/>
                          <a:ea typeface="Helvetica Neue"/>
                          <a:cs typeface="Helvetica Neue"/>
                        </a:rPr>
                        <a:t>3,9</a:t>
                      </a:r>
                    </a:p>
                  </a:txBody>
                  <a:tcPr marL="47625" marR="47625" marT="47625" marB="47625" anchor="ctr">
                    <a:solidFill>
                      <a:srgbClr val="F5D7D5"/>
                    </a:solidFill>
                  </a:tcPr>
                </a:tc>
                <a:tc>
                  <a:txBody>
                    <a:bodyPr/>
                    <a:lstStyle/>
                    <a:p>
                      <a:pPr algn="ctr">
                        <a:buNone/>
                      </a:pPr>
                      <a:r>
                        <a:rPr sz="1425" b="1">
                          <a:solidFill>
                            <a:srgbClr val="000000"/>
                          </a:solidFill>
                          <a:latin typeface="Helvetica Neue"/>
                          <a:ea typeface="Helvetica Neue"/>
                          <a:cs typeface="Helvetica Neue"/>
                        </a:rPr>
                        <a:t>15,9</a:t>
                      </a:r>
                    </a:p>
                  </a:txBody>
                  <a:tcPr marL="47625" marR="47625" marT="47625" marB="47625" anchor="ctr">
                    <a:solidFill>
                      <a:srgbClr val="D67F87"/>
                    </a:solidFill>
                  </a:tcPr>
                </a:tc>
                <a:tc>
                  <a:txBody>
                    <a:bodyPr/>
                    <a:lstStyle/>
                    <a:p>
                      <a:pPr algn="ctr">
                        <a:buNone/>
                      </a:pPr>
                      <a:r>
                        <a:rPr sz="1425" b="1">
                          <a:solidFill>
                            <a:srgbClr val="FFFFFF"/>
                          </a:solidFill>
                          <a:latin typeface="Helvetica Neue"/>
                          <a:ea typeface="Helvetica Neue"/>
                          <a:cs typeface="Helvetica Neue"/>
                        </a:rPr>
                        <a:t>25,7</a:t>
                      </a:r>
                    </a:p>
                  </a:txBody>
                  <a:tcPr marL="47625" marR="47625" marT="47625" marB="47625" anchor="ctr">
                    <a:solidFill>
                      <a:srgbClr val="BD3747"/>
                    </a:solidFill>
                  </a:tcPr>
                </a:tc>
                <a:tc>
                  <a:txBody>
                    <a:bodyPr/>
                    <a:lstStyle/>
                    <a:p>
                      <a:pPr algn="ctr">
                        <a:buNone/>
                      </a:pPr>
                      <a:r>
                        <a:rPr sz="1425" b="1">
                          <a:solidFill>
                            <a:srgbClr val="000000"/>
                          </a:solidFill>
                          <a:latin typeface="Helvetica Neue"/>
                          <a:ea typeface="Helvetica Neue"/>
                          <a:cs typeface="Helvetica Neue"/>
                        </a:rPr>
                        <a:t>1,2</a:t>
                      </a:r>
                    </a:p>
                  </a:txBody>
                  <a:tcPr marL="47625" marR="47625" marT="47625" marB="47625" anchor="ctr">
                    <a:solidFill>
                      <a:srgbClr val="FCEBE7"/>
                    </a:solidFill>
                  </a:tcPr>
                </a:tc>
                <a:tc>
                  <a:txBody>
                    <a:bodyPr/>
                    <a:lstStyle/>
                    <a:p>
                      <a:pPr algn="ctr">
                        <a:buNone/>
                      </a:pPr>
                      <a:r>
                        <a:rPr sz="1425" b="1">
                          <a:solidFill>
                            <a:srgbClr val="000000"/>
                          </a:solidFill>
                          <a:latin typeface="Helvetica Neue"/>
                          <a:ea typeface="Helvetica Neue"/>
                          <a:cs typeface="Helvetica Neue"/>
                        </a:rPr>
                        <a:t>12,9</a:t>
                      </a:r>
                    </a:p>
                  </a:txBody>
                  <a:tcPr marL="47625" marR="47625" marT="47625" marB="47625" anchor="ctr">
                    <a:solidFill>
                      <a:srgbClr val="DE969B"/>
                    </a:solidFill>
                  </a:tcPr>
                </a:tc>
                <a:tc>
                  <a:txBody>
                    <a:bodyPr/>
                    <a:lstStyle/>
                    <a:p>
                      <a:pPr algn="ctr">
                        <a:buNone/>
                      </a:pPr>
                      <a:r>
                        <a:rPr sz="1425" b="1">
                          <a:solidFill>
                            <a:srgbClr val="000000"/>
                          </a:solidFill>
                          <a:latin typeface="Helvetica Neue"/>
                          <a:ea typeface="Helvetica Neue"/>
                          <a:cs typeface="Helvetica Neue"/>
                        </a:rPr>
                        <a:t>15,6</a:t>
                      </a:r>
                    </a:p>
                  </a:txBody>
                  <a:tcPr marL="47625" marR="47625" marT="47625" marB="47625" anchor="ctr">
                    <a:solidFill>
                      <a:srgbClr val="D78289"/>
                    </a:solidFill>
                  </a:tcPr>
                </a:tc>
                <a:tc>
                  <a:txBody>
                    <a:bodyPr/>
                    <a:lstStyle/>
                    <a:p>
                      <a:pPr algn="ctr">
                        <a:buNone/>
                      </a:pPr>
                      <a:r>
                        <a:rPr sz="1425" b="1">
                          <a:solidFill>
                            <a:srgbClr val="000000"/>
                          </a:solidFill>
                          <a:latin typeface="Helvetica Neue"/>
                          <a:ea typeface="Helvetica Neue"/>
                          <a:cs typeface="Helvetica Neue"/>
                        </a:rPr>
                        <a:t>13,9</a:t>
                      </a:r>
                    </a:p>
                  </a:txBody>
                  <a:tcPr marL="47625" marR="47625" marT="47625" marB="47625" anchor="ctr">
                    <a:solidFill>
                      <a:srgbClr val="DB8E94"/>
                    </a:solidFill>
                  </a:tcPr>
                </a:tc>
              </a:tr>
            </a:tbl>
          </a:graphicData>
        </a:graphic>
      </p:graphicFrame>
      <p:sp>
        <p:nvSpPr>
          <p:cNvPr id="36" name="Rectangle 35">
            <a:extLst xmlns:a="http://schemas.openxmlformats.org/drawingml/2006/main">
              <a:ext uri="{FF2B5EF4-FFF2-40B4-BE49-F238E27FC236}">
                <a16:creationId xmlns:a16="http://schemas.microsoft.com/office/drawing/2014/main" id="{2FB356F7-AFC3-4309-B5F6-98C199558BEB}"/>
              </a:ext>
            </a:extLst>
          </p:cNvPr>
          <p:cNvSpPr>
            <a:spLocks xmlns:a="http://schemas.openxmlformats.org/drawingml/2006/main" noGrp="1"/>
          </p:cNvSpPr>
          <p:nvPr/>
        </p:nvSpPr>
        <p:spPr>
          <a:xfrm xmlns:a="http://schemas.openxmlformats.org/drawingml/2006/main">
            <a:off x="390525" y="4848225"/>
            <a:ext cx="6419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Le 09/09 : écart absolu de 13,86 pour le modèle,</a:t>
            </a:r>
          </a:p>
          <a:p xmlns:a="http://schemas.openxmlformats.org/drawingml/2006/main">
            <a:pPr>
              <a:buNone/>
              <a:defRPr sz="15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contre 1,72 pour Storm (EUR/MWh).</a:t>
            </a:r>
          </a:p>
        </p:txBody>
      </p:sp>
      <p:sp>
        <p:nvSpPr>
          <p:cNvPr id="37" name="Rectangle 36">
            <a:extLst xmlns:a="http://schemas.openxmlformats.org/drawingml/2006/main">
              <a:ext uri="{FF2B5EF4-FFF2-40B4-BE49-F238E27FC236}">
                <a16:creationId xmlns:a16="http://schemas.microsoft.com/office/drawing/2014/main" id="{C01B08AC-C501-4EB5-8C8F-528009F98BC2}"/>
              </a:ext>
            </a:extLst>
          </p:cNvPr>
          <p:cNvSpPr>
            <a:spLocks xmlns:a="http://schemas.openxmlformats.org/drawingml/2006/main" noGrp="1"/>
          </p:cNvSpPr>
          <p:nvPr/>
        </p:nvSpPr>
        <p:spPr>
          <a:xfrm xmlns:a="http://schemas.openxmlformats.org/drawingml/2006/main">
            <a:off x="390525" y="5648325"/>
            <a:ext cx="11401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a:solidFill>
                  <a:srgbClr val="545A64"/>
                </a:solidFill>
                <a:latin typeface="Helvetica Neue"/>
                <a:ea typeface="Helvetica Neue"/>
                <a:cs typeface="Helvetica Neue"/>
              </a:defRPr>
            </a:pPr>
            <a:r>
              <a:rPr sz="1575">
                <a:solidFill>
                  <a:srgbClr val="545A64"/>
                </a:solidFill>
                <a:latin typeface="Helvetica Neue"/>
                <a:ea typeface="Helvetica Neue"/>
                <a:cs typeface="Helvetica Neue"/>
              </a:rPr>
              <a:t>Un prix moyen </a:t>
            </a:r>
            <a:r>
              <a:rPr sz="1575">
                <a:solidFill>
                  <a:srgbClr val="545A64"/>
                </a:solidFill>
                <a:latin typeface="Helvetica Neue"/>
                <a:ea typeface="Helvetica Neue"/>
                <a:cs typeface="Helvetica Neue"/>
              </a:rPr>
              <a:t>proche</a:t>
            </a:r>
            <a:r>
              <a:rPr sz="1575">
                <a:solidFill>
                  <a:srgbClr val="545A64"/>
                </a:solidFill>
                <a:latin typeface="Helvetica Neue"/>
                <a:ea typeface="Helvetica Neue"/>
                <a:cs typeface="Helvetica Neue"/>
              </a:rPr>
              <a:t> </a:t>
            </a:r>
            <a:r>
              <a:rPr sz="1575">
                <a:solidFill>
                  <a:srgbClr val="545A64"/>
                </a:solidFill>
                <a:latin typeface="Helvetica Neue"/>
                <a:ea typeface="Helvetica Neue"/>
                <a:cs typeface="Helvetica Neue"/>
              </a:rPr>
              <a:t>peut</a:t>
            </a:r>
            <a:r>
              <a:rPr sz="1575">
                <a:solidFill>
                  <a:srgbClr val="545A64"/>
                </a:solidFill>
                <a:latin typeface="Helvetica Neue"/>
                <a:ea typeface="Helvetica Neue"/>
                <a:cs typeface="Helvetica Neue"/>
              </a:rPr>
              <a:t> masquer des </a:t>
            </a:r>
            <a:r>
              <a:rPr sz="1575">
                <a:solidFill>
                  <a:srgbClr val="545A64"/>
                </a:solidFill>
                <a:latin typeface="Helvetica Neue"/>
                <a:ea typeface="Helvetica Neue"/>
                <a:cs typeface="Helvetica Neue"/>
              </a:rPr>
              <a:t>erreurs</a:t>
            </a:r>
            <a:r>
              <a:rPr sz="1575">
                <a:solidFill>
                  <a:srgbClr val="545A64"/>
                </a:solidFill>
                <a:latin typeface="Helvetica Neue"/>
                <a:ea typeface="Helvetica Neue"/>
                <a:cs typeface="Helvetica Neue"/>
              </a:rPr>
              <a:t> </a:t>
            </a:r>
            <a:r>
              <a:rPr sz="1575">
                <a:solidFill>
                  <a:srgbClr val="545A64"/>
                </a:solidFill>
                <a:latin typeface="Helvetica Neue"/>
                <a:ea typeface="Helvetica Neue"/>
                <a:cs typeface="Helvetica Neue"/>
              </a:rPr>
              <a:t>horaires</a:t>
            </a:r>
            <a:r>
              <a:rPr sz="1575">
                <a:solidFill>
                  <a:srgbClr val="545A64"/>
                </a:solidFill>
                <a:latin typeface="Helvetica Neue"/>
                <a:ea typeface="Helvetica Neue"/>
                <a:cs typeface="Helvetica Neue"/>
              </a:rPr>
              <a:t> qui se </a:t>
            </a:r>
            <a:r>
              <a:rPr sz="1575">
                <a:solidFill>
                  <a:srgbClr val="545A64"/>
                </a:solidFill>
                <a:latin typeface="Helvetica Neue"/>
                <a:ea typeface="Helvetica Neue"/>
                <a:cs typeface="Helvetica Neue"/>
              </a:rPr>
              <a:t>compensent</a:t>
            </a:r>
            <a:r>
              <a:rPr sz="1575">
                <a:solidFill>
                  <a:srgbClr val="545A64"/>
                </a:solidFill>
                <a:latin typeface="Helvetica Neue"/>
                <a:ea typeface="Helvetica Neue"/>
                <a:cs typeface="Helvetica Neue"/>
              </a:rPr>
              <a:t> ! </a:t>
            </a:r>
            <a:endParaRPr sz="1575">
              <a:solidFill>
                <a:srgbClr val="545A64"/>
              </a:solidFill>
              <a:latin typeface="Helvetica Neue"/>
              <a:ea typeface="Helvetica Neue"/>
              <a:cs typeface="Helvetica Neue"/>
            </a:endParaRPr>
          </a:p>
        </p:txBody>
      </p:sp>
    </p:spTree>
    <p:extLst>
      <p:ext uri="{BB962C8B-B14F-4D97-AF65-F5344CB8AC3E}">
        <p14:creationId xmlns:p14="http://schemas.microsoft.com/office/powerpoint/2010/main" val="19196696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Performance par heure locale</a:t>
            </a:r>
            <a:endParaRPr/>
          </a:p>
        </p:txBody>
      </p:sp>
      <p:sp>
        <p:nvSpPr>
          <p:cNvPr id="24" name="Rectangle 23">
            <a:extLst xmlns:a="http://schemas.openxmlformats.org/drawingml/2006/main">
              <a:ext uri="{FF2B5EF4-FFF2-40B4-BE49-F238E27FC236}">
                <a16:creationId xmlns:a16="http://schemas.microsoft.com/office/drawing/2014/main" id="{AF2849AF-9374-4A9D-860D-9E853962C7D3}"/>
              </a:ext>
            </a:extLst>
          </p:cNvPr>
          <p:cNvSpPr>
            <a:spLocks xmlns:a="http://schemas.openxmlformats.org/drawingml/2006/main" noGrp="1"/>
          </p:cNvSpPr>
          <p:nvPr/>
        </p:nvSpPr>
        <p:spPr>
          <a:xfrm xmlns:a="http://schemas.openxmlformats.org/drawingml/2006/main">
            <a:off x="390525" y="1057275"/>
            <a:ext cx="1140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Le menu du rapport propose trois vues : MAE, prix moyens et biais signé</a:t>
            </a:r>
          </a:p>
        </p:txBody>
      </p:sp>
      <p:graphicFrame>
        <p:nvGraphicFramePr>
          <p:cNvPr id="34" name="Chart"/>
          <p:cNvGraphicFramePr/>
          <p:nvPr/>
        </p:nvGraphicFramePr>
        <p:xfrm>
          <a:off xmlns:a="http://schemas.openxmlformats.org/drawingml/2006/main" x="390525" y="1733550"/>
          <a:ext xmlns:a="http://schemas.openxmlformats.org/drawingml/2006/main" cx="5543550" cy="3333750"/>
        </p:xfrm>
        <a:graphic xmlns:a="http://schemas.openxmlformats.org/drawingml/2006/main">
          <a:graphicData uri="http://schemas.openxmlformats.org/drawingml/2006/chart">
            <c:chart xmlns:r="http://schemas.openxmlformats.org/officeDocument/2006/relationships" xmlns:c="http://schemas.openxmlformats.org/drawingml/2006/chart" r:id="Ra0ce7f6b46aa4898"/>
          </a:graphicData>
        </a:graphic>
      </p:graphicFrame>
      <p:graphicFrame>
        <p:nvGraphicFramePr>
          <p:cNvPr id="35" name="Chart"/>
          <p:cNvGraphicFramePr/>
          <p:nvPr/>
        </p:nvGraphicFramePr>
        <p:xfrm>
          <a:off xmlns:a="http://schemas.openxmlformats.org/drawingml/2006/main" x="6257925" y="1733550"/>
          <a:ext xmlns:a="http://schemas.openxmlformats.org/drawingml/2006/main" cx="5534025" cy="3333750"/>
        </p:xfrm>
        <a:graphic xmlns:a="http://schemas.openxmlformats.org/drawingml/2006/main">
          <a:graphicData uri="http://schemas.openxmlformats.org/drawingml/2006/chart">
            <c:chart xmlns:r="http://schemas.openxmlformats.org/officeDocument/2006/relationships" xmlns:c="http://schemas.openxmlformats.org/drawingml/2006/chart" r:id="Rd421be108b434bd8"/>
          </a:graphicData>
        </a:graphic>
      </p:graphicFrame>
      <p:sp>
        <p:nvSpPr>
          <p:cNvPr id="27" name="Rectangle 26">
            <a:extLst xmlns:a="http://schemas.openxmlformats.org/drawingml/2006/main">
              <a:ext uri="{FF2B5EF4-FFF2-40B4-BE49-F238E27FC236}">
                <a16:creationId xmlns:a16="http://schemas.microsoft.com/office/drawing/2014/main" id="{0643AAF6-0527-4610-A969-4CEDCD08F759}"/>
              </a:ext>
            </a:extLst>
          </p:cNvPr>
          <p:cNvSpPr>
            <a:spLocks xmlns:a="http://schemas.openxmlformats.org/drawingml/2006/main" noGrp="1"/>
          </p:cNvSpPr>
          <p:nvPr/>
        </p:nvSpPr>
        <p:spPr>
          <a:xfrm xmlns:a="http://schemas.openxmlformats.org/drawingml/2006/main">
            <a:off x="390525" y="5305425"/>
            <a:ext cx="5543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À 00 h, la MAE du modèle atteint 9,85,</a:t>
            </a:r>
          </a:p>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contre 11,69 pour Storm.</a:t>
            </a:r>
          </a:p>
        </p:txBody>
      </p:sp>
      <p:sp>
        <p:nvSpPr>
          <p:cNvPr id="28" name="Rectangle 27">
            <a:extLst xmlns:a="http://schemas.openxmlformats.org/drawingml/2006/main">
              <a:ext uri="{FF2B5EF4-FFF2-40B4-BE49-F238E27FC236}">
                <a16:creationId xmlns:a16="http://schemas.microsoft.com/office/drawing/2014/main" id="{2575804D-E051-449F-B707-CE15B8FF3D0F}"/>
              </a:ext>
            </a:extLst>
          </p:cNvPr>
          <p:cNvSpPr>
            <a:spLocks xmlns:a="http://schemas.openxmlformats.org/drawingml/2006/main" noGrp="1"/>
          </p:cNvSpPr>
          <p:nvPr/>
        </p:nvSpPr>
        <p:spPr>
          <a:xfrm xmlns:a="http://schemas.openxmlformats.org/drawingml/2006/main">
            <a:off x="6257925" y="5305425"/>
            <a:ext cx="5534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À 12 h, elle atteint 12,04,</a:t>
            </a:r>
          </a:p>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contre 10,71 pour Storm.</a:t>
            </a:r>
          </a:p>
        </p:txBody>
      </p:sp>
      <p:sp>
        <p:nvSpPr>
          <p:cNvPr id="29" name="Rectangle 28">
            <a:extLst xmlns:a="http://schemas.openxmlformats.org/drawingml/2006/main">
              <a:ext uri="{FF2B5EF4-FFF2-40B4-BE49-F238E27FC236}">
                <a16:creationId xmlns:a16="http://schemas.microsoft.com/office/drawing/2014/main" id="{8C4982E6-1F78-43F5-9BDA-E54781CB5EF2}"/>
              </a:ext>
            </a:extLst>
          </p:cNvPr>
          <p:cNvSpPr>
            <a:spLocks xmlns:a="http://schemas.openxmlformats.org/drawingml/2006/main" noGrp="1"/>
          </p:cNvSpPr>
          <p:nvPr/>
        </p:nvSpPr>
        <p:spPr>
          <a:xfrm xmlns:a="http://schemas.openxmlformats.org/drawingml/2006/main">
            <a:off x="390525" y="6010275"/>
            <a:ext cx="11401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La MAE mesure la taille de l’erreur. Le biais signé indique la tendance à surestimer ou sous-estimer.</a:t>
            </a:r>
          </a:p>
        </p:txBody>
      </p:sp>
    </p:spTree>
    <p:extLst>
      <p:ext uri="{BB962C8B-B14F-4D97-AF65-F5344CB8AC3E}">
        <p14:creationId xmlns:p14="http://schemas.microsoft.com/office/powerpoint/2010/main" val="19196696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Influence des variables dans la prévision amont</a:t>
            </a:r>
            <a:endParaRPr/>
          </a:p>
        </p:txBody>
      </p:sp>
      <p:sp>
        <p:nvSpPr>
          <p:cNvPr id="24" name="Rectangle 23">
            <a:extLst xmlns:a="http://schemas.openxmlformats.org/drawingml/2006/main">
              <a:ext uri="{FF2B5EF4-FFF2-40B4-BE49-F238E27FC236}">
                <a16:creationId xmlns:a16="http://schemas.microsoft.com/office/drawing/2014/main" id="{1758A0DB-3D23-48ED-8EB4-D03A7F3E022E}"/>
              </a:ext>
            </a:extLst>
          </p:cNvPr>
          <p:cNvSpPr>
            <a:spLocks xmlns:a="http://schemas.openxmlformats.org/drawingml/2006/main" noGrp="1"/>
          </p:cNvSpPr>
          <p:nvPr/>
        </p:nvSpPr>
        <p:spPr>
          <a:xfrm xmlns:a="http://schemas.openxmlformats.org/drawingml/2006/main">
            <a:off x="390525" y="1057275"/>
            <a:ext cx="1140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Shapley groupé sur Chronos-2 + nucléaire + correcteur, avant l’application de Kalman</a:t>
            </a:r>
          </a:p>
        </p:txBody>
      </p:sp>
      <p:graphicFrame>
        <p:nvGraphicFramePr>
          <p:cNvPr id="38" name="Chart"/>
          <p:cNvGraphicFramePr/>
          <p:nvPr/>
        </p:nvGraphicFramePr>
        <p:xfrm>
          <a:off xmlns:a="http://schemas.openxmlformats.org/drawingml/2006/main" x="390525" y="1685925"/>
          <a:ext xmlns:a="http://schemas.openxmlformats.org/drawingml/2006/main" cx="5276850" cy="3314700"/>
        </p:xfrm>
        <a:graphic xmlns:a="http://schemas.openxmlformats.org/drawingml/2006/main">
          <a:graphicData uri="http://schemas.openxmlformats.org/drawingml/2006/chart">
            <c:chart xmlns:r="http://schemas.openxmlformats.org/officeDocument/2006/relationships" xmlns:c="http://schemas.openxmlformats.org/drawingml/2006/chart" r:id="R642f43ff2de041b3"/>
          </a:graphicData>
        </a:graphic>
      </p:graphicFrame>
      <p:sp>
        <p:nvSpPr>
          <p:cNvPr id="26" name="Rectangle 25">
            <a:extLst xmlns:a="http://schemas.openxmlformats.org/drawingml/2006/main">
              <a:ext uri="{FF2B5EF4-FFF2-40B4-BE49-F238E27FC236}">
                <a16:creationId xmlns:a16="http://schemas.microsoft.com/office/drawing/2014/main" id="{A2CF852F-BB5F-43B6-9940-81D2A6689D21}"/>
              </a:ext>
            </a:extLst>
          </p:cNvPr>
          <p:cNvSpPr>
            <a:spLocks xmlns:a="http://schemas.openxmlformats.org/drawingml/2006/main" noGrp="1"/>
          </p:cNvSpPr>
          <p:nvPr/>
        </p:nvSpPr>
        <p:spPr>
          <a:xfrm xmlns:a="http://schemas.openxmlformats.org/drawingml/2006/main">
            <a:off x="5962650" y="1714500"/>
            <a:ext cx="582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Contributions par heure (EUR/MWh)</a:t>
            </a:r>
          </a:p>
        </p:txBody>
      </p:sp>
      <p:graphicFrame>
        <p:nvGraphicFramePr>
          <p:cNvPr id="40" name="Table 40"/>
          <p:cNvGraphicFramePr/>
          <p:nvPr/>
        </p:nvGraphicFramePr>
        <p:xfrm>
          <a:off xmlns:a="http://schemas.openxmlformats.org/drawingml/2006/main" x="5962650" y="2155507"/>
          <a:ext xmlns:a="http://schemas.openxmlformats.org/drawingml/2006/main" cx="5829300" cy="2861310"/>
        </p:xfrm>
        <a:graphic xmlns:a="http://schemas.openxmlformats.org/drawingml/2006/main">
          <a:graphicData uri="http://schemas.openxmlformats.org/drawingml/2006/table">
            <a:tbl>
              <a:tblPr/>
              <a:tblGrid>
                <a:gridCol w="1485900"/>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tblGrid>
              <a:tr h="266700">
                <a:tc>
                  <a:txBody>
                    <a:bodyPr/>
                    <a:lstStyle/>
                    <a:p>
                      <a:pPr algn="l">
                        <a:buNone/>
                      </a:pPr>
                      <a:r>
                        <a:rPr sz="1050">
                          <a:solidFill>
                            <a:srgbClr val="000000"/>
                          </a:solidFill>
                          <a:latin typeface="Helvetica Neue"/>
                          <a:ea typeface="Helvetica Neue"/>
                          <a:cs typeface="Helvetica Neue"/>
                        </a:rPr>
                        <a:t>Heure locale</a:t>
                      </a:r>
                    </a:p>
                  </a:txBody>
                  <a:tcPr marL="47625" marR="47625" marT="47625" marB="47625" anchor="ctr">
                    <a:solidFill>
                      <a:srgbClr val="FFFFFF"/>
                    </a:solidFill>
                  </a:tcPr>
                </a:tc>
                <a:tc>
                  <a:txBody>
                    <a:bodyPr/>
                    <a:lstStyle/>
                    <a:p>
                      <a:pPr algn="ctr">
                        <a:buNone/>
                      </a:pPr>
                      <a:r>
                        <a:rPr sz="825">
                          <a:solidFill>
                            <a:srgbClr val="545A64"/>
                          </a:solidFill>
                          <a:latin typeface="Helvetica Neue"/>
                          <a:ea typeface="Helvetica Neue"/>
                          <a:cs typeface="Helvetica Neue"/>
                        </a:rPr>
                        <a:t>0</a:t>
                      </a: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r>
                        <a:rPr sz="825">
                          <a:solidFill>
                            <a:srgbClr val="545A64"/>
                          </a:solidFill>
                          <a:latin typeface="Helvetica Neue"/>
                          <a:ea typeface="Helvetica Neue"/>
                          <a:cs typeface="Helvetica Neue"/>
                        </a:rPr>
                        <a:t>3</a:t>
                      </a: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r>
                        <a:rPr sz="825">
                          <a:solidFill>
                            <a:srgbClr val="545A64"/>
                          </a:solidFill>
                          <a:latin typeface="Helvetica Neue"/>
                          <a:ea typeface="Helvetica Neue"/>
                          <a:cs typeface="Helvetica Neue"/>
                        </a:rPr>
                        <a:t>6</a:t>
                      </a: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r>
                        <a:rPr sz="825">
                          <a:solidFill>
                            <a:srgbClr val="545A64"/>
                          </a:solidFill>
                          <a:latin typeface="Helvetica Neue"/>
                          <a:ea typeface="Helvetica Neue"/>
                          <a:cs typeface="Helvetica Neue"/>
                        </a:rPr>
                        <a:t>9</a:t>
                      </a: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r>
                        <a:rPr sz="825">
                          <a:solidFill>
                            <a:srgbClr val="545A64"/>
                          </a:solidFill>
                          <a:latin typeface="Helvetica Neue"/>
                          <a:ea typeface="Helvetica Neue"/>
                          <a:cs typeface="Helvetica Neue"/>
                        </a:rPr>
                        <a:t>12</a:t>
                      </a: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r>
                        <a:rPr sz="825">
                          <a:solidFill>
                            <a:srgbClr val="545A64"/>
                          </a:solidFill>
                          <a:latin typeface="Helvetica Neue"/>
                          <a:ea typeface="Helvetica Neue"/>
                          <a:cs typeface="Helvetica Neue"/>
                        </a:rPr>
                        <a:t>15</a:t>
                      </a: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r>
                        <a:rPr sz="825">
                          <a:solidFill>
                            <a:srgbClr val="545A64"/>
                          </a:solidFill>
                          <a:latin typeface="Helvetica Neue"/>
                          <a:ea typeface="Helvetica Neue"/>
                          <a:cs typeface="Helvetica Neue"/>
                        </a:rPr>
                        <a:t>18</a:t>
                      </a: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r>
                        <a:rPr sz="825">
                          <a:solidFill>
                            <a:srgbClr val="545A64"/>
                          </a:solidFill>
                          <a:latin typeface="Helvetica Neue"/>
                          <a:ea typeface="Helvetica Neue"/>
                          <a:cs typeface="Helvetica Neue"/>
                        </a:rPr>
                        <a:t>21</a:t>
                      </a:r>
                    </a:p>
                  </a:txBody>
                  <a:tcPr marL="0" marR="0" marT="0" marB="0" anchor="ctr">
                    <a:solidFill>
                      <a:srgbClr val="FFFFFF"/>
                    </a:solidFill>
                  </a:tcPr>
                </a:tc>
                <a:tc>
                  <a:txBody>
                    <a:bodyPr/>
                    <a:lstStyle/>
                    <a:p>
                      <a:pPr algn="ctr">
                        <a:buNone/>
                      </a:pPr>
                      <a:endParaRPr/>
                    </a:p>
                  </a:txBody>
                  <a:tcPr marL="0" marR="0" marT="0" marB="0" anchor="ctr">
                    <a:solidFill>
                      <a:srgbClr val="FFFFFF"/>
                    </a:solidFill>
                  </a:tcPr>
                </a:tc>
                <a:tc>
                  <a:txBody>
                    <a:bodyPr/>
                    <a:lstStyle/>
                    <a:p>
                      <a:pPr algn="ctr">
                        <a:buNone/>
                      </a:pPr>
                      <a:r>
                        <a:rPr sz="825">
                          <a:solidFill>
                            <a:srgbClr val="545A64"/>
                          </a:solidFill>
                          <a:latin typeface="Helvetica Neue"/>
                          <a:ea typeface="Helvetica Neue"/>
                          <a:cs typeface="Helvetica Neue"/>
                        </a:rPr>
                        <a:t>23</a:t>
                      </a:r>
                    </a:p>
                  </a:txBody>
                  <a:tcPr marL="0" marR="0" marT="0" marB="0" anchor="ctr">
                    <a:solidFill>
                      <a:srgbClr val="FFFFFF"/>
                    </a:solidFill>
                  </a:tcPr>
                </a:tc>
              </a:tr>
              <a:tr h="333375">
                <a:tc>
                  <a:txBody>
                    <a:bodyPr/>
                    <a:lstStyle/>
                    <a:p>
                      <a:pPr algn="l">
                        <a:buNone/>
                      </a:pPr>
                      <a:r>
                        <a:rPr sz="1050">
                          <a:solidFill>
                            <a:srgbClr val="000000"/>
                          </a:solidFill>
                          <a:latin typeface="Helvetica Neue"/>
                          <a:ea typeface="Helvetica Neue"/>
                          <a:cs typeface="Helvetica Neue"/>
                        </a:rPr>
                        <a:t>Prix passés</a:t>
                      </a:r>
                    </a:p>
                  </a:txBody>
                  <a:tcPr marL="47625" marR="47625" marT="47625" marB="47625" anchor="ctr">
                    <a:solidFill>
                      <a:srgbClr val="FFFFFF"/>
                    </a:solidFill>
                  </a:tcPr>
                </a:tc>
                <a:tc>
                  <a:txBody>
                    <a:bodyPr/>
                    <a:lstStyle/>
                    <a:p>
                      <a:pPr algn="ctr">
                        <a:buNone/>
                      </a:pPr>
                      <a:endParaRPr/>
                    </a:p>
                  </a:txBody>
                  <a:tcPr marL="47625" marR="47625" marT="47625" marB="47625" anchor="ctr">
                    <a:solidFill>
                      <a:srgbClr val="F19E7D"/>
                    </a:solidFill>
                  </a:tcPr>
                </a:tc>
                <a:tc>
                  <a:txBody>
                    <a:bodyPr/>
                    <a:lstStyle/>
                    <a:p>
                      <a:pPr algn="ctr">
                        <a:buNone/>
                      </a:pPr>
                      <a:endParaRPr/>
                    </a:p>
                  </a:txBody>
                  <a:tcPr marL="47625" marR="47625" marT="47625" marB="47625" anchor="ctr">
                    <a:solidFill>
                      <a:srgbClr val="F7B698"/>
                    </a:solidFill>
                  </a:tcPr>
                </a:tc>
                <a:tc>
                  <a:txBody>
                    <a:bodyPr/>
                    <a:lstStyle/>
                    <a:p>
                      <a:pPr algn="ctr">
                        <a:buNone/>
                      </a:pPr>
                      <a:endParaRPr/>
                    </a:p>
                  </a:txBody>
                  <a:tcPr marL="47625" marR="47625" marT="47625" marB="47625" anchor="ctr">
                    <a:solidFill>
                      <a:srgbClr val="FACBB2"/>
                    </a:solidFill>
                  </a:tcPr>
                </a:tc>
                <a:tc>
                  <a:txBody>
                    <a:bodyPr/>
                    <a:lstStyle/>
                    <a:p>
                      <a:pPr algn="ctr">
                        <a:buNone/>
                      </a:pPr>
                      <a:endParaRPr/>
                    </a:p>
                  </a:txBody>
                  <a:tcPr marL="47625" marR="47625" marT="47625" marB="47625" anchor="ctr">
                    <a:solidFill>
                      <a:srgbClr val="F8BDA1"/>
                    </a:solidFill>
                  </a:tcPr>
                </a:tc>
                <a:tc>
                  <a:txBody>
                    <a:bodyPr/>
                    <a:lstStyle/>
                    <a:p>
                      <a:pPr algn="ctr">
                        <a:buNone/>
                      </a:pPr>
                      <a:endParaRPr/>
                    </a:p>
                  </a:txBody>
                  <a:tcPr marL="47625" marR="47625" marT="47625" marB="47625" anchor="ctr">
                    <a:solidFill>
                      <a:srgbClr val="F4A885"/>
                    </a:solidFill>
                  </a:tcPr>
                </a:tc>
                <a:tc>
                  <a:txBody>
                    <a:bodyPr/>
                    <a:lstStyle/>
                    <a:p>
                      <a:pPr algn="ctr">
                        <a:buNone/>
                      </a:pPr>
                      <a:endParaRPr/>
                    </a:p>
                  </a:txBody>
                  <a:tcPr marL="47625" marR="47625" marT="47625" marB="47625" anchor="ctr">
                    <a:solidFill>
                      <a:srgbClr val="EB9072"/>
                    </a:solidFill>
                  </a:tcPr>
                </a:tc>
                <a:tc>
                  <a:txBody>
                    <a:bodyPr/>
                    <a:lstStyle/>
                    <a:p>
                      <a:pPr algn="ctr">
                        <a:buNone/>
                      </a:pPr>
                      <a:endParaRPr/>
                    </a:p>
                  </a:txBody>
                  <a:tcPr marL="47625" marR="47625" marT="47625" marB="47625" anchor="ctr">
                    <a:solidFill>
                      <a:srgbClr val="AF172B"/>
                    </a:solidFill>
                  </a:tcPr>
                </a:tc>
                <a:tc>
                  <a:txBody>
                    <a:bodyPr/>
                    <a:lstStyle/>
                    <a:p>
                      <a:pPr algn="ctr">
                        <a:buNone/>
                      </a:pPr>
                      <a:endParaRPr/>
                    </a:p>
                  </a:txBody>
                  <a:tcPr marL="47625" marR="47625" marT="47625" marB="47625" anchor="ctr">
                    <a:solidFill>
                      <a:srgbClr val="910D26"/>
                    </a:solidFill>
                  </a:tcPr>
                </a:tc>
                <a:tc>
                  <a:txBody>
                    <a:bodyPr/>
                    <a:lstStyle/>
                    <a:p>
                      <a:pPr algn="ctr">
                        <a:buNone/>
                      </a:pPr>
                      <a:endParaRPr/>
                    </a:p>
                  </a:txBody>
                  <a:tcPr marL="47625" marR="47625" marT="47625" marB="47625" anchor="ctr">
                    <a:solidFill>
                      <a:srgbClr val="67001F"/>
                    </a:solidFill>
                  </a:tcPr>
                </a:tc>
                <a:tc>
                  <a:txBody>
                    <a:bodyPr/>
                    <a:lstStyle/>
                    <a:p>
                      <a:pPr algn="ctr">
                        <a:buNone/>
                      </a:pPr>
                      <a:endParaRPr/>
                    </a:p>
                  </a:txBody>
                  <a:tcPr marL="47625" marR="47625" marT="47625" marB="47625" anchor="ctr">
                    <a:solidFill>
                      <a:srgbClr val="7D0722"/>
                    </a:solidFill>
                  </a:tcPr>
                </a:tc>
                <a:tc>
                  <a:txBody>
                    <a:bodyPr/>
                    <a:lstStyle/>
                    <a:p>
                      <a:pPr algn="ctr">
                        <a:buNone/>
                      </a:pPr>
                      <a:endParaRPr/>
                    </a:p>
                  </a:txBody>
                  <a:tcPr marL="47625" marR="47625" marT="47625" marB="47625" anchor="ctr">
                    <a:solidFill>
                      <a:srgbClr val="800823"/>
                    </a:solidFill>
                  </a:tcPr>
                </a:tc>
                <a:tc>
                  <a:txBody>
                    <a:bodyPr/>
                    <a:lstStyle/>
                    <a:p>
                      <a:pPr algn="ctr">
                        <a:buNone/>
                      </a:pPr>
                      <a:endParaRPr/>
                    </a:p>
                  </a:txBody>
                  <a:tcPr marL="47625" marR="47625" marT="47625" marB="47625" anchor="ctr">
                    <a:solidFill>
                      <a:srgbClr val="B1182B"/>
                    </a:solidFill>
                  </a:tcPr>
                </a:tc>
                <a:tc>
                  <a:txBody>
                    <a:bodyPr/>
                    <a:lstStyle/>
                    <a:p>
                      <a:pPr algn="ctr">
                        <a:buNone/>
                      </a:pPr>
                      <a:endParaRPr/>
                    </a:p>
                  </a:txBody>
                  <a:tcPr marL="47625" marR="47625" marT="47625" marB="47625" anchor="ctr">
                    <a:solidFill>
                      <a:srgbClr val="D15648"/>
                    </a:solidFill>
                  </a:tcPr>
                </a:tc>
                <a:tc>
                  <a:txBody>
                    <a:bodyPr/>
                    <a:lstStyle/>
                    <a:p>
                      <a:pPr algn="ctr">
                        <a:buNone/>
                      </a:pPr>
                      <a:endParaRPr/>
                    </a:p>
                  </a:txBody>
                  <a:tcPr marL="47625" marR="47625" marT="47625" marB="47625" anchor="ctr">
                    <a:solidFill>
                      <a:srgbClr val="EC9374"/>
                    </a:solidFill>
                  </a:tcPr>
                </a:tc>
                <a:tc>
                  <a:txBody>
                    <a:bodyPr/>
                    <a:lstStyle/>
                    <a:p>
                      <a:pPr algn="ctr">
                        <a:buNone/>
                      </a:pPr>
                      <a:endParaRPr/>
                    </a:p>
                  </a:txBody>
                  <a:tcPr marL="47625" marR="47625" marT="47625" marB="47625" anchor="ctr">
                    <a:solidFill>
                      <a:srgbClr val="FBD1BB"/>
                    </a:solidFill>
                  </a:tcPr>
                </a:tc>
                <a:tc>
                  <a:txBody>
                    <a:bodyPr/>
                    <a:lstStyle/>
                    <a:p>
                      <a:pPr algn="ctr">
                        <a:buNone/>
                      </a:pPr>
                      <a:endParaRPr/>
                    </a:p>
                  </a:txBody>
                  <a:tcPr marL="47625" marR="47625" marT="47625" marB="47625" anchor="ctr">
                    <a:solidFill>
                      <a:srgbClr val="EFF3F5"/>
                    </a:solidFill>
                  </a:tcPr>
                </a:tc>
                <a:tc>
                  <a:txBody>
                    <a:bodyPr/>
                    <a:lstStyle/>
                    <a:p>
                      <a:pPr algn="ctr">
                        <a:buNone/>
                      </a:pPr>
                      <a:endParaRPr/>
                    </a:p>
                  </a:txBody>
                  <a:tcPr marL="47625" marR="47625" marT="47625" marB="47625" anchor="ctr">
                    <a:solidFill>
                      <a:srgbClr val="E5EFF4"/>
                    </a:solidFill>
                  </a:tcPr>
                </a:tc>
                <a:tc>
                  <a:txBody>
                    <a:bodyPr/>
                    <a:lstStyle/>
                    <a:p>
                      <a:pPr algn="ctr">
                        <a:buNone/>
                      </a:pPr>
                      <a:endParaRPr/>
                    </a:p>
                  </a:txBody>
                  <a:tcPr marL="47625" marR="47625" marT="47625" marB="47625" anchor="ctr">
                    <a:solidFill>
                      <a:srgbClr val="F6B292"/>
                    </a:solidFill>
                  </a:tcPr>
                </a:tc>
                <a:tc>
                  <a:txBody>
                    <a:bodyPr/>
                    <a:lstStyle/>
                    <a:p>
                      <a:pPr algn="ctr">
                        <a:buNone/>
                      </a:pPr>
                      <a:endParaRPr/>
                    </a:p>
                  </a:txBody>
                  <a:tcPr marL="47625" marR="47625" marT="47625" marB="47625" anchor="ctr">
                    <a:solidFill>
                      <a:srgbClr val="D86450"/>
                    </a:solidFill>
                  </a:tcPr>
                </a:tc>
                <a:tc>
                  <a:txBody>
                    <a:bodyPr/>
                    <a:lstStyle/>
                    <a:p>
                      <a:pPr algn="ctr">
                        <a:buNone/>
                      </a:pPr>
                      <a:endParaRPr/>
                    </a:p>
                  </a:txBody>
                  <a:tcPr marL="47625" marR="47625" marT="47625" marB="47625" anchor="ctr">
                    <a:solidFill>
                      <a:srgbClr val="E98C6E"/>
                    </a:solidFill>
                  </a:tcPr>
                </a:tc>
                <a:tc>
                  <a:txBody>
                    <a:bodyPr/>
                    <a:lstStyle/>
                    <a:p>
                      <a:pPr algn="ctr">
                        <a:buNone/>
                      </a:pPr>
                      <a:endParaRPr/>
                    </a:p>
                  </a:txBody>
                  <a:tcPr marL="47625" marR="47625" marT="47625" marB="47625" anchor="ctr">
                    <a:solidFill>
                      <a:srgbClr val="D55D4C"/>
                    </a:solidFill>
                  </a:tcPr>
                </a:tc>
                <a:tc>
                  <a:txBody>
                    <a:bodyPr/>
                    <a:lstStyle/>
                    <a:p>
                      <a:pPr algn="ctr">
                        <a:buNone/>
                      </a:pPr>
                      <a:endParaRPr/>
                    </a:p>
                  </a:txBody>
                  <a:tcPr marL="47625" marR="47625" marT="47625" marB="47625" anchor="ctr">
                    <a:solidFill>
                      <a:srgbClr val="F6B191"/>
                    </a:solidFill>
                  </a:tcPr>
                </a:tc>
                <a:tc>
                  <a:txBody>
                    <a:bodyPr/>
                    <a:lstStyle/>
                    <a:p>
                      <a:pPr algn="ctr">
                        <a:buNone/>
                      </a:pPr>
                      <a:endParaRPr/>
                    </a:p>
                  </a:txBody>
                  <a:tcPr marL="47625" marR="47625" marT="47625" marB="47625" anchor="ctr">
                    <a:solidFill>
                      <a:srgbClr val="FDD8C4"/>
                    </a:solidFill>
                  </a:tcPr>
                </a:tc>
                <a:tc>
                  <a:txBody>
                    <a:bodyPr/>
                    <a:lstStyle/>
                    <a:p>
                      <a:pPr algn="ctr">
                        <a:buNone/>
                      </a:pPr>
                      <a:endParaRPr/>
                    </a:p>
                  </a:txBody>
                  <a:tcPr marL="47625" marR="47625" marT="47625" marB="47625" anchor="ctr">
                    <a:solidFill>
                      <a:srgbClr val="F6B191"/>
                    </a:solidFill>
                  </a:tcPr>
                </a:tc>
              </a:tr>
              <a:tr h="333375">
                <a:tc>
                  <a:txBody>
                    <a:bodyPr/>
                    <a:lstStyle/>
                    <a:p>
                      <a:pPr algn="l">
                        <a:buNone/>
                      </a:pPr>
                      <a:r>
                        <a:rPr sz="1050">
                          <a:solidFill>
                            <a:srgbClr val="000000"/>
                          </a:solidFill>
                          <a:latin typeface="Helvetica Neue"/>
                          <a:ea typeface="Helvetica Neue"/>
                          <a:cs typeface="Helvetica Neue"/>
                        </a:rPr>
                        <a:t>Charge résid. DE</a:t>
                      </a:r>
                    </a:p>
                  </a:txBody>
                  <a:tcPr marL="47625" marR="47625" marT="47625" marB="47625" anchor="ctr">
                    <a:solidFill>
                      <a:srgbClr val="FFFFFF"/>
                    </a:solidFill>
                  </a:tcPr>
                </a:tc>
                <a:tc>
                  <a:txBody>
                    <a:bodyPr/>
                    <a:lstStyle/>
                    <a:p>
                      <a:pPr algn="ctr">
                        <a:buNone/>
                      </a:pPr>
                      <a:endParaRPr/>
                    </a:p>
                  </a:txBody>
                  <a:tcPr marL="47625" marR="47625" marT="47625" marB="47625" anchor="ctr">
                    <a:solidFill>
                      <a:srgbClr val="F6F6F7"/>
                    </a:solidFill>
                  </a:tcPr>
                </a:tc>
                <a:tc>
                  <a:txBody>
                    <a:bodyPr/>
                    <a:lstStyle/>
                    <a:p>
                      <a:pPr algn="ctr">
                        <a:buNone/>
                      </a:pPr>
                      <a:endParaRPr/>
                    </a:p>
                  </a:txBody>
                  <a:tcPr marL="47625" marR="47625" marT="47625" marB="47625" anchor="ctr">
                    <a:solidFill>
                      <a:srgbClr val="EFF3F5"/>
                    </a:solidFill>
                  </a:tcPr>
                </a:tc>
                <a:tc>
                  <a:txBody>
                    <a:bodyPr/>
                    <a:lstStyle/>
                    <a:p>
                      <a:pPr algn="ctr">
                        <a:buNone/>
                      </a:pPr>
                      <a:endParaRPr/>
                    </a:p>
                  </a:txBody>
                  <a:tcPr marL="47625" marR="47625" marT="47625" marB="47625" anchor="ctr">
                    <a:solidFill>
                      <a:srgbClr val="EEF3F5"/>
                    </a:solidFill>
                  </a:tcPr>
                </a:tc>
                <a:tc>
                  <a:txBody>
                    <a:bodyPr/>
                    <a:lstStyle/>
                    <a:p>
                      <a:pPr algn="ctr">
                        <a:buNone/>
                      </a:pPr>
                      <a:endParaRPr/>
                    </a:p>
                  </a:txBody>
                  <a:tcPr marL="47625" marR="47625" marT="47625" marB="47625" anchor="ctr">
                    <a:solidFill>
                      <a:srgbClr val="F0F4F6"/>
                    </a:solidFill>
                  </a:tcPr>
                </a:tc>
                <a:tc>
                  <a:txBody>
                    <a:bodyPr/>
                    <a:lstStyle/>
                    <a:p>
                      <a:pPr algn="ctr">
                        <a:buNone/>
                      </a:pPr>
                      <a:endParaRPr/>
                    </a:p>
                  </a:txBody>
                  <a:tcPr marL="47625" marR="47625" marT="47625" marB="47625" anchor="ctr">
                    <a:solidFill>
                      <a:srgbClr val="F0F4F6"/>
                    </a:solidFill>
                  </a:tcPr>
                </a:tc>
                <a:tc>
                  <a:txBody>
                    <a:bodyPr/>
                    <a:lstStyle/>
                    <a:p>
                      <a:pPr algn="ctr">
                        <a:buNone/>
                      </a:pPr>
                      <a:endParaRPr/>
                    </a:p>
                  </a:txBody>
                  <a:tcPr marL="47625" marR="47625" marT="47625" marB="47625" anchor="ctr">
                    <a:solidFill>
                      <a:srgbClr val="F1F4F6"/>
                    </a:solidFill>
                  </a:tcPr>
                </a:tc>
                <a:tc>
                  <a:txBody>
                    <a:bodyPr/>
                    <a:lstStyle/>
                    <a:p>
                      <a:pPr algn="ctr">
                        <a:buNone/>
                      </a:pPr>
                      <a:endParaRPr/>
                    </a:p>
                  </a:txBody>
                  <a:tcPr marL="47625" marR="47625" marT="47625" marB="47625" anchor="ctr">
                    <a:solidFill>
                      <a:srgbClr val="EFF3F5"/>
                    </a:solidFill>
                  </a:tcPr>
                </a:tc>
                <a:tc>
                  <a:txBody>
                    <a:bodyPr/>
                    <a:lstStyle/>
                    <a:p>
                      <a:pPr algn="ctr">
                        <a:buNone/>
                      </a:pPr>
                      <a:endParaRPr/>
                    </a:p>
                  </a:txBody>
                  <a:tcPr marL="47625" marR="47625" marT="47625" marB="47625" anchor="ctr">
                    <a:solidFill>
                      <a:srgbClr val="F7F6F6"/>
                    </a:solidFill>
                  </a:tcPr>
                </a:tc>
                <a:tc>
                  <a:txBody>
                    <a:bodyPr/>
                    <a:lstStyle/>
                    <a:p>
                      <a:pPr algn="ctr">
                        <a:buNone/>
                      </a:pPr>
                      <a:endParaRPr/>
                    </a:p>
                  </a:txBody>
                  <a:tcPr marL="47625" marR="47625" marT="47625" marB="47625" anchor="ctr">
                    <a:solidFill>
                      <a:srgbClr val="F8F1EC"/>
                    </a:solidFill>
                  </a:tcPr>
                </a:tc>
                <a:tc>
                  <a:txBody>
                    <a:bodyPr/>
                    <a:lstStyle/>
                    <a:p>
                      <a:pPr algn="ctr">
                        <a:buNone/>
                      </a:pPr>
                      <a:endParaRPr/>
                    </a:p>
                  </a:txBody>
                  <a:tcPr marL="47625" marR="47625" marT="47625" marB="47625" anchor="ctr">
                    <a:solidFill>
                      <a:srgbClr val="F9EBE3"/>
                    </a:solidFill>
                  </a:tcPr>
                </a:tc>
                <a:tc>
                  <a:txBody>
                    <a:bodyPr/>
                    <a:lstStyle/>
                    <a:p>
                      <a:pPr algn="ctr">
                        <a:buNone/>
                      </a:pPr>
                      <a:endParaRPr/>
                    </a:p>
                  </a:txBody>
                  <a:tcPr marL="47625" marR="47625" marT="47625" marB="47625" anchor="ctr">
                    <a:solidFill>
                      <a:srgbClr val="FCE0D0"/>
                    </a:solidFill>
                  </a:tcPr>
                </a:tc>
                <a:tc>
                  <a:txBody>
                    <a:bodyPr/>
                    <a:lstStyle/>
                    <a:p>
                      <a:pPr algn="ctr">
                        <a:buNone/>
                      </a:pPr>
                      <a:endParaRPr/>
                    </a:p>
                  </a:txBody>
                  <a:tcPr marL="47625" marR="47625" marT="47625" marB="47625" anchor="ctr">
                    <a:solidFill>
                      <a:srgbClr val="F6B192"/>
                    </a:solidFill>
                  </a:tcPr>
                </a:tc>
                <a:tc>
                  <a:txBody>
                    <a:bodyPr/>
                    <a:lstStyle/>
                    <a:p>
                      <a:pPr algn="ctr">
                        <a:buNone/>
                      </a:pPr>
                      <a:endParaRPr/>
                    </a:p>
                  </a:txBody>
                  <a:tcPr marL="47625" marR="47625" marT="47625" marB="47625" anchor="ctr">
                    <a:solidFill>
                      <a:srgbClr val="EB9071"/>
                    </a:solidFill>
                  </a:tcPr>
                </a:tc>
                <a:tc>
                  <a:txBody>
                    <a:bodyPr/>
                    <a:lstStyle/>
                    <a:p>
                      <a:pPr algn="ctr">
                        <a:buNone/>
                      </a:pPr>
                      <a:endParaRPr/>
                    </a:p>
                  </a:txBody>
                  <a:tcPr marL="47625" marR="47625" marT="47625" marB="47625" anchor="ctr">
                    <a:solidFill>
                      <a:srgbClr val="E58267"/>
                    </a:solidFill>
                  </a:tcPr>
                </a:tc>
                <a:tc>
                  <a:txBody>
                    <a:bodyPr/>
                    <a:lstStyle/>
                    <a:p>
                      <a:pPr algn="ctr">
                        <a:buNone/>
                      </a:pPr>
                      <a:endParaRPr/>
                    </a:p>
                  </a:txBody>
                  <a:tcPr marL="47625" marR="47625" marT="47625" marB="47625" anchor="ctr">
                    <a:solidFill>
                      <a:srgbClr val="EA8F71"/>
                    </a:solidFill>
                  </a:tcPr>
                </a:tc>
                <a:tc>
                  <a:txBody>
                    <a:bodyPr/>
                    <a:lstStyle/>
                    <a:p>
                      <a:pPr algn="ctr">
                        <a:buNone/>
                      </a:pPr>
                      <a:endParaRPr/>
                    </a:p>
                  </a:txBody>
                  <a:tcPr marL="47625" marR="47625" marT="47625" marB="47625" anchor="ctr">
                    <a:solidFill>
                      <a:srgbClr val="F5AB8A"/>
                    </a:solidFill>
                  </a:tcPr>
                </a:tc>
                <a:tc>
                  <a:txBody>
                    <a:bodyPr/>
                    <a:lstStyle/>
                    <a:p>
                      <a:pPr algn="ctr">
                        <a:buNone/>
                      </a:pPr>
                      <a:endParaRPr/>
                    </a:p>
                  </a:txBody>
                  <a:tcPr marL="47625" marR="47625" marT="47625" marB="47625" anchor="ctr">
                    <a:solidFill>
                      <a:srgbClr val="FDDDCB"/>
                    </a:solidFill>
                  </a:tcPr>
                </a:tc>
                <a:tc>
                  <a:txBody>
                    <a:bodyPr/>
                    <a:lstStyle/>
                    <a:p>
                      <a:pPr algn="ctr">
                        <a:buNone/>
                      </a:pPr>
                      <a:endParaRPr/>
                    </a:p>
                  </a:txBody>
                  <a:tcPr marL="47625" marR="47625" marT="47625" marB="47625" anchor="ctr">
                    <a:solidFill>
                      <a:srgbClr val="F9EDE6"/>
                    </a:solidFill>
                  </a:tcPr>
                </a:tc>
                <a:tc>
                  <a:txBody>
                    <a:bodyPr/>
                    <a:lstStyle/>
                    <a:p>
                      <a:pPr algn="ctr">
                        <a:buNone/>
                      </a:pPr>
                      <a:endParaRPr/>
                    </a:p>
                  </a:txBody>
                  <a:tcPr marL="47625" marR="47625" marT="47625" marB="47625" anchor="ctr">
                    <a:solidFill>
                      <a:srgbClr val="F7F7F7"/>
                    </a:solidFill>
                  </a:tcPr>
                </a:tc>
                <a:tc>
                  <a:txBody>
                    <a:bodyPr/>
                    <a:lstStyle/>
                    <a:p>
                      <a:pPr algn="ctr">
                        <a:buNone/>
                      </a:pPr>
                      <a:endParaRPr/>
                    </a:p>
                  </a:txBody>
                  <a:tcPr marL="47625" marR="47625" marT="47625" marB="47625" anchor="ctr">
                    <a:solidFill>
                      <a:srgbClr val="F0F4F6"/>
                    </a:solidFill>
                  </a:tcPr>
                </a:tc>
                <a:tc>
                  <a:txBody>
                    <a:bodyPr/>
                    <a:lstStyle/>
                    <a:p>
                      <a:pPr algn="ctr">
                        <a:buNone/>
                      </a:pPr>
                      <a:endParaRPr/>
                    </a:p>
                  </a:txBody>
                  <a:tcPr marL="47625" marR="47625" marT="47625" marB="47625" anchor="ctr">
                    <a:solidFill>
                      <a:srgbClr val="F0F4F6"/>
                    </a:solidFill>
                  </a:tcPr>
                </a:tc>
                <a:tc>
                  <a:txBody>
                    <a:bodyPr/>
                    <a:lstStyle/>
                    <a:p>
                      <a:pPr algn="ctr">
                        <a:buNone/>
                      </a:pPr>
                      <a:endParaRPr/>
                    </a:p>
                  </a:txBody>
                  <a:tcPr marL="47625" marR="47625" marT="47625" marB="47625" anchor="ctr">
                    <a:solidFill>
                      <a:srgbClr val="EAF1F5"/>
                    </a:solidFill>
                  </a:tcPr>
                </a:tc>
                <a:tc>
                  <a:txBody>
                    <a:bodyPr/>
                    <a:lstStyle/>
                    <a:p>
                      <a:pPr algn="ctr">
                        <a:buNone/>
                      </a:pPr>
                      <a:endParaRPr/>
                    </a:p>
                  </a:txBody>
                  <a:tcPr marL="47625" marR="47625" marT="47625" marB="47625" anchor="ctr">
                    <a:solidFill>
                      <a:srgbClr val="EDF2F5"/>
                    </a:solidFill>
                  </a:tcPr>
                </a:tc>
                <a:tc>
                  <a:txBody>
                    <a:bodyPr/>
                    <a:lstStyle/>
                    <a:p>
                      <a:pPr algn="ctr">
                        <a:buNone/>
                      </a:pPr>
                      <a:endParaRPr/>
                    </a:p>
                  </a:txBody>
                  <a:tcPr marL="47625" marR="47625" marT="47625" marB="47625" anchor="ctr">
                    <a:solidFill>
                      <a:srgbClr val="EFF3F5"/>
                    </a:solidFill>
                  </a:tcPr>
                </a:tc>
              </a:tr>
              <a:tr h="333375">
                <a:tc>
                  <a:txBody>
                    <a:bodyPr/>
                    <a:lstStyle/>
                    <a:p>
                      <a:pPr algn="l">
                        <a:buNone/>
                      </a:pPr>
                      <a:r>
                        <a:rPr sz="1050">
                          <a:solidFill>
                            <a:srgbClr val="000000"/>
                          </a:solidFill>
                          <a:latin typeface="Helvetica Neue"/>
                          <a:ea typeface="Helvetica Neue"/>
                          <a:cs typeface="Helvetica Neue"/>
                        </a:rPr>
                        <a:t>Charge résid. FR</a:t>
                      </a:r>
                    </a:p>
                  </a:txBody>
                  <a:tcPr marL="47625" marR="47625" marT="47625" marB="47625" anchor="ctr">
                    <a:solidFill>
                      <a:srgbClr val="FFFFFF"/>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7F6F6"/>
                    </a:solidFill>
                  </a:tcPr>
                </a:tc>
                <a:tc>
                  <a:txBody>
                    <a:bodyPr/>
                    <a:lstStyle/>
                    <a:p>
                      <a:pPr algn="ctr">
                        <a:buNone/>
                      </a:pPr>
                      <a:endParaRPr/>
                    </a:p>
                  </a:txBody>
                  <a:tcPr marL="47625" marR="47625" marT="47625" marB="47625" anchor="ctr">
                    <a:solidFill>
                      <a:srgbClr val="F8F2EE"/>
                    </a:solidFill>
                  </a:tcPr>
                </a:tc>
                <a:tc>
                  <a:txBody>
                    <a:bodyPr/>
                    <a:lstStyle/>
                    <a:p>
                      <a:pPr algn="ctr">
                        <a:buNone/>
                      </a:pPr>
                      <a:endParaRPr/>
                    </a:p>
                  </a:txBody>
                  <a:tcPr marL="47625" marR="47625" marT="47625" marB="47625" anchor="ctr">
                    <a:solidFill>
                      <a:srgbClr val="EFF3F5"/>
                    </a:solidFill>
                  </a:tcPr>
                </a:tc>
                <a:tc>
                  <a:txBody>
                    <a:bodyPr/>
                    <a:lstStyle/>
                    <a:p>
                      <a:pPr algn="ctr">
                        <a:buNone/>
                      </a:pPr>
                      <a:endParaRPr/>
                    </a:p>
                  </a:txBody>
                  <a:tcPr marL="47625" marR="47625" marT="47625" marB="47625" anchor="ctr">
                    <a:solidFill>
                      <a:srgbClr val="F3F5F6"/>
                    </a:solidFill>
                  </a:tcPr>
                </a:tc>
                <a:tc>
                  <a:txBody>
                    <a:bodyPr/>
                    <a:lstStyle/>
                    <a:p>
                      <a:pPr algn="ctr">
                        <a:buNone/>
                      </a:pPr>
                      <a:endParaRPr/>
                    </a:p>
                  </a:txBody>
                  <a:tcPr marL="47625" marR="47625" marT="47625" marB="47625" anchor="ctr">
                    <a:solidFill>
                      <a:srgbClr val="F8F3F0"/>
                    </a:solidFill>
                  </a:tcPr>
                </a:tc>
                <a:tc>
                  <a:txBody>
                    <a:bodyPr/>
                    <a:lstStyle/>
                    <a:p>
                      <a:pPr algn="ctr">
                        <a:buNone/>
                      </a:pPr>
                      <a:endParaRPr/>
                    </a:p>
                  </a:txBody>
                  <a:tcPr marL="47625" marR="47625" marT="47625" marB="47625" anchor="ctr">
                    <a:solidFill>
                      <a:srgbClr val="F8F3F1"/>
                    </a:solidFill>
                  </a:tcPr>
                </a:tc>
                <a:tc>
                  <a:txBody>
                    <a:bodyPr/>
                    <a:lstStyle/>
                    <a:p>
                      <a:pPr algn="ctr">
                        <a:buNone/>
                      </a:pPr>
                      <a:endParaRPr/>
                    </a:p>
                  </a:txBody>
                  <a:tcPr marL="47625" marR="47625" marT="47625" marB="47625" anchor="ctr">
                    <a:solidFill>
                      <a:srgbClr val="F8F3EF"/>
                    </a:solidFill>
                  </a:tcPr>
                </a:tc>
                <a:tc>
                  <a:txBody>
                    <a:bodyPr/>
                    <a:lstStyle/>
                    <a:p>
                      <a:pPr algn="ctr">
                        <a:buNone/>
                      </a:pPr>
                      <a:endParaRPr/>
                    </a:p>
                  </a:txBody>
                  <a:tcPr marL="47625" marR="47625" marT="47625" marB="47625" anchor="ctr">
                    <a:solidFill>
                      <a:srgbClr val="F9EFEA"/>
                    </a:solidFill>
                  </a:tcPr>
                </a:tc>
                <a:tc>
                  <a:txBody>
                    <a:bodyPr/>
                    <a:lstStyle/>
                    <a:p>
                      <a:pPr algn="ctr">
                        <a:buNone/>
                      </a:pPr>
                      <a:endParaRPr/>
                    </a:p>
                  </a:txBody>
                  <a:tcPr marL="47625" marR="47625" marT="47625" marB="47625" anchor="ctr">
                    <a:solidFill>
                      <a:srgbClr val="F9ECE4"/>
                    </a:solidFill>
                  </a:tcPr>
                </a:tc>
                <a:tc>
                  <a:txBody>
                    <a:bodyPr/>
                    <a:lstStyle/>
                    <a:p>
                      <a:pPr algn="ctr">
                        <a:buNone/>
                      </a:pPr>
                      <a:endParaRPr/>
                    </a:p>
                  </a:txBody>
                  <a:tcPr marL="47625" marR="47625" marT="47625" marB="47625" anchor="ctr">
                    <a:solidFill>
                      <a:srgbClr val="FCE0D0"/>
                    </a:solidFill>
                  </a:tcPr>
                </a:tc>
                <a:tc>
                  <a:txBody>
                    <a:bodyPr/>
                    <a:lstStyle/>
                    <a:p>
                      <a:pPr algn="ctr">
                        <a:buNone/>
                      </a:pPr>
                      <a:endParaRPr/>
                    </a:p>
                  </a:txBody>
                  <a:tcPr marL="47625" marR="47625" marT="47625" marB="47625" anchor="ctr">
                    <a:solidFill>
                      <a:srgbClr val="FCD8C3"/>
                    </a:solidFill>
                  </a:tcPr>
                </a:tc>
                <a:tc>
                  <a:txBody>
                    <a:bodyPr/>
                    <a:lstStyle/>
                    <a:p>
                      <a:pPr algn="ctr">
                        <a:buNone/>
                      </a:pPr>
                      <a:endParaRPr/>
                    </a:p>
                  </a:txBody>
                  <a:tcPr marL="47625" marR="47625" marT="47625" marB="47625" anchor="ctr">
                    <a:solidFill>
                      <a:srgbClr val="F6B192"/>
                    </a:solidFill>
                  </a:tcPr>
                </a:tc>
                <a:tc>
                  <a:txBody>
                    <a:bodyPr/>
                    <a:lstStyle/>
                    <a:p>
                      <a:pPr algn="ctr">
                        <a:buNone/>
                      </a:pPr>
                      <a:endParaRPr/>
                    </a:p>
                  </a:txBody>
                  <a:tcPr marL="47625" marR="47625" marT="47625" marB="47625" anchor="ctr">
                    <a:solidFill>
                      <a:srgbClr val="F6B293"/>
                    </a:solidFill>
                  </a:tcPr>
                </a:tc>
                <a:tc>
                  <a:txBody>
                    <a:bodyPr/>
                    <a:lstStyle/>
                    <a:p>
                      <a:pPr algn="ctr">
                        <a:buNone/>
                      </a:pPr>
                      <a:endParaRPr/>
                    </a:p>
                  </a:txBody>
                  <a:tcPr marL="47625" marR="47625" marT="47625" marB="47625" anchor="ctr">
                    <a:solidFill>
                      <a:srgbClr val="F8BB9E"/>
                    </a:solidFill>
                  </a:tcPr>
                </a:tc>
                <a:tc>
                  <a:txBody>
                    <a:bodyPr/>
                    <a:lstStyle/>
                    <a:p>
                      <a:pPr algn="ctr">
                        <a:buNone/>
                      </a:pPr>
                      <a:endParaRPr/>
                    </a:p>
                  </a:txBody>
                  <a:tcPr marL="47625" marR="47625" marT="47625" marB="47625" anchor="ctr">
                    <a:solidFill>
                      <a:srgbClr val="F9C2A7"/>
                    </a:solidFill>
                  </a:tcPr>
                </a:tc>
                <a:tc>
                  <a:txBody>
                    <a:bodyPr/>
                    <a:lstStyle/>
                    <a:p>
                      <a:pPr algn="ctr">
                        <a:buNone/>
                      </a:pPr>
                      <a:endParaRPr/>
                    </a:p>
                  </a:txBody>
                  <a:tcPr marL="47625" marR="47625" marT="47625" marB="47625" anchor="ctr">
                    <a:solidFill>
                      <a:srgbClr val="FDD9C5"/>
                    </a:solidFill>
                  </a:tcPr>
                </a:tc>
                <a:tc>
                  <a:txBody>
                    <a:bodyPr/>
                    <a:lstStyle/>
                    <a:p>
                      <a:pPr algn="ctr">
                        <a:buNone/>
                      </a:pPr>
                      <a:endParaRPr/>
                    </a:p>
                  </a:txBody>
                  <a:tcPr marL="47625" marR="47625" marT="47625" marB="47625" anchor="ctr">
                    <a:solidFill>
                      <a:srgbClr val="FAE8DD"/>
                    </a:solidFill>
                  </a:tcPr>
                </a:tc>
                <a:tc>
                  <a:txBody>
                    <a:bodyPr/>
                    <a:lstStyle/>
                    <a:p>
                      <a:pPr algn="ctr">
                        <a:buNone/>
                      </a:pPr>
                      <a:endParaRPr/>
                    </a:p>
                  </a:txBody>
                  <a:tcPr marL="47625" marR="47625" marT="47625" marB="47625" anchor="ctr">
                    <a:solidFill>
                      <a:srgbClr val="FAEBE3"/>
                    </a:solidFill>
                  </a:tcPr>
                </a:tc>
                <a:tc>
                  <a:txBody>
                    <a:bodyPr/>
                    <a:lstStyle/>
                    <a:p>
                      <a:pPr algn="ctr">
                        <a:buNone/>
                      </a:pPr>
                      <a:endParaRPr/>
                    </a:p>
                  </a:txBody>
                  <a:tcPr marL="47625" marR="47625" marT="47625" marB="47625" anchor="ctr">
                    <a:solidFill>
                      <a:srgbClr val="F9EFE9"/>
                    </a:solidFill>
                  </a:tcPr>
                </a:tc>
                <a:tc>
                  <a:txBody>
                    <a:bodyPr/>
                    <a:lstStyle/>
                    <a:p>
                      <a:pPr algn="ctr">
                        <a:buNone/>
                      </a:pPr>
                      <a:endParaRPr/>
                    </a:p>
                  </a:txBody>
                  <a:tcPr marL="47625" marR="47625" marT="47625" marB="47625" anchor="ctr">
                    <a:solidFill>
                      <a:srgbClr val="F9EFE9"/>
                    </a:solidFill>
                  </a:tcPr>
                </a:tc>
                <a:tc>
                  <a:txBody>
                    <a:bodyPr/>
                    <a:lstStyle/>
                    <a:p>
                      <a:pPr algn="ctr">
                        <a:buNone/>
                      </a:pPr>
                      <a:endParaRPr/>
                    </a:p>
                  </a:txBody>
                  <a:tcPr marL="47625" marR="47625" marT="47625" marB="47625" anchor="ctr">
                    <a:solidFill>
                      <a:srgbClr val="F8F3F1"/>
                    </a:solidFill>
                  </a:tcPr>
                </a:tc>
                <a:tc>
                  <a:txBody>
                    <a:bodyPr/>
                    <a:lstStyle/>
                    <a:p>
                      <a:pPr algn="ctr">
                        <a:buNone/>
                      </a:pPr>
                      <a:endParaRPr/>
                    </a:p>
                  </a:txBody>
                  <a:tcPr marL="47625" marR="47625" marT="47625" marB="47625" anchor="ctr">
                    <a:solidFill>
                      <a:srgbClr val="F8F4F2"/>
                    </a:solidFill>
                  </a:tcPr>
                </a:tc>
                <a:tc>
                  <a:txBody>
                    <a:bodyPr/>
                    <a:lstStyle/>
                    <a:p>
                      <a:pPr algn="ctr">
                        <a:buNone/>
                      </a:pPr>
                      <a:endParaRPr/>
                    </a:p>
                  </a:txBody>
                  <a:tcPr marL="47625" marR="47625" marT="47625" marB="47625" anchor="ctr">
                    <a:solidFill>
                      <a:srgbClr val="F7F5F3"/>
                    </a:solidFill>
                  </a:tcPr>
                </a:tc>
              </a:tr>
              <a:tr h="333375">
                <a:tc>
                  <a:txBody>
                    <a:bodyPr/>
                    <a:lstStyle/>
                    <a:p>
                      <a:pPr algn="l">
                        <a:buNone/>
                      </a:pPr>
                      <a:r>
                        <a:rPr sz="1050">
                          <a:solidFill>
                            <a:srgbClr val="000000"/>
                          </a:solidFill>
                          <a:latin typeface="Helvetica Neue"/>
                          <a:ea typeface="Helvetica Neue"/>
                          <a:cs typeface="Helvetica Neue"/>
                        </a:rPr>
                        <a:t>Charge résid. ES</a:t>
                      </a:r>
                    </a:p>
                  </a:txBody>
                  <a:tcPr marL="47625" marR="47625" marT="47625" marB="47625" anchor="ctr">
                    <a:solidFill>
                      <a:srgbClr val="FFFFFF"/>
                    </a:solidFill>
                  </a:tcPr>
                </a:tc>
                <a:tc>
                  <a:txBody>
                    <a:bodyPr/>
                    <a:lstStyle/>
                    <a:p>
                      <a:pPr algn="ctr">
                        <a:buNone/>
                      </a:pPr>
                      <a:endParaRPr/>
                    </a:p>
                  </a:txBody>
                  <a:tcPr marL="47625" marR="47625" marT="47625" marB="47625" anchor="ctr">
                    <a:solidFill>
                      <a:srgbClr val="EBF1F5"/>
                    </a:solidFill>
                  </a:tcPr>
                </a:tc>
                <a:tc>
                  <a:txBody>
                    <a:bodyPr/>
                    <a:lstStyle/>
                    <a:p>
                      <a:pPr algn="ctr">
                        <a:buNone/>
                      </a:pPr>
                      <a:endParaRPr/>
                    </a:p>
                  </a:txBody>
                  <a:tcPr marL="47625" marR="47625" marT="47625" marB="47625" anchor="ctr">
                    <a:solidFill>
                      <a:srgbClr val="EBF1F5"/>
                    </a:solidFill>
                  </a:tcPr>
                </a:tc>
                <a:tc>
                  <a:txBody>
                    <a:bodyPr/>
                    <a:lstStyle/>
                    <a:p>
                      <a:pPr algn="ctr">
                        <a:buNone/>
                      </a:pPr>
                      <a:endParaRPr/>
                    </a:p>
                  </a:txBody>
                  <a:tcPr marL="47625" marR="47625" marT="47625" marB="47625" anchor="ctr">
                    <a:solidFill>
                      <a:srgbClr val="EBF1F5"/>
                    </a:solidFill>
                  </a:tcPr>
                </a:tc>
                <a:tc>
                  <a:txBody>
                    <a:bodyPr/>
                    <a:lstStyle/>
                    <a:p>
                      <a:pPr algn="ctr">
                        <a:buNone/>
                      </a:pPr>
                      <a:endParaRPr/>
                    </a:p>
                  </a:txBody>
                  <a:tcPr marL="47625" marR="47625" marT="47625" marB="47625" anchor="ctr">
                    <a:solidFill>
                      <a:srgbClr val="EBF1F5"/>
                    </a:solidFill>
                  </a:tcPr>
                </a:tc>
                <a:tc>
                  <a:txBody>
                    <a:bodyPr/>
                    <a:lstStyle/>
                    <a:p>
                      <a:pPr algn="ctr">
                        <a:buNone/>
                      </a:pPr>
                      <a:endParaRPr/>
                    </a:p>
                  </a:txBody>
                  <a:tcPr marL="47625" marR="47625" marT="47625" marB="47625" anchor="ctr">
                    <a:solidFill>
                      <a:srgbClr val="EAF1F5"/>
                    </a:solidFill>
                  </a:tcPr>
                </a:tc>
                <a:tc>
                  <a:txBody>
                    <a:bodyPr/>
                    <a:lstStyle/>
                    <a:p>
                      <a:pPr algn="ctr">
                        <a:buNone/>
                      </a:pPr>
                      <a:endParaRPr/>
                    </a:p>
                  </a:txBody>
                  <a:tcPr marL="47625" marR="47625" marT="47625" marB="47625" anchor="ctr">
                    <a:solidFill>
                      <a:srgbClr val="E8F0F4"/>
                    </a:solidFill>
                  </a:tcPr>
                </a:tc>
                <a:tc>
                  <a:txBody>
                    <a:bodyPr/>
                    <a:lstStyle/>
                    <a:p>
                      <a:pPr algn="ctr">
                        <a:buNone/>
                      </a:pPr>
                      <a:endParaRPr/>
                    </a:p>
                  </a:txBody>
                  <a:tcPr marL="47625" marR="47625" marT="47625" marB="47625" anchor="ctr">
                    <a:solidFill>
                      <a:srgbClr val="E5EFF4"/>
                    </a:solidFill>
                  </a:tcPr>
                </a:tc>
                <a:tc>
                  <a:txBody>
                    <a:bodyPr/>
                    <a:lstStyle/>
                    <a:p>
                      <a:pPr algn="ctr">
                        <a:buNone/>
                      </a:pPr>
                      <a:endParaRPr/>
                    </a:p>
                  </a:txBody>
                  <a:tcPr marL="47625" marR="47625" marT="47625" marB="47625" anchor="ctr">
                    <a:solidFill>
                      <a:srgbClr val="E7EFF4"/>
                    </a:solidFill>
                  </a:tcPr>
                </a:tc>
                <a:tc>
                  <a:txBody>
                    <a:bodyPr/>
                    <a:lstStyle/>
                    <a:p>
                      <a:pPr algn="ctr">
                        <a:buNone/>
                      </a:pPr>
                      <a:endParaRPr/>
                    </a:p>
                  </a:txBody>
                  <a:tcPr marL="47625" marR="47625" marT="47625" marB="47625" anchor="ctr">
                    <a:solidFill>
                      <a:srgbClr val="EAF1F5"/>
                    </a:solidFill>
                  </a:tcPr>
                </a:tc>
                <a:tc>
                  <a:txBody>
                    <a:bodyPr/>
                    <a:lstStyle/>
                    <a:p>
                      <a:pPr algn="ctr">
                        <a:buNone/>
                      </a:pPr>
                      <a:endParaRPr/>
                    </a:p>
                  </a:txBody>
                  <a:tcPr marL="47625" marR="47625" marT="47625" marB="47625" anchor="ctr">
                    <a:solidFill>
                      <a:srgbClr val="ECF2F5"/>
                    </a:solidFill>
                  </a:tcPr>
                </a:tc>
                <a:tc>
                  <a:txBody>
                    <a:bodyPr/>
                    <a:lstStyle/>
                    <a:p>
                      <a:pPr algn="ctr">
                        <a:buNone/>
                      </a:pPr>
                      <a:endParaRPr/>
                    </a:p>
                  </a:txBody>
                  <a:tcPr marL="47625" marR="47625" marT="47625" marB="47625" anchor="ctr">
                    <a:solidFill>
                      <a:srgbClr val="EDF2F5"/>
                    </a:solidFill>
                  </a:tcPr>
                </a:tc>
                <a:tc>
                  <a:txBody>
                    <a:bodyPr/>
                    <a:lstStyle/>
                    <a:p>
                      <a:pPr algn="ctr">
                        <a:buNone/>
                      </a:pPr>
                      <a:endParaRPr/>
                    </a:p>
                  </a:txBody>
                  <a:tcPr marL="47625" marR="47625" marT="47625" marB="47625" anchor="ctr">
                    <a:solidFill>
                      <a:srgbClr val="EFF3F6"/>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4F6F6"/>
                    </a:solidFill>
                  </a:tcPr>
                </a:tc>
                <a:tc>
                  <a:txBody>
                    <a:bodyPr/>
                    <a:lstStyle/>
                    <a:p>
                      <a:pPr algn="ctr">
                        <a:buNone/>
                      </a:pPr>
                      <a:endParaRPr/>
                    </a:p>
                  </a:txBody>
                  <a:tcPr marL="47625" marR="47625" marT="47625" marB="47625" anchor="ctr">
                    <a:solidFill>
                      <a:srgbClr val="F7F7F7"/>
                    </a:solidFill>
                  </a:tcPr>
                </a:tc>
                <a:tc>
                  <a:txBody>
                    <a:bodyPr/>
                    <a:lstStyle/>
                    <a:p>
                      <a:pPr algn="ctr">
                        <a:buNone/>
                      </a:pPr>
                      <a:endParaRPr/>
                    </a:p>
                  </a:txBody>
                  <a:tcPr marL="47625" marR="47625" marT="47625" marB="47625" anchor="ctr">
                    <a:solidFill>
                      <a:srgbClr val="F0F4F6"/>
                    </a:solidFill>
                  </a:tcPr>
                </a:tc>
                <a:tc>
                  <a:txBody>
                    <a:bodyPr/>
                    <a:lstStyle/>
                    <a:p>
                      <a:pPr algn="ctr">
                        <a:buNone/>
                      </a:pPr>
                      <a:endParaRPr/>
                    </a:p>
                  </a:txBody>
                  <a:tcPr marL="47625" marR="47625" marT="47625" marB="47625" anchor="ctr">
                    <a:solidFill>
                      <a:srgbClr val="EBF1F5"/>
                    </a:solidFill>
                  </a:tcPr>
                </a:tc>
                <a:tc>
                  <a:txBody>
                    <a:bodyPr/>
                    <a:lstStyle/>
                    <a:p>
                      <a:pPr algn="ctr">
                        <a:buNone/>
                      </a:pPr>
                      <a:endParaRPr/>
                    </a:p>
                  </a:txBody>
                  <a:tcPr marL="47625" marR="47625" marT="47625" marB="47625" anchor="ctr">
                    <a:solidFill>
                      <a:srgbClr val="EAF1F5"/>
                    </a:solidFill>
                  </a:tcPr>
                </a:tc>
                <a:tc>
                  <a:txBody>
                    <a:bodyPr/>
                    <a:lstStyle/>
                    <a:p>
                      <a:pPr algn="ctr">
                        <a:buNone/>
                      </a:pPr>
                      <a:endParaRPr/>
                    </a:p>
                  </a:txBody>
                  <a:tcPr marL="47625" marR="47625" marT="47625" marB="47625" anchor="ctr">
                    <a:solidFill>
                      <a:srgbClr val="EAF1F5"/>
                    </a:solidFill>
                  </a:tcPr>
                </a:tc>
                <a:tc>
                  <a:txBody>
                    <a:bodyPr/>
                    <a:lstStyle/>
                    <a:p>
                      <a:pPr algn="ctr">
                        <a:buNone/>
                      </a:pPr>
                      <a:endParaRPr/>
                    </a:p>
                  </a:txBody>
                  <a:tcPr marL="47625" marR="47625" marT="47625" marB="47625" anchor="ctr">
                    <a:solidFill>
                      <a:srgbClr val="ECF2F5"/>
                    </a:solidFill>
                  </a:tcPr>
                </a:tc>
                <a:tc>
                  <a:txBody>
                    <a:bodyPr/>
                    <a:lstStyle/>
                    <a:p>
                      <a:pPr algn="ctr">
                        <a:buNone/>
                      </a:pPr>
                      <a:endParaRPr/>
                    </a:p>
                  </a:txBody>
                  <a:tcPr marL="47625" marR="47625" marT="47625" marB="47625" anchor="ctr">
                    <a:solidFill>
                      <a:srgbClr val="EBF2F5"/>
                    </a:solidFill>
                  </a:tcPr>
                </a:tc>
                <a:tc>
                  <a:txBody>
                    <a:bodyPr/>
                    <a:lstStyle/>
                    <a:p>
                      <a:pPr algn="ctr">
                        <a:buNone/>
                      </a:pPr>
                      <a:endParaRPr/>
                    </a:p>
                  </a:txBody>
                  <a:tcPr marL="47625" marR="47625" marT="47625" marB="47625" anchor="ctr">
                    <a:solidFill>
                      <a:srgbClr val="EBF1F5"/>
                    </a:solidFill>
                  </a:tcPr>
                </a:tc>
                <a:tc>
                  <a:txBody>
                    <a:bodyPr/>
                    <a:lstStyle/>
                    <a:p>
                      <a:pPr algn="ctr">
                        <a:buNone/>
                      </a:pPr>
                      <a:endParaRPr/>
                    </a:p>
                  </a:txBody>
                  <a:tcPr marL="47625" marR="47625" marT="47625" marB="47625" anchor="ctr">
                    <a:solidFill>
                      <a:srgbClr val="ECF2F5"/>
                    </a:solidFill>
                  </a:tcPr>
                </a:tc>
                <a:tc>
                  <a:txBody>
                    <a:bodyPr/>
                    <a:lstStyle/>
                    <a:p>
                      <a:pPr algn="ctr">
                        <a:buNone/>
                      </a:pPr>
                      <a:endParaRPr/>
                    </a:p>
                  </a:txBody>
                  <a:tcPr marL="47625" marR="47625" marT="47625" marB="47625" anchor="ctr">
                    <a:solidFill>
                      <a:srgbClr val="EDF2F5"/>
                    </a:solidFill>
                  </a:tcPr>
                </a:tc>
              </a:tr>
              <a:tr h="333375">
                <a:tc>
                  <a:txBody>
                    <a:bodyPr/>
                    <a:lstStyle/>
                    <a:p>
                      <a:pPr algn="l">
                        <a:buNone/>
                      </a:pPr>
                      <a:r>
                        <a:rPr sz="1050">
                          <a:solidFill>
                            <a:srgbClr val="000000"/>
                          </a:solidFill>
                          <a:latin typeface="Helvetica Neue"/>
                          <a:ea typeface="Helvetica Neue"/>
                          <a:cs typeface="Helvetica Neue"/>
                        </a:rPr>
                        <a:t>Charge résid. BE</a:t>
                      </a:r>
                    </a:p>
                  </a:txBody>
                  <a:tcPr marL="47625" marR="47625" marT="47625" marB="47625" anchor="ctr">
                    <a:solidFill>
                      <a:srgbClr val="FFFFFF"/>
                    </a:solidFill>
                  </a:tcPr>
                </a:tc>
                <a:tc>
                  <a:txBody>
                    <a:bodyPr/>
                    <a:lstStyle/>
                    <a:p>
                      <a:pPr algn="ctr">
                        <a:buNone/>
                      </a:pPr>
                      <a:endParaRPr/>
                    </a:p>
                  </a:txBody>
                  <a:tcPr marL="47625" marR="47625" marT="47625" marB="47625" anchor="ctr">
                    <a:solidFill>
                      <a:srgbClr val="F2F5F6"/>
                    </a:solidFill>
                  </a:tcPr>
                </a:tc>
                <a:tc>
                  <a:txBody>
                    <a:bodyPr/>
                    <a:lstStyle/>
                    <a:p>
                      <a:pPr algn="ctr">
                        <a:buNone/>
                      </a:pPr>
                      <a:endParaRPr/>
                    </a:p>
                  </a:txBody>
                  <a:tcPr marL="47625" marR="47625" marT="47625" marB="47625" anchor="ctr">
                    <a:solidFill>
                      <a:srgbClr val="F1F4F6"/>
                    </a:solidFill>
                  </a:tcPr>
                </a:tc>
                <a:tc>
                  <a:txBody>
                    <a:bodyPr/>
                    <a:lstStyle/>
                    <a:p>
                      <a:pPr algn="ctr">
                        <a:buNone/>
                      </a:pPr>
                      <a:endParaRPr/>
                    </a:p>
                  </a:txBody>
                  <a:tcPr marL="47625" marR="47625" marT="47625" marB="47625" anchor="ctr">
                    <a:solidFill>
                      <a:srgbClr val="EFF3F6"/>
                    </a:solidFill>
                  </a:tcPr>
                </a:tc>
                <a:tc>
                  <a:txBody>
                    <a:bodyPr/>
                    <a:lstStyle/>
                    <a:p>
                      <a:pPr algn="ctr">
                        <a:buNone/>
                      </a:pPr>
                      <a:endParaRPr/>
                    </a:p>
                  </a:txBody>
                  <a:tcPr marL="47625" marR="47625" marT="47625" marB="47625" anchor="ctr">
                    <a:solidFill>
                      <a:srgbClr val="EEF3F5"/>
                    </a:solidFill>
                  </a:tcPr>
                </a:tc>
                <a:tc>
                  <a:txBody>
                    <a:bodyPr/>
                    <a:lstStyle/>
                    <a:p>
                      <a:pPr algn="ctr">
                        <a:buNone/>
                      </a:pPr>
                      <a:endParaRPr/>
                    </a:p>
                  </a:txBody>
                  <a:tcPr marL="47625" marR="47625" marT="47625" marB="47625" anchor="ctr">
                    <a:solidFill>
                      <a:srgbClr val="F0F4F6"/>
                    </a:solidFill>
                  </a:tcPr>
                </a:tc>
                <a:tc>
                  <a:txBody>
                    <a:bodyPr/>
                    <a:lstStyle/>
                    <a:p>
                      <a:pPr algn="ctr">
                        <a:buNone/>
                      </a:pPr>
                      <a:endParaRPr/>
                    </a:p>
                  </a:txBody>
                  <a:tcPr marL="47625" marR="47625" marT="47625" marB="47625" anchor="ctr">
                    <a:solidFill>
                      <a:srgbClr val="ECF2F5"/>
                    </a:solidFill>
                  </a:tcPr>
                </a:tc>
                <a:tc>
                  <a:txBody>
                    <a:bodyPr/>
                    <a:lstStyle/>
                    <a:p>
                      <a:pPr algn="ctr">
                        <a:buNone/>
                      </a:pPr>
                      <a:endParaRPr/>
                    </a:p>
                  </a:txBody>
                  <a:tcPr marL="47625" marR="47625" marT="47625" marB="47625" anchor="ctr">
                    <a:solidFill>
                      <a:srgbClr val="F1F4F6"/>
                    </a:solidFill>
                  </a:tcPr>
                </a:tc>
                <a:tc>
                  <a:txBody>
                    <a:bodyPr/>
                    <a:lstStyle/>
                    <a:p>
                      <a:pPr algn="ctr">
                        <a:buNone/>
                      </a:pPr>
                      <a:endParaRPr/>
                    </a:p>
                  </a:txBody>
                  <a:tcPr marL="47625" marR="47625" marT="47625" marB="47625" anchor="ctr">
                    <a:solidFill>
                      <a:srgbClr val="F6F6F7"/>
                    </a:solidFill>
                  </a:tcPr>
                </a:tc>
                <a:tc>
                  <a:txBody>
                    <a:bodyPr/>
                    <a:lstStyle/>
                    <a:p>
                      <a:pPr algn="ctr">
                        <a:buNone/>
                      </a:pPr>
                      <a:endParaRPr/>
                    </a:p>
                  </a:txBody>
                  <a:tcPr marL="47625" marR="47625" marT="47625" marB="47625" anchor="ctr">
                    <a:solidFill>
                      <a:srgbClr val="F4F5F6"/>
                    </a:solidFill>
                  </a:tcPr>
                </a:tc>
                <a:tc>
                  <a:txBody>
                    <a:bodyPr/>
                    <a:lstStyle/>
                    <a:p>
                      <a:pPr algn="ctr">
                        <a:buNone/>
                      </a:pPr>
                      <a:endParaRPr/>
                    </a:p>
                  </a:txBody>
                  <a:tcPr marL="47625" marR="47625" marT="47625" marB="47625" anchor="ctr">
                    <a:solidFill>
                      <a:srgbClr val="F2F5F6"/>
                    </a:solidFill>
                  </a:tcPr>
                </a:tc>
                <a:tc>
                  <a:txBody>
                    <a:bodyPr/>
                    <a:lstStyle/>
                    <a:p>
                      <a:pPr algn="ctr">
                        <a:buNone/>
                      </a:pPr>
                      <a:endParaRPr/>
                    </a:p>
                  </a:txBody>
                  <a:tcPr marL="47625" marR="47625" marT="47625" marB="47625" anchor="ctr">
                    <a:solidFill>
                      <a:srgbClr val="EBF1F5"/>
                    </a:solidFill>
                  </a:tcPr>
                </a:tc>
                <a:tc>
                  <a:txBody>
                    <a:bodyPr/>
                    <a:lstStyle/>
                    <a:p>
                      <a:pPr algn="ctr">
                        <a:buNone/>
                      </a:pPr>
                      <a:endParaRPr/>
                    </a:p>
                  </a:txBody>
                  <a:tcPr marL="47625" marR="47625" marT="47625" marB="47625" anchor="ctr">
                    <a:solidFill>
                      <a:srgbClr val="ECF2F5"/>
                    </a:solidFill>
                  </a:tcPr>
                </a:tc>
                <a:tc>
                  <a:txBody>
                    <a:bodyPr/>
                    <a:lstStyle/>
                    <a:p>
                      <a:pPr algn="ctr">
                        <a:buNone/>
                      </a:pPr>
                      <a:endParaRPr/>
                    </a:p>
                  </a:txBody>
                  <a:tcPr marL="47625" marR="47625" marT="47625" marB="47625" anchor="ctr">
                    <a:solidFill>
                      <a:srgbClr val="F3F5F6"/>
                    </a:solidFill>
                  </a:tcPr>
                </a:tc>
                <a:tc>
                  <a:txBody>
                    <a:bodyPr/>
                    <a:lstStyle/>
                    <a:p>
                      <a:pPr algn="ctr">
                        <a:buNone/>
                      </a:pPr>
                      <a:endParaRPr/>
                    </a:p>
                  </a:txBody>
                  <a:tcPr marL="47625" marR="47625" marT="47625" marB="47625" anchor="ctr">
                    <a:solidFill>
                      <a:srgbClr val="F6F7F7"/>
                    </a:solidFill>
                  </a:tcPr>
                </a:tc>
                <a:tc>
                  <a:txBody>
                    <a:bodyPr/>
                    <a:lstStyle/>
                    <a:p>
                      <a:pPr algn="ctr">
                        <a:buNone/>
                      </a:pPr>
                      <a:endParaRPr/>
                    </a:p>
                  </a:txBody>
                  <a:tcPr marL="47625" marR="47625" marT="47625" marB="47625" anchor="ctr">
                    <a:solidFill>
                      <a:srgbClr val="F7F6F5"/>
                    </a:solidFill>
                  </a:tcPr>
                </a:tc>
                <a:tc>
                  <a:txBody>
                    <a:bodyPr/>
                    <a:lstStyle/>
                    <a:p>
                      <a:pPr algn="ctr">
                        <a:buNone/>
                      </a:pPr>
                      <a:endParaRPr/>
                    </a:p>
                  </a:txBody>
                  <a:tcPr marL="47625" marR="47625" marT="47625" marB="47625" anchor="ctr">
                    <a:solidFill>
                      <a:srgbClr val="F8F3F1"/>
                    </a:solidFill>
                  </a:tcPr>
                </a:tc>
                <a:tc>
                  <a:txBody>
                    <a:bodyPr/>
                    <a:lstStyle/>
                    <a:p>
                      <a:pPr algn="ctr">
                        <a:buNone/>
                      </a:pPr>
                      <a:endParaRPr/>
                    </a:p>
                  </a:txBody>
                  <a:tcPr marL="47625" marR="47625" marT="47625" marB="47625" anchor="ctr">
                    <a:solidFill>
                      <a:srgbClr val="F8F3F0"/>
                    </a:solidFill>
                  </a:tcPr>
                </a:tc>
                <a:tc>
                  <a:txBody>
                    <a:bodyPr/>
                    <a:lstStyle/>
                    <a:p>
                      <a:pPr algn="ctr">
                        <a:buNone/>
                      </a:pPr>
                      <a:endParaRPr/>
                    </a:p>
                  </a:txBody>
                  <a:tcPr marL="47625" marR="47625" marT="47625" marB="47625" anchor="ctr">
                    <a:solidFill>
                      <a:srgbClr val="F8F3F0"/>
                    </a:solidFill>
                  </a:tcPr>
                </a:tc>
                <a:tc>
                  <a:txBody>
                    <a:bodyPr/>
                    <a:lstStyle/>
                    <a:p>
                      <a:pPr algn="ctr">
                        <a:buNone/>
                      </a:pPr>
                      <a:endParaRPr/>
                    </a:p>
                  </a:txBody>
                  <a:tcPr marL="47625" marR="47625" marT="47625" marB="47625" anchor="ctr">
                    <a:solidFill>
                      <a:srgbClr val="F9EEE8"/>
                    </a:solidFill>
                  </a:tcPr>
                </a:tc>
                <a:tc>
                  <a:txBody>
                    <a:bodyPr/>
                    <a:lstStyle/>
                    <a:p>
                      <a:pPr algn="ctr">
                        <a:buNone/>
                      </a:pPr>
                      <a:endParaRPr/>
                    </a:p>
                  </a:txBody>
                  <a:tcPr marL="47625" marR="47625" marT="47625" marB="47625" anchor="ctr">
                    <a:solidFill>
                      <a:srgbClr val="FAEBE2"/>
                    </a:solidFill>
                  </a:tcPr>
                </a:tc>
                <a:tc>
                  <a:txBody>
                    <a:bodyPr/>
                    <a:lstStyle/>
                    <a:p>
                      <a:pPr algn="ctr">
                        <a:buNone/>
                      </a:pPr>
                      <a:endParaRPr/>
                    </a:p>
                  </a:txBody>
                  <a:tcPr marL="47625" marR="47625" marT="47625" marB="47625" anchor="ctr">
                    <a:solidFill>
                      <a:srgbClr val="FAE9DF"/>
                    </a:solidFill>
                  </a:tcPr>
                </a:tc>
                <a:tc>
                  <a:txBody>
                    <a:bodyPr/>
                    <a:lstStyle/>
                    <a:p>
                      <a:pPr algn="ctr">
                        <a:buNone/>
                      </a:pPr>
                      <a:endParaRPr/>
                    </a:p>
                  </a:txBody>
                  <a:tcPr marL="47625" marR="47625" marT="47625" marB="47625" anchor="ctr">
                    <a:solidFill>
                      <a:srgbClr val="FAEAE1"/>
                    </a:solidFill>
                  </a:tcPr>
                </a:tc>
                <a:tc>
                  <a:txBody>
                    <a:bodyPr/>
                    <a:lstStyle/>
                    <a:p>
                      <a:pPr algn="ctr">
                        <a:buNone/>
                      </a:pPr>
                      <a:endParaRPr/>
                    </a:p>
                  </a:txBody>
                  <a:tcPr marL="47625" marR="47625" marT="47625" marB="47625" anchor="ctr">
                    <a:solidFill>
                      <a:srgbClr val="FAE8DE"/>
                    </a:solidFill>
                  </a:tcPr>
                </a:tc>
                <a:tc>
                  <a:txBody>
                    <a:bodyPr/>
                    <a:lstStyle/>
                    <a:p>
                      <a:pPr algn="ctr">
                        <a:buNone/>
                      </a:pPr>
                      <a:endParaRPr/>
                    </a:p>
                  </a:txBody>
                  <a:tcPr marL="47625" marR="47625" marT="47625" marB="47625" anchor="ctr">
                    <a:solidFill>
                      <a:srgbClr val="FAE9DF"/>
                    </a:solidFill>
                  </a:tcPr>
                </a:tc>
              </a:tr>
              <a:tr h="333375">
                <a:tc>
                  <a:txBody>
                    <a:bodyPr/>
                    <a:lstStyle/>
                    <a:p>
                      <a:pPr algn="l">
                        <a:buNone/>
                      </a:pPr>
                      <a:r>
                        <a:rPr sz="1050">
                          <a:solidFill>
                            <a:srgbClr val="000000"/>
                          </a:solidFill>
                          <a:latin typeface="Helvetica Neue"/>
                          <a:ea typeface="Helvetica Neue"/>
                          <a:cs typeface="Helvetica Neue"/>
                        </a:rPr>
                        <a:t>Charge résid. NL</a:t>
                      </a:r>
                    </a:p>
                  </a:txBody>
                  <a:tcPr marL="47625" marR="47625" marT="47625" marB="47625" anchor="ctr">
                    <a:solidFill>
                      <a:srgbClr val="FFFFFF"/>
                    </a:solidFill>
                  </a:tcPr>
                </a:tc>
                <a:tc>
                  <a:txBody>
                    <a:bodyPr/>
                    <a:lstStyle/>
                    <a:p>
                      <a:pPr algn="ctr">
                        <a:buNone/>
                      </a:pPr>
                      <a:endParaRPr/>
                    </a:p>
                  </a:txBody>
                  <a:tcPr marL="47625" marR="47625" marT="47625" marB="47625" anchor="ctr">
                    <a:solidFill>
                      <a:srgbClr val="F6F7F7"/>
                    </a:solidFill>
                  </a:tcPr>
                </a:tc>
                <a:tc>
                  <a:txBody>
                    <a:bodyPr/>
                    <a:lstStyle/>
                    <a:p>
                      <a:pPr algn="ctr">
                        <a:buNone/>
                      </a:pPr>
                      <a:endParaRPr/>
                    </a:p>
                  </a:txBody>
                  <a:tcPr marL="47625" marR="47625" marT="47625" marB="47625" anchor="ctr">
                    <a:solidFill>
                      <a:srgbClr val="F7F7F7"/>
                    </a:solidFill>
                  </a:tcPr>
                </a:tc>
                <a:tc>
                  <a:txBody>
                    <a:bodyPr/>
                    <a:lstStyle/>
                    <a:p>
                      <a:pPr algn="ctr">
                        <a:buNone/>
                      </a:pPr>
                      <a:endParaRPr/>
                    </a:p>
                  </a:txBody>
                  <a:tcPr marL="47625" marR="47625" marT="47625" marB="47625" anchor="ctr">
                    <a:solidFill>
                      <a:srgbClr val="F6F7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7F7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6F6F7"/>
                    </a:solidFill>
                  </a:tcPr>
                </a:tc>
                <a:tc>
                  <a:txBody>
                    <a:bodyPr/>
                    <a:lstStyle/>
                    <a:p>
                      <a:pPr algn="ctr">
                        <a:buNone/>
                      </a:pPr>
                      <a:endParaRPr/>
                    </a:p>
                  </a:txBody>
                  <a:tcPr marL="47625" marR="47625" marT="47625" marB="47625" anchor="ctr">
                    <a:solidFill>
                      <a:srgbClr val="F7F6F5"/>
                    </a:solidFill>
                  </a:tcPr>
                </a:tc>
                <a:tc>
                  <a:txBody>
                    <a:bodyPr/>
                    <a:lstStyle/>
                    <a:p>
                      <a:pPr algn="ctr">
                        <a:buNone/>
                      </a:pPr>
                      <a:endParaRPr/>
                    </a:p>
                  </a:txBody>
                  <a:tcPr marL="47625" marR="47625" marT="47625" marB="47625" anchor="ctr">
                    <a:solidFill>
                      <a:srgbClr val="F7F5F4"/>
                    </a:solidFill>
                  </a:tcPr>
                </a:tc>
                <a:tc>
                  <a:txBody>
                    <a:bodyPr/>
                    <a:lstStyle/>
                    <a:p>
                      <a:pPr algn="ctr">
                        <a:buNone/>
                      </a:pPr>
                      <a:endParaRPr/>
                    </a:p>
                  </a:txBody>
                  <a:tcPr marL="47625" marR="47625" marT="47625" marB="47625" anchor="ctr">
                    <a:solidFill>
                      <a:srgbClr val="F8F4F2"/>
                    </a:solidFill>
                  </a:tcPr>
                </a:tc>
                <a:tc>
                  <a:txBody>
                    <a:bodyPr/>
                    <a:lstStyle/>
                    <a:p>
                      <a:pPr algn="ctr">
                        <a:buNone/>
                      </a:pPr>
                      <a:endParaRPr/>
                    </a:p>
                  </a:txBody>
                  <a:tcPr marL="47625" marR="47625" marT="47625" marB="47625" anchor="ctr">
                    <a:solidFill>
                      <a:srgbClr val="F7F5F4"/>
                    </a:solidFill>
                  </a:tcPr>
                </a:tc>
                <a:tc>
                  <a:txBody>
                    <a:bodyPr/>
                    <a:lstStyle/>
                    <a:p>
                      <a:pPr algn="ctr">
                        <a:buNone/>
                      </a:pPr>
                      <a:endParaRPr/>
                    </a:p>
                  </a:txBody>
                  <a:tcPr marL="47625" marR="47625" marT="47625" marB="47625" anchor="ctr">
                    <a:solidFill>
                      <a:srgbClr val="F7F5F3"/>
                    </a:solidFill>
                  </a:tcPr>
                </a:tc>
                <a:tc>
                  <a:txBody>
                    <a:bodyPr/>
                    <a:lstStyle/>
                    <a:p>
                      <a:pPr algn="ctr">
                        <a:buNone/>
                      </a:pPr>
                      <a:endParaRPr/>
                    </a:p>
                  </a:txBody>
                  <a:tcPr marL="47625" marR="47625" marT="47625" marB="47625" anchor="ctr">
                    <a:solidFill>
                      <a:srgbClr val="F8F1EE"/>
                    </a:solidFill>
                  </a:tcPr>
                </a:tc>
                <a:tc>
                  <a:txBody>
                    <a:bodyPr/>
                    <a:lstStyle/>
                    <a:p>
                      <a:pPr algn="ctr">
                        <a:buNone/>
                      </a:pPr>
                      <a:endParaRPr/>
                    </a:p>
                  </a:txBody>
                  <a:tcPr marL="47625" marR="47625" marT="47625" marB="47625" anchor="ctr">
                    <a:solidFill>
                      <a:srgbClr val="F9F0EB"/>
                    </a:solidFill>
                  </a:tcPr>
                </a:tc>
                <a:tc>
                  <a:txBody>
                    <a:bodyPr/>
                    <a:lstStyle/>
                    <a:p>
                      <a:pPr algn="ctr">
                        <a:buNone/>
                      </a:pPr>
                      <a:endParaRPr/>
                    </a:p>
                  </a:txBody>
                  <a:tcPr marL="47625" marR="47625" marT="47625" marB="47625" anchor="ctr">
                    <a:solidFill>
                      <a:srgbClr val="F9EFE9"/>
                    </a:solidFill>
                  </a:tcPr>
                </a:tc>
                <a:tc>
                  <a:txBody>
                    <a:bodyPr/>
                    <a:lstStyle/>
                    <a:p>
                      <a:pPr algn="ctr">
                        <a:buNone/>
                      </a:pPr>
                      <a:endParaRPr/>
                    </a:p>
                  </a:txBody>
                  <a:tcPr marL="47625" marR="47625" marT="47625" marB="47625" anchor="ctr">
                    <a:solidFill>
                      <a:srgbClr val="F8F1EC"/>
                    </a:solidFill>
                  </a:tcPr>
                </a:tc>
                <a:tc>
                  <a:txBody>
                    <a:bodyPr/>
                    <a:lstStyle/>
                    <a:p>
                      <a:pPr algn="ctr">
                        <a:buNone/>
                      </a:pPr>
                      <a:endParaRPr/>
                    </a:p>
                  </a:txBody>
                  <a:tcPr marL="47625" marR="47625" marT="47625" marB="47625" anchor="ctr">
                    <a:solidFill>
                      <a:srgbClr val="F6F7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3F5F6"/>
                    </a:solidFill>
                  </a:tcPr>
                </a:tc>
                <a:tc>
                  <a:txBody>
                    <a:bodyPr/>
                    <a:lstStyle/>
                    <a:p>
                      <a:pPr algn="ctr">
                        <a:buNone/>
                      </a:pPr>
                      <a:endParaRPr/>
                    </a:p>
                  </a:txBody>
                  <a:tcPr marL="47625" marR="47625" marT="47625" marB="47625" anchor="ctr">
                    <a:solidFill>
                      <a:srgbClr val="F1F4F6"/>
                    </a:solidFill>
                  </a:tcPr>
                </a:tc>
                <a:tc>
                  <a:txBody>
                    <a:bodyPr/>
                    <a:lstStyle/>
                    <a:p>
                      <a:pPr algn="ctr">
                        <a:buNone/>
                      </a:pPr>
                      <a:endParaRPr/>
                    </a:p>
                  </a:txBody>
                  <a:tcPr marL="47625" marR="47625" marT="47625" marB="47625" anchor="ctr">
                    <a:solidFill>
                      <a:srgbClr val="F3F5F6"/>
                    </a:solidFill>
                  </a:tcPr>
                </a:tc>
                <a:tc>
                  <a:txBody>
                    <a:bodyPr/>
                    <a:lstStyle/>
                    <a:p>
                      <a:pPr algn="ctr">
                        <a:buNone/>
                      </a:pPr>
                      <a:endParaRPr/>
                    </a:p>
                  </a:txBody>
                  <a:tcPr marL="47625" marR="47625" marT="47625" marB="47625" anchor="ctr">
                    <a:solidFill>
                      <a:srgbClr val="F2F5F6"/>
                    </a:solidFill>
                  </a:tcPr>
                </a:tc>
                <a:tc>
                  <a:txBody>
                    <a:bodyPr/>
                    <a:lstStyle/>
                    <a:p>
                      <a:pPr algn="ctr">
                        <a:buNone/>
                      </a:pPr>
                      <a:endParaRPr/>
                    </a:p>
                  </a:txBody>
                  <a:tcPr marL="47625" marR="47625" marT="47625" marB="47625" anchor="ctr">
                    <a:solidFill>
                      <a:srgbClr val="F4F6F6"/>
                    </a:solidFill>
                  </a:tcPr>
                </a:tc>
                <a:tc>
                  <a:txBody>
                    <a:bodyPr/>
                    <a:lstStyle/>
                    <a:p>
                      <a:pPr algn="ctr">
                        <a:buNone/>
                      </a:pPr>
                      <a:endParaRPr/>
                    </a:p>
                  </a:txBody>
                  <a:tcPr marL="47625" marR="47625" marT="47625" marB="47625" anchor="ctr">
                    <a:solidFill>
                      <a:srgbClr val="F5F6F7"/>
                    </a:solidFill>
                  </a:tcPr>
                </a:tc>
              </a:tr>
              <a:tr h="333375">
                <a:tc>
                  <a:txBody>
                    <a:bodyPr/>
                    <a:lstStyle/>
                    <a:p>
                      <a:pPr algn="l">
                        <a:buNone/>
                      </a:pPr>
                      <a:r>
                        <a:rPr sz="1050">
                          <a:solidFill>
                            <a:srgbClr val="000000"/>
                          </a:solidFill>
                          <a:latin typeface="Helvetica Neue"/>
                          <a:ea typeface="Helvetica Neue"/>
                          <a:cs typeface="Helvetica Neue"/>
                        </a:rPr>
                        <a:t>Nucléaire FR</a:t>
                      </a:r>
                    </a:p>
                  </a:txBody>
                  <a:tcPr marL="47625" marR="47625" marT="47625" marB="47625" anchor="ctr">
                    <a:solidFill>
                      <a:srgbClr val="FFFFFF"/>
                    </a:solidFill>
                  </a:tcPr>
                </a:tc>
                <a:tc>
                  <a:txBody>
                    <a:bodyPr/>
                    <a:lstStyle/>
                    <a:p>
                      <a:pPr algn="ctr">
                        <a:buNone/>
                      </a:pPr>
                      <a:endParaRPr/>
                    </a:p>
                  </a:txBody>
                  <a:tcPr marL="47625" marR="47625" marT="47625" marB="47625" anchor="ctr">
                    <a:solidFill>
                      <a:srgbClr val="F4F5F6"/>
                    </a:solidFill>
                  </a:tcPr>
                </a:tc>
                <a:tc>
                  <a:txBody>
                    <a:bodyPr/>
                    <a:lstStyle/>
                    <a:p>
                      <a:pPr algn="ctr">
                        <a:buNone/>
                      </a:pPr>
                      <a:endParaRPr/>
                    </a:p>
                  </a:txBody>
                  <a:tcPr marL="47625" marR="47625" marT="47625" marB="47625" anchor="ctr">
                    <a:solidFill>
                      <a:srgbClr val="F4F6F6"/>
                    </a:solidFill>
                  </a:tcPr>
                </a:tc>
                <a:tc>
                  <a:txBody>
                    <a:bodyPr/>
                    <a:lstStyle/>
                    <a:p>
                      <a:pPr algn="ctr">
                        <a:buNone/>
                      </a:pPr>
                      <a:endParaRPr/>
                    </a:p>
                  </a:txBody>
                  <a:tcPr marL="47625" marR="47625" marT="47625" marB="47625" anchor="ctr">
                    <a:solidFill>
                      <a:srgbClr val="F4F6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4F6F6"/>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6F7F7"/>
                    </a:solidFill>
                  </a:tcPr>
                </a:tc>
                <a:tc>
                  <a:txBody>
                    <a:bodyPr/>
                    <a:lstStyle/>
                    <a:p>
                      <a:pPr algn="ctr">
                        <a:buNone/>
                      </a:pPr>
                      <a:endParaRPr/>
                    </a:p>
                  </a:txBody>
                  <a:tcPr marL="47625" marR="47625" marT="47625" marB="47625" anchor="ctr">
                    <a:solidFill>
                      <a:srgbClr val="F6F7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6F7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7F7F7"/>
                    </a:solidFill>
                  </a:tcPr>
                </a:tc>
                <a:tc>
                  <a:txBody>
                    <a:bodyPr/>
                    <a:lstStyle/>
                    <a:p>
                      <a:pPr algn="ctr">
                        <a:buNone/>
                      </a:pPr>
                      <a:endParaRPr/>
                    </a:p>
                  </a:txBody>
                  <a:tcPr marL="47625" marR="47625" marT="47625" marB="47625" anchor="ctr">
                    <a:solidFill>
                      <a:srgbClr val="F6F7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7F6F4"/>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3F5F6"/>
                    </a:solidFill>
                  </a:tcPr>
                </a:tc>
                <a:tc>
                  <a:txBody>
                    <a:bodyPr/>
                    <a:lstStyle/>
                    <a:p>
                      <a:pPr algn="ctr">
                        <a:buNone/>
                      </a:pPr>
                      <a:endParaRPr/>
                    </a:p>
                  </a:txBody>
                  <a:tcPr marL="47625" marR="47625" marT="47625" marB="47625" anchor="ctr">
                    <a:solidFill>
                      <a:srgbClr val="F6F7F7"/>
                    </a:solidFill>
                  </a:tcPr>
                </a:tc>
                <a:tc>
                  <a:txBody>
                    <a:bodyPr/>
                    <a:lstStyle/>
                    <a:p>
                      <a:pPr algn="ctr">
                        <a:buNone/>
                      </a:pPr>
                      <a:endParaRPr/>
                    </a:p>
                  </a:txBody>
                  <a:tcPr marL="47625" marR="47625" marT="47625" marB="47625" anchor="ctr">
                    <a:solidFill>
                      <a:srgbClr val="F6F6F7"/>
                    </a:solidFill>
                  </a:tcPr>
                </a:tc>
                <a:tc>
                  <a:txBody>
                    <a:bodyPr/>
                    <a:lstStyle/>
                    <a:p>
                      <a:pPr algn="ctr">
                        <a:buNone/>
                      </a:pPr>
                      <a:endParaRPr/>
                    </a:p>
                  </a:txBody>
                  <a:tcPr marL="47625" marR="47625" marT="47625" marB="47625" anchor="ctr">
                    <a:solidFill>
                      <a:srgbClr val="F5F6F7"/>
                    </a:solidFill>
                  </a:tcPr>
                </a:tc>
                <a:tc>
                  <a:txBody>
                    <a:bodyPr/>
                    <a:lstStyle/>
                    <a:p>
                      <a:pPr algn="ctr">
                        <a:buNone/>
                      </a:pPr>
                      <a:endParaRPr/>
                    </a:p>
                  </a:txBody>
                  <a:tcPr marL="47625" marR="47625" marT="47625" marB="47625" anchor="ctr">
                    <a:solidFill>
                      <a:srgbClr val="F6F7F7"/>
                    </a:solidFill>
                  </a:tcPr>
                </a:tc>
              </a:tr>
            </a:tbl>
          </a:graphicData>
        </a:graphic>
      </p:graphicFrame>
      <p:sp>
        <p:nvSpPr>
          <p:cNvPr id="28" name="Rectangle 27">
            <a:extLst xmlns:a="http://schemas.openxmlformats.org/drawingml/2006/main">
              <a:ext uri="{FF2B5EF4-FFF2-40B4-BE49-F238E27FC236}">
                <a16:creationId xmlns:a16="http://schemas.microsoft.com/office/drawing/2014/main" id="{9725574E-CFCA-4B84-A93A-F5FE70446BED}"/>
              </a:ext>
            </a:extLst>
          </p:cNvPr>
          <p:cNvSpPr>
            <a:spLocks xmlns:a="http://schemas.openxmlformats.org/drawingml/2006/main" noGrp="1"/>
          </p:cNvSpPr>
          <p:nvPr/>
        </p:nvSpPr>
        <p:spPr>
          <a:xfrm xmlns:a="http://schemas.openxmlformats.org/drawingml/2006/main">
            <a:off x="7423150" y="5114925"/>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a:solidFill>
                  <a:srgbClr val="2166AC"/>
                </a:solidFill>
                <a:latin typeface="Helvetica Neue"/>
                <a:ea typeface="Helvetica Neue"/>
                <a:cs typeface="Helvetica Neue"/>
              </a:defRPr>
            </a:pPr>
            <a:r>
              <a:rPr sz="1200">
                <a:solidFill>
                  <a:srgbClr val="2166AC"/>
                </a:solidFill>
                <a:latin typeface="Helvetica Neue"/>
                <a:ea typeface="Helvetica Neue"/>
                <a:cs typeface="Helvetica Neue"/>
              </a:rPr>
              <a:t>Bleu : </a:t>
            </a:r>
            <a:r>
              <a:rPr sz="1200">
                <a:solidFill>
                  <a:srgbClr val="2166AC"/>
                </a:solidFill>
                <a:latin typeface="Helvetica Neue"/>
                <a:ea typeface="Helvetica Neue"/>
                <a:cs typeface="Helvetica Neue"/>
              </a:rPr>
              <a:t>baisse</a:t>
            </a:r>
            <a:r>
              <a:rPr sz="1200">
                <a:solidFill>
                  <a:srgbClr val="2166AC"/>
                </a:solidFill>
                <a:latin typeface="Helvetica Neue"/>
                <a:ea typeface="Helvetica Neue"/>
                <a:cs typeface="Helvetica Neue"/>
              </a:rPr>
              <a:t> de la P50</a:t>
            </a:r>
          </a:p>
        </p:txBody>
      </p:sp>
      <p:sp>
        <p:nvSpPr>
          <p:cNvPr id="29" name="Rectangle 28">
            <a:extLst xmlns:a="http://schemas.openxmlformats.org/drawingml/2006/main">
              <a:ext uri="{FF2B5EF4-FFF2-40B4-BE49-F238E27FC236}">
                <a16:creationId xmlns:a16="http://schemas.microsoft.com/office/drawing/2014/main" id="{CB61B72B-20E0-4B73-9EF9-0AD1F066CB6F}"/>
              </a:ext>
            </a:extLst>
          </p:cNvPr>
          <p:cNvSpPr>
            <a:spLocks xmlns:a="http://schemas.openxmlformats.org/drawingml/2006/main" noGrp="1"/>
          </p:cNvSpPr>
          <p:nvPr/>
        </p:nvSpPr>
        <p:spPr>
          <a:xfrm xmlns:a="http://schemas.openxmlformats.org/drawingml/2006/main">
            <a:off x="9645650" y="5114924"/>
            <a:ext cx="2114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a:solidFill>
                  <a:srgbClr val="B2182B"/>
                </a:solidFill>
                <a:latin typeface="Helvetica Neue"/>
                <a:ea typeface="Helvetica Neue"/>
                <a:cs typeface="Helvetica Neue"/>
              </a:defRPr>
            </a:pPr>
            <a:r>
              <a:rPr sz="1200">
                <a:solidFill>
                  <a:srgbClr val="B2182B"/>
                </a:solidFill>
                <a:latin typeface="Helvetica Neue"/>
                <a:ea typeface="Helvetica Neue"/>
                <a:cs typeface="Helvetica Neue"/>
              </a:rPr>
              <a:t>Rouge : </a:t>
            </a:r>
            <a:r>
              <a:rPr sz="1200">
                <a:solidFill>
                  <a:srgbClr val="B2182B"/>
                </a:solidFill>
                <a:latin typeface="Helvetica Neue"/>
                <a:ea typeface="Helvetica Neue"/>
                <a:cs typeface="Helvetica Neue"/>
              </a:rPr>
              <a:t>hausse</a:t>
            </a:r>
            <a:r>
              <a:rPr sz="1200">
                <a:solidFill>
                  <a:srgbClr val="B2182B"/>
                </a:solidFill>
                <a:latin typeface="Helvetica Neue"/>
                <a:ea typeface="Helvetica Neue"/>
                <a:cs typeface="Helvetica Neue"/>
              </a:rPr>
              <a:t> de la P50</a:t>
            </a:r>
          </a:p>
        </p:txBody>
      </p:sp>
      <p:sp>
        <p:nvSpPr>
          <p:cNvPr id="31" name="Rectangle 30">
            <a:extLst xmlns:a="http://schemas.openxmlformats.org/drawingml/2006/main">
              <a:ext uri="{FF2B5EF4-FFF2-40B4-BE49-F238E27FC236}">
                <a16:creationId xmlns:a16="http://schemas.microsoft.com/office/drawing/2014/main" id="{98452658-B0D7-4313-977A-1B12D6F1B215}"/>
              </a:ext>
            </a:extLst>
          </p:cNvPr>
          <p:cNvSpPr>
            <a:spLocks xmlns:a="http://schemas.openxmlformats.org/drawingml/2006/main" noGrp="1"/>
          </p:cNvSpPr>
          <p:nvPr/>
        </p:nvSpPr>
        <p:spPr>
          <a:xfrm xmlns:a="http://schemas.openxmlformats.org/drawingml/2006/main">
            <a:off x="390525" y="5286375"/>
            <a:ext cx="11401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136,24 + 27,09 = 163,33 EUR/MWh</a:t>
            </a:r>
          </a:p>
        </p:txBody>
      </p:sp>
      <p:sp>
        <p:nvSpPr>
          <p:cNvPr id="32" name="Rectangle 31">
            <a:extLst xmlns:a="http://schemas.openxmlformats.org/drawingml/2006/main">
              <a:ext uri="{FF2B5EF4-FFF2-40B4-BE49-F238E27FC236}">
                <a16:creationId xmlns:a16="http://schemas.microsoft.com/office/drawing/2014/main" id="{6A19E7FA-22B9-4659-80D9-90A7DFC7D60F}"/>
              </a:ext>
            </a:extLst>
          </p:cNvPr>
          <p:cNvSpPr>
            <a:spLocks xmlns:a="http://schemas.openxmlformats.org/drawingml/2006/main" noGrp="1"/>
          </p:cNvSpPr>
          <p:nvPr/>
        </p:nvSpPr>
        <p:spPr>
          <a:xfrm xmlns:a="http://schemas.openxmlformats.org/drawingml/2006/main">
            <a:off x="390525" y="5791200"/>
            <a:ext cx="11401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Référence historique + somme des contributions moyennes = P50 amont moyenne du jour</a:t>
            </a:r>
          </a:p>
        </p:txBody>
      </p:sp>
      <p:sp>
        <p:nvSpPr>
          <p:cNvPr id="33" name="Rectangle 32">
            <a:extLst xmlns:a="http://schemas.openxmlformats.org/drawingml/2006/main">
              <a:ext uri="{FF2B5EF4-FFF2-40B4-BE49-F238E27FC236}">
                <a16:creationId xmlns:a16="http://schemas.microsoft.com/office/drawing/2014/main" id="{0C52E502-F708-4B43-9D6F-5A5470A49C60}"/>
              </a:ext>
            </a:extLst>
          </p:cNvPr>
          <p:cNvSpPr>
            <a:spLocks xmlns:a="http://schemas.openxmlformats.org/drawingml/2006/main" noGrp="1"/>
          </p:cNvSpPr>
          <p:nvPr/>
        </p:nvSpPr>
        <p:spPr>
          <a:xfrm xmlns:a="http://schemas.openxmlformats.org/drawingml/2006/main">
            <a:off x="390525" y="6124575"/>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a:solidFill>
                  <a:srgbClr val="545A64"/>
                </a:solidFill>
                <a:latin typeface="Helvetica Neue"/>
                <a:ea typeface="Helvetica Neue"/>
                <a:cs typeface="Helvetica Neue"/>
              </a:defRPr>
            </a:pPr>
            <a:r>
              <a:rPr sz="1425">
                <a:solidFill>
                  <a:srgbClr val="545A64"/>
                </a:solidFill>
                <a:latin typeface="Helvetica Neue"/>
                <a:ea typeface="Helvetica Neue"/>
                <a:cs typeface="Helvetica Neue"/>
              </a:rPr>
              <a:t>Les % </a:t>
            </a:r>
            <a:r>
              <a:rPr sz="1425">
                <a:solidFill>
                  <a:srgbClr val="545A64"/>
                </a:solidFill>
                <a:latin typeface="Helvetica Neue"/>
                <a:ea typeface="Helvetica Neue"/>
                <a:cs typeface="Helvetica Neue"/>
              </a:rPr>
              <a:t>répartissent</a:t>
            </a:r>
            <a:r>
              <a:rPr sz="1425">
                <a:solidFill>
                  <a:srgbClr val="545A64"/>
                </a:solidFill>
                <a:latin typeface="Helvetica Neue"/>
                <a:ea typeface="Helvetica Neue"/>
                <a:cs typeface="Helvetica Neue"/>
              </a:rPr>
              <a:t> </a:t>
            </a:r>
            <a:r>
              <a:rPr sz="1425">
                <a:solidFill>
                  <a:srgbClr val="545A64"/>
                </a:solidFill>
                <a:latin typeface="Helvetica Neue"/>
                <a:ea typeface="Helvetica Neue"/>
                <a:cs typeface="Helvetica Neue"/>
              </a:rPr>
              <a:t>l’influence</a:t>
            </a:r>
            <a:r>
              <a:rPr sz="1425">
                <a:solidFill>
                  <a:srgbClr val="545A64"/>
                </a:solidFill>
                <a:latin typeface="Helvetica Neue"/>
                <a:ea typeface="Helvetica Neue"/>
                <a:cs typeface="Helvetica Neue"/>
              </a:rPr>
              <a:t> </a:t>
            </a:r>
            <a:r>
              <a:rPr sz="1425">
                <a:solidFill>
                  <a:srgbClr val="545A64"/>
                </a:solidFill>
                <a:latin typeface="Helvetica Neue"/>
                <a:ea typeface="Helvetica Neue"/>
                <a:cs typeface="Helvetica Neue"/>
              </a:rPr>
              <a:t>absolue</a:t>
            </a:r>
            <a:r>
              <a:rPr sz="1425">
                <a:solidFill>
                  <a:srgbClr val="545A64"/>
                </a:solidFill>
                <a:latin typeface="Helvetica Neue"/>
                <a:ea typeface="Helvetica Neue"/>
                <a:cs typeface="Helvetica Neue"/>
              </a:rPr>
              <a:t>. La carte montre le </a:t>
            </a:r>
            <a:r>
              <a:rPr sz="1425">
                <a:solidFill>
                  <a:srgbClr val="545A64"/>
                </a:solidFill>
                <a:latin typeface="Helvetica Neue"/>
                <a:ea typeface="Helvetica Neue"/>
                <a:cs typeface="Helvetica Neue"/>
              </a:rPr>
              <a:t>sens</a:t>
            </a:r>
            <a:r>
              <a:rPr sz="1425">
                <a:solidFill>
                  <a:srgbClr val="545A64"/>
                </a:solidFill>
                <a:latin typeface="Helvetica Neue"/>
                <a:ea typeface="Helvetica Neue"/>
                <a:cs typeface="Helvetica Neue"/>
              </a:rPr>
              <a:t> et </a:t>
            </a:r>
            <a:r>
              <a:rPr sz="1425">
                <a:solidFill>
                  <a:srgbClr val="545A64"/>
                </a:solidFill>
                <a:latin typeface="Helvetica Neue"/>
                <a:ea typeface="Helvetica Neue"/>
                <a:cs typeface="Helvetica Neue"/>
              </a:rPr>
              <a:t>l’intensité</a:t>
            </a:r>
            <a:r>
              <a:rPr sz="1425">
                <a:solidFill>
                  <a:srgbClr val="545A64"/>
                </a:solidFill>
                <a:latin typeface="Helvetica Neue"/>
                <a:ea typeface="Helvetica Neue"/>
                <a:cs typeface="Helvetica Neue"/>
              </a:rPr>
              <a:t> de </a:t>
            </a:r>
            <a:r>
              <a:rPr sz="1425">
                <a:solidFill>
                  <a:srgbClr val="545A64"/>
                </a:solidFill>
                <a:latin typeface="Helvetica Neue"/>
                <a:ea typeface="Helvetica Neue"/>
                <a:cs typeface="Helvetica Neue"/>
              </a:rPr>
              <a:t>chaque</a:t>
            </a:r>
            <a:r>
              <a:rPr sz="1425">
                <a:solidFill>
                  <a:srgbClr val="545A64"/>
                </a:solidFill>
                <a:latin typeface="Helvetica Neue"/>
                <a:ea typeface="Helvetica Neue"/>
                <a:cs typeface="Helvetica Neue"/>
              </a:rPr>
              <a:t> contribution.</a:t>
            </a:r>
          </a:p>
        </p:txBody>
      </p:sp>
    </p:spTree>
    <p:extLst>
      <p:ext uri="{BB962C8B-B14F-4D97-AF65-F5344CB8AC3E}">
        <p14:creationId xmlns:p14="http://schemas.microsoft.com/office/powerpoint/2010/main" val="19196696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2026-09-09T07:04:44.4140000Z</dcterms:created>
  <dcterms:modified xsi:type="dcterms:W3CDTF">2026-09-09T07:04:44.4140000Z</dcterms:modified>
</coreProperties>
</file>